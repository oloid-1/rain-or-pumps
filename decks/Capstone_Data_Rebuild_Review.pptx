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 up front: we went back to the raw archive, and the file we had been using turned out to be filtered in a way that hides decline.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here was hand edited. Every table is rebuilt from the raw files by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headline. Say it plainly: the dataset everyone uses is biased toward the steadier wells, so it makes the problem look smaller than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flagging rather than dropping is that the decision stays visible and reversible.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 of the slide: nothing was guessed where evidence existed, and where we did infer, the rule is stated and the original kept.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validation in the rebuild: an independent authority publishes 8 to 15 percent and our number lands at 11.6.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recurrent row. He asked for a sequence model, we tested his exact version, it failed for a reason we can name, and the architecture is now in the plan pointed at a target that has labels. That is the respectful version of disagreeing.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he pushes on why the recurrent model might not win: if B cannot beat A, it means timing inside a season adds little beyond the totals, and that is itself a reportable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ask, so the meeting closes with a decision rather than a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640080"/>
            <a:ext cx="3108960" cy="3108960"/>
          </a:xfrm>
          <a:prstGeom prst="ellipse">
            <a:avLst/>
          </a:prstGeom>
          <a:solidFill>
            <a:srgbClr val="0B3C49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182880"/>
            <a:ext cx="2194560" cy="2194560"/>
          </a:xfrm>
          <a:prstGeom prst="ellipse">
            <a:avLst/>
          </a:prstGeom>
          <a:solidFill>
            <a:srgbClr val="0B3C49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0" y="228600"/>
            <a:ext cx="1371600" cy="1371600"/>
          </a:xfrm>
          <a:prstGeom prst="ellipse">
            <a:avLst/>
          </a:prstGeom>
          <a:solidFill>
            <a:srgbClr val="0B3C49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Rebuilding the Data Foundation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6771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or Pumps? Attributing India’s Groundwater Decline District by District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70048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F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in the data, why we changed it, and how your feedback was applied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3401568"/>
            <a:ext cx="5074920" cy="1737360"/>
          </a:xfrm>
          <a:prstGeom prst="roundRect">
            <a:avLst>
              <a:gd name="adj" fmla="val 3158"/>
            </a:avLst>
          </a:prstGeom>
          <a:solidFill>
            <a:srgbClr val="124B5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566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F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895344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2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Kakara Siva Kumar</a:t>
            </a:r>
            <a:endParaRPr lang="en-US" sz="1400" dirty="0"/>
          </a:p>
          <a:p>
            <a:pPr marL="342900" indent="-342900">
              <a:lnSpc>
                <a:spcPts val="182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Rainchwar Parth</a:t>
            </a:r>
            <a:endParaRPr lang="en-US" sz="1400" dirty="0"/>
          </a:p>
          <a:p>
            <a:pPr marL="342900" indent="-342900">
              <a:lnSpc>
                <a:spcPts val="182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Vipul Aggarwal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3401568"/>
            <a:ext cx="5440680" cy="1737360"/>
          </a:xfrm>
          <a:prstGeom prst="roundRect">
            <a:avLst>
              <a:gd name="adj" fmla="val 3158"/>
            </a:avLst>
          </a:prstGeom>
          <a:solidFill>
            <a:srgbClr val="124B5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3566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F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8953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Sudharshan Deshmukh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|  PGCP in AI and Machine Learning  |  Group 18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changed, in one 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two sources. A different foundation built from them.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3246120"/>
          </a:xfrm>
          <a:prstGeom prst="roundRect">
            <a:avLst>
              <a:gd name="adj" fmla="val 1690"/>
            </a:avLst>
          </a:prstGeom>
          <a:solidFill>
            <a:srgbClr val="EDF3F6"/>
          </a:solidFill>
          <a:ln w="12700">
            <a:solidFill>
              <a:srgbClr val="EDF3F6"/>
            </a:solidFill>
            <a:prstDash val="solid"/>
          </a:ln>
          <a:effectLst>
            <a:outerShdw sx="100000" sy="100000" kx="0" ky="0" algn="bl" rotWithShape="0" blurRad="101600" dist="25400" dir="5400000">
              <a:srgbClr val="9FB3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572768"/>
            <a:ext cx="10753344" cy="297180"/>
          </a:xfrm>
          <a:prstGeom prst="rect">
            <a:avLst/>
          </a:prstGeom>
          <a:solidFill>
            <a:srgbClr val="DDE7ED"/>
          </a:solidFill>
          <a:ln w="12700">
            <a:solidFill>
              <a:srgbClr val="DDE7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00200"/>
            <a:ext cx="26517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600200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1600200"/>
            <a:ext cx="4114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897380"/>
            <a:ext cx="26517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897380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published 2,759-well file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1897380"/>
            <a:ext cx="4114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archive, 32,299 wells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194560"/>
            <a:ext cx="26517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readings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194560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upstream, unseen by us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2194560"/>
            <a:ext cx="4114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and kept: 94.7% valid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491740"/>
            <a:ext cx="26517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location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2491740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name printed in the file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2491740"/>
            <a:ext cx="4114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inside a district outline by coordinates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2788920"/>
            <a:ext cx="26517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yield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2788920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Guessed from a state median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2788920"/>
            <a:ext cx="4114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the hydrogeological map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3086100"/>
            <a:ext cx="26517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alignment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3086100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rainfall totals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3086100"/>
            <a:ext cx="4114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seasons cut at the readings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3383280"/>
            <a:ext cx="26517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at a well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566160" y="3383280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grid node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3383280"/>
            <a:ext cx="4114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surrounding nodes, distance weighted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3680460"/>
            <a:ext cx="26517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rainfall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566160" y="3680460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the district’s wells sat in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3680460"/>
            <a:ext cx="4114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cell it covers, weighted by area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3977640"/>
            <a:ext cx="26517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predict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566160" y="3977640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 level itself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406640" y="3977640"/>
            <a:ext cx="4114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 in level since the previous reading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4274820"/>
            <a:ext cx="26517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we can model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566160" y="4274820"/>
            <a:ext cx="3840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2,759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406640" y="4274820"/>
            <a:ext cx="4114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11,455 (the 2,759 kept as a control arm)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80060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DF3F6"/>
          </a:solidFill>
          <a:ln w="12700">
            <a:solidFill>
              <a:srgbClr val="EDF3F6"/>
            </a:solidFill>
            <a:prstDash val="solid"/>
          </a:ln>
          <a:effectLst>
            <a:outerShdw sx="100000" sy="100000" kx="0" ky="0" algn="bl" rotWithShape="0" blurRad="101600" dist="25400" dir="5400000">
              <a:srgbClr val="9FB3BC">
                <a:alpha val="3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22960" y="49743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4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" y="5376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tables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3566160" y="49743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251</a:t>
            </a:r>
            <a:endParaRPr lang="en-US" sz="2400" dirty="0"/>
          </a:p>
        </p:txBody>
      </p:sp>
      <p:sp>
        <p:nvSpPr>
          <p:cNvPr id="40" name="Text 38"/>
          <p:cNvSpPr txBox="1"/>
          <p:nvPr/>
        </p:nvSpPr>
        <p:spPr>
          <a:xfrm>
            <a:off x="3566160" y="5376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documented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309360" y="49743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</a:t>
            </a:r>
            <a:endParaRPr lang="en-US" sz="2400" dirty="0"/>
          </a:p>
        </p:txBody>
      </p:sp>
      <p:sp>
        <p:nvSpPr>
          <p:cNvPr id="42" name="Text 40"/>
          <p:cNvSpPr txBox="1"/>
          <p:nvPr/>
        </p:nvSpPr>
        <p:spPr>
          <a:xfrm>
            <a:off x="6309360" y="5376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9052560" y="49743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694,253</a:t>
            </a:r>
            <a:endParaRPr lang="en-US" sz="2400" dirty="0"/>
          </a:p>
        </p:txBody>
      </p:sp>
      <p:sp>
        <p:nvSpPr>
          <p:cNvPr id="44" name="Text 42"/>
          <p:cNvSpPr txBox="1"/>
          <p:nvPr/>
        </p:nvSpPr>
        <p:spPr>
          <a:xfrm>
            <a:off x="9052560" y="5376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 ready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rebuilt: the file we had was already filtered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filter removed the wells that were getting worse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77840" cy="3200400"/>
          </a:xfrm>
          <a:prstGeom prst="roundRect">
            <a:avLst>
              <a:gd name="adj" fmla="val 1714"/>
            </a:avLst>
          </a:prstGeom>
          <a:solidFill>
            <a:srgbClr val="EDF3F6"/>
          </a:solidFill>
          <a:ln w="12700">
            <a:solidFill>
              <a:srgbClr val="EDF3F6"/>
            </a:solidFill>
            <a:prstDash val="solid"/>
          </a:ln>
          <a:effectLst>
            <a:outerShdw sx="100000" sy="100000" kx="0" ky="0" algn="bl" rotWithShape="0" blurRad="101600" dist="25400" dir="5400000">
              <a:srgbClr val="9FB3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563624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61848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80744" y="1600200"/>
            <a:ext cx="4425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32,299 wells became 2,759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5528" y="2093976"/>
            <a:ext cx="5084064" cy="301752"/>
          </a:xfrm>
          <a:prstGeom prst="rect">
            <a:avLst/>
          </a:prstGeom>
          <a:solidFill>
            <a:srgbClr val="DDE7ED"/>
          </a:solidFill>
          <a:ln w="12700">
            <a:solidFill>
              <a:srgbClr val="DDE7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121408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121408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left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423160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archive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423160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32,299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724912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any reading 2000–22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724912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29,537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026664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negative reading anywhere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026664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28,612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" y="3300984"/>
            <a:ext cx="5084064" cy="301752"/>
          </a:xfrm>
          <a:prstGeom prst="rect">
            <a:avLst/>
          </a:prstGeom>
          <a:solidFill>
            <a:srgbClr val="F6E7E2"/>
          </a:solidFill>
          <a:ln w="12700">
            <a:solidFill>
              <a:srgbClr val="F6E7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328416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2 readings in every year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3328416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2,876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3630168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value repeating 3+ times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3630168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2,759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0050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Replaying this cascade reproduces the published 2,759 exactly, which is how we know where the rest went.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1371600"/>
            <a:ext cx="5303520" cy="3200400"/>
          </a:xfrm>
          <a:prstGeom prst="roundRect">
            <a:avLst>
              <a:gd name="adj" fmla="val 1714"/>
            </a:avLst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  <a:effectLst>
            <a:outerShdw sx="100000" sy="100000" kx="0" ky="0" algn="bl" rotWithShape="0" blurRad="101600" dist="25400" dir="5400000">
              <a:srgbClr val="9FB3BC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29400" y="1563624"/>
            <a:ext cx="384048" cy="384048"/>
          </a:xfrm>
          <a:prstGeom prst="ellipse">
            <a:avLst/>
          </a:prstGeom>
          <a:solidFill>
            <a:srgbClr val="C1553B"/>
          </a:solidFill>
          <a:ln w="12700">
            <a:solidFill>
              <a:srgbClr val="C155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29400" y="161848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41464" y="1600200"/>
            <a:ext cx="4151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fourth rule is the problem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2121408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alone removes 25,736 wells, more than every other rule combined</a:t>
            </a:r>
            <a:endParaRPr lang="en-US" sz="1150" dirty="0"/>
          </a:p>
          <a:p>
            <a:pPr marL="342900" indent="-34290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tests completeness, not quality: a well with 91 of its 92 readings is discarded if one single year holds only one of them</a:t>
            </a:r>
            <a:endParaRPr lang="en-US" sz="1150" dirty="0"/>
          </a:p>
          <a:p>
            <a:pPr marL="342900" indent="-342900">
              <a:lnSpc>
                <a:spcPts val="149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wells it removes are not a random sample. They are more likely to be deepening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773168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DF3F6"/>
          </a:solidFill>
          <a:ln w="12700">
            <a:solidFill>
              <a:srgbClr val="EDF3F6"/>
            </a:solidFill>
            <a:prstDash val="solid"/>
          </a:ln>
          <a:effectLst>
            <a:outerShdw sx="100000" sy="100000" kx="0" ky="0" algn="bl" rotWithShape="0" blurRad="101600" dist="25400" dir="5400000">
              <a:srgbClr val="9FB3BC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68680" y="4901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consequence, measured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5528" y="5166360"/>
            <a:ext cx="8193024" cy="265176"/>
          </a:xfrm>
          <a:prstGeom prst="rect">
            <a:avLst/>
          </a:prstGeom>
          <a:solidFill>
            <a:srgbClr val="DDE7ED"/>
          </a:solidFill>
          <a:ln w="12700">
            <a:solidFill>
              <a:srgbClr val="DDE7E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8680" y="519379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160520" y="519379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deepening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519379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trend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545896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2,759 wells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160520" y="545896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537960" y="545896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−0.0345 m/yr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95528" y="5696712"/>
            <a:ext cx="8193024" cy="265176"/>
          </a:xfrm>
          <a:prstGeom prst="rect">
            <a:avLst/>
          </a:prstGeom>
          <a:solidFill>
            <a:srgbClr val="F6E7E2"/>
          </a:solidFill>
          <a:ln w="12700">
            <a:solidFill>
              <a:srgbClr val="F6E7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68680" y="572414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6,050 wells added back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160520" y="572414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537960" y="572414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+0.0217 m/yr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9509760" y="52303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published set understates the decline.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Flag, do not drop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reading is kept. Selection happens once, at the very end.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035040" cy="3657600"/>
          </a:xfrm>
          <a:prstGeom prst="roundRect">
            <a:avLst>
              <a:gd name="adj" fmla="val 1500"/>
            </a:avLst>
          </a:prstGeom>
          <a:solidFill>
            <a:srgbClr val="EDF3F6"/>
          </a:solidFill>
          <a:ln w="12700">
            <a:solidFill>
              <a:srgbClr val="EDF3F6"/>
            </a:solidFill>
            <a:prstDash val="solid"/>
          </a:ln>
          <a:effectLst>
            <a:outerShdw sx="100000" sy="100000" kx="0" ky="0" algn="bl" rotWithShape="0" blurRad="101600" dist="25400" dir="5400000">
              <a:srgbClr val="9FB3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563624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61848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80744" y="1600200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wrong, named per reading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5528" y="2093976"/>
            <a:ext cx="5815584" cy="288036"/>
          </a:xfrm>
          <a:prstGeom prst="rect">
            <a:avLst/>
          </a:prstGeom>
          <a:solidFill>
            <a:srgbClr val="DDE7ED"/>
          </a:solidFill>
          <a:ln w="12700">
            <a:solidFill>
              <a:srgbClr val="DDE7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121408"/>
            <a:ext cx="3200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2121408"/>
            <a:ext cx="1371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121408"/>
            <a:ext cx="1097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409444"/>
            <a:ext cx="3200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deeper than the well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069080" y="2409444"/>
            <a:ext cx="1371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26,257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409444"/>
            <a:ext cx="1097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2,755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697480"/>
            <a:ext cx="3200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or more identical in a row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2697480"/>
            <a:ext cx="1371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22,448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2697480"/>
            <a:ext cx="1097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1,950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2985516"/>
            <a:ext cx="3200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 zeros (missing as 0)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069080" y="2985516"/>
            <a:ext cx="1371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13,488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2985516"/>
            <a:ext cx="1097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753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273552"/>
            <a:ext cx="3200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vs its own season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3273552"/>
            <a:ext cx="1371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9,587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3273552"/>
            <a:ext cx="1097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7,485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3561588"/>
            <a:ext cx="3200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above ground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069080" y="3561588"/>
            <a:ext cx="1371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1,429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3561588"/>
            <a:ext cx="1097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925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95528" y="3822192"/>
            <a:ext cx="5815584" cy="288036"/>
          </a:xfrm>
          <a:prstGeom prst="rect">
            <a:avLst/>
          </a:prstGeom>
          <a:solidFill>
            <a:srgbClr val="F6E7E2"/>
          </a:solidFill>
          <a:ln w="12700">
            <a:solidFill>
              <a:srgbClr val="F6E7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3849624"/>
            <a:ext cx="32004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069080" y="3849624"/>
            <a:ext cx="13716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1,065,392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3849624"/>
            <a:ext cx="1097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94.7%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42519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are measured against each well’s own seasonal pattern, not its raw level, so a genuine long decline is never flagged as an anomaly.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766560" y="1371600"/>
            <a:ext cx="4846320" cy="1783080"/>
          </a:xfrm>
          <a:prstGeom prst="roundRect">
            <a:avLst>
              <a:gd name="adj" fmla="val 3077"/>
            </a:avLst>
          </a:prstGeom>
          <a:solidFill>
            <a:srgbClr val="EDF3F6"/>
          </a:solidFill>
          <a:ln w="12700">
            <a:solidFill>
              <a:srgbClr val="EDF3F6"/>
            </a:solidFill>
            <a:prstDash val="solid"/>
          </a:ln>
          <a:effectLst>
            <a:outerShdw sx="100000" sy="100000" kx="0" ky="0" algn="bl" rotWithShape="0" blurRad="101600" dist="25400" dir="5400000">
              <a:srgbClr val="9FB3BC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086600" y="1536192"/>
            <a:ext cx="384048" cy="384048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086600" y="159105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598664" y="157276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views, not one cut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013448" y="2039112"/>
            <a:ext cx="4078224" cy="256032"/>
          </a:xfrm>
          <a:prstGeom prst="rect">
            <a:avLst/>
          </a:prstGeom>
          <a:solidFill>
            <a:srgbClr val="DDE7ED"/>
          </a:solidFill>
          <a:ln w="12700">
            <a:solidFill>
              <a:srgbClr val="DDE7E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086600" y="20665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098280" y="20665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0012680" y="20665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7086600" y="23225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(control)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9098280" y="23225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2,759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0012680" y="23225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7086600" y="25786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9098280" y="2578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8,629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10012680" y="25786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7086600" y="28346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table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9098280" y="28346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11,455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10012680" y="28346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7086600" y="31455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5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table needs three of four campaigns rather than all four, which keeps Kerala, Assam, West Bengal and Odisha.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766560" y="3310128"/>
            <a:ext cx="4846320" cy="1719072"/>
          </a:xfrm>
          <a:prstGeom prst="roundRect">
            <a:avLst>
              <a:gd name="adj" fmla="val 3191"/>
            </a:avLst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  <a:effectLst>
            <a:outerShdw sx="100000" sy="100000" kx="0" ky="0" algn="bl" rotWithShape="0" blurRad="101600" dist="25400" dir="5400000">
              <a:srgbClr val="9FB3BC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086600" y="3474720"/>
            <a:ext cx="384048" cy="384048"/>
          </a:xfrm>
          <a:prstGeom prst="ellipse">
            <a:avLst/>
          </a:prstGeom>
          <a:solidFill>
            <a:srgbClr val="C1553B"/>
          </a:solidFill>
          <a:ln w="12700">
            <a:solidFill>
              <a:srgbClr val="C1553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086600" y="352958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7598664" y="3511296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 data is concentrated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7086600" y="3986784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Telangana: 16.7% suspect zeros and 17.9% below-bottom readings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Nationally for dug wells: 0.2% and 0.8%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 wells and piezometers carry nearly all of it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Fixing what the source file gets wrong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fix is checked against independent evidence, not assumed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9584" cy="3794760"/>
          </a:xfrm>
          <a:prstGeom prst="roundRect">
            <a:avLst>
              <a:gd name="adj" fmla="val 1554"/>
            </a:avLst>
          </a:prstGeom>
          <a:solidFill>
            <a:srgbClr val="EDF3F6"/>
          </a:solidFill>
          <a:ln w="12700">
            <a:solidFill>
              <a:srgbClr val="EDF3F6"/>
            </a:solidFill>
            <a:prstDash val="solid"/>
          </a:ln>
          <a:effectLst>
            <a:outerShdw sx="100000" sy="100000" kx="0" ky="0" algn="bl" rotWithShape="0" blurRad="101600" dist="25400" dir="5400000">
              <a:srgbClr val="9FB3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572768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2763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35024" y="160934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well is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39696"/>
            <a:ext cx="298094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610 district names mix spellings, renames and boundary vintages, so names cannot be joined reliably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well is now placed inside the district outline its coordinates fall in (724 post-2020 outlines)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label agrees for 82.5%; the rest are renames and splits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489 wells are filed in the wrong state. Their levels track neighbours at their coordinates at 0.39, against 0.17 for the labelled district, so the label is what is wrong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5968" y="1371600"/>
            <a:ext cx="3529584" cy="3794760"/>
          </a:xfrm>
          <a:prstGeom prst="roundRect">
            <a:avLst>
              <a:gd name="adj" fmla="val 1554"/>
            </a:avLst>
          </a:prstGeom>
          <a:solidFill>
            <a:srgbClr val="EDF3F6"/>
          </a:solidFill>
          <a:ln w="12700">
            <a:solidFill>
              <a:srgbClr val="EDF3F6"/>
            </a:solidFill>
            <a:prstDash val="solid"/>
          </a:ln>
          <a:effectLst>
            <a:outerShdw sx="100000" sy="100000" kx="0" ky="0" algn="bl" rotWithShape="0" blurRad="101600" dist="25400" dir="5400000">
              <a:srgbClr val="9FB3BC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1572768"/>
            <a:ext cx="384048" cy="384048"/>
          </a:xfrm>
          <a:prstGeom prst="ellipse">
            <a:avLst/>
          </a:prstGeom>
          <a:solidFill>
            <a:srgbClr val="3E6B52"/>
          </a:solidFill>
          <a:ln w="12700">
            <a:solidFill>
              <a:srgbClr val="3E6B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0288" y="162763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02352" y="160934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 yield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139696"/>
            <a:ext cx="298094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to turn a level change into millimetres of water. The raw file has none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hydrogeological map sits in the same archive and reproduces the published values for 100% of wells tested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earlier state-median guesses landed in the wrong class for 8,996 wells, and were more than 1.5x off for 75% of those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well now reads its value from the map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83296" y="1371600"/>
            <a:ext cx="3529584" cy="3794760"/>
          </a:xfrm>
          <a:prstGeom prst="roundRect">
            <a:avLst>
              <a:gd name="adj" fmla="val 1554"/>
            </a:avLst>
          </a:prstGeom>
          <a:solidFill>
            <a:srgbClr val="EDF3F6"/>
          </a:solidFill>
          <a:ln w="12700">
            <a:solidFill>
              <a:srgbClr val="EDF3F6"/>
            </a:solidFill>
            <a:prstDash val="solid"/>
          </a:ln>
          <a:effectLst>
            <a:outerShdw sx="100000" sy="100000" kx="0" ky="0" algn="bl" rotWithShape="0" blurRad="101600" dist="25400" dir="5400000">
              <a:srgbClr val="9FB3BC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1572768"/>
            <a:ext cx="384048" cy="384048"/>
          </a:xfrm>
          <a:prstGeom prst="ellipse">
            <a:avLst/>
          </a:prstGeom>
          <a:solidFill>
            <a:srgbClr val="C1553B"/>
          </a:solidFill>
          <a:ln w="12700">
            <a:solidFill>
              <a:srgbClr val="C155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57616" y="162763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160934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Aquifer and well type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2139696"/>
            <a:ext cx="298094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for 13,312 wells, so those wells could not be grouped by how the aquifer behaves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 of dug wells that do carry a type are unconfined, so blank dug wells are inferred Unconfined (6,308)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 wells, tube wells and piezometers are too mixed to infer, so they stay Unknown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values are kept alongside, and the source of every value is recorded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rain and wells on one clock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is daily, levels are quarterly. They only meet once rain is summed between readings.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578608"/>
          </a:xfrm>
          <a:prstGeom prst="roundRect">
            <a:avLst>
              <a:gd name="adj" fmla="val 2128"/>
            </a:avLst>
          </a:prstGeom>
          <a:solidFill>
            <a:srgbClr val="EDF3F6"/>
          </a:solidFill>
          <a:ln w="12700">
            <a:solidFill>
              <a:srgbClr val="EDF3F6"/>
            </a:solidFill>
            <a:prstDash val="solid"/>
          </a:ln>
          <a:effectLst>
            <a:outerShdw sx="100000" sy="100000" kx="0" ky="0" algn="bl" rotWithShape="0" blurRad="101600" dist="25400" dir="5400000">
              <a:srgbClr val="9FB3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536192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59105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80744" y="1572768"/>
            <a:ext cx="4242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seasons, cut at the readings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5528" y="2020824"/>
            <a:ext cx="4809744" cy="246888"/>
          </a:xfrm>
          <a:prstGeom prst="rect">
            <a:avLst/>
          </a:prstGeom>
          <a:solidFill>
            <a:srgbClr val="DDE7ED"/>
          </a:solidFill>
          <a:ln w="12700">
            <a:solidFill>
              <a:srgbClr val="DDE7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04825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0482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– to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0482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29514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Nov–Jan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22951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16 – Jan 15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2951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25420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Jan–May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2542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16 – May 15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2542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2788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May–Aug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606040" y="2788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16 – Aug 15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27889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0358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Aug–Nov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30358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16 – Nov 15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30358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33467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5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quarters would split the monsoon across the August reading. Season rain is summed from the daily grid and matches the raw files to 0.0001 mm.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1371600"/>
            <a:ext cx="5486400" cy="2578608"/>
          </a:xfrm>
          <a:prstGeom prst="roundRect">
            <a:avLst>
              <a:gd name="adj" fmla="val 2128"/>
            </a:avLst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  <a:effectLst>
            <a:outerShdw sx="100000" sy="100000" kx="0" ky="0" algn="bl" rotWithShape="0" blurRad="101600" dist="25400" dir="5400000">
              <a:srgbClr val="9FB3BC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46520" y="1536192"/>
            <a:ext cx="384048" cy="384048"/>
          </a:xfrm>
          <a:prstGeom prst="ellipse">
            <a:avLst/>
          </a:prstGeom>
          <a:solidFill>
            <a:srgbClr val="C1553B"/>
          </a:solidFill>
          <a:ln w="12700">
            <a:solidFill>
              <a:srgbClr val="C155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46520" y="159105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958584" y="1572768"/>
            <a:ext cx="4334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level is a stock, rain is a flow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2066544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in a season does not explain the water level. It explains the change in level over that season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yield converts that change into millimetres of water, so rain in and water stored share one unit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reading is bridged to the last valid one, never filled in. 88% of changes come from the season immediately before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114800"/>
            <a:ext cx="11064240" cy="1783080"/>
          </a:xfrm>
          <a:prstGeom prst="roundRect">
            <a:avLst>
              <a:gd name="adj" fmla="val 3077"/>
            </a:avLst>
          </a:prstGeom>
          <a:solidFill>
            <a:srgbClr val="EDF3F6"/>
          </a:solidFill>
          <a:ln w="12700">
            <a:solidFill>
              <a:srgbClr val="EDF3F6"/>
            </a:solidFill>
            <a:prstDash val="solid"/>
          </a:ln>
          <a:effectLst>
            <a:outerShdw sx="100000" sy="100000" kx="0" ky="0" algn="bl" rotWithShape="0" blurRad="101600" dist="25400" dir="5400000">
              <a:srgbClr val="9FB3BC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68680" y="4242816"/>
            <a:ext cx="384048" cy="384048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8680" y="429768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380744" y="4279392"/>
            <a:ext cx="7260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physics comes out right, which is the check that it works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95528" y="4727448"/>
            <a:ext cx="7461504" cy="265176"/>
          </a:xfrm>
          <a:prstGeom prst="rect">
            <a:avLst/>
          </a:prstGeom>
          <a:solidFill>
            <a:srgbClr val="DDE7ED"/>
          </a:solidFill>
          <a:ln w="12700">
            <a:solidFill>
              <a:srgbClr val="DDE7E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8680" y="475488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3063240" y="475488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level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074920" y="475488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446520" y="475488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stored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68680" y="502005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Jan–May (dry)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3063240" y="502005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1.42 m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074920" y="502005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mm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446520" y="5020056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95528" y="5257800"/>
            <a:ext cx="7461504" cy="265176"/>
          </a:xfrm>
          <a:prstGeom prst="rect">
            <a:avLst/>
          </a:prstGeom>
          <a:solidFill>
            <a:srgbClr val="F6E7E2"/>
          </a:solidFill>
          <a:ln w="12700">
            <a:solidFill>
              <a:srgbClr val="F6E7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68680" y="528523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May–Aug (monsoon)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3063240" y="528523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1.94 m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5074920" y="528523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482 mm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6446520" y="528523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11.6%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868680" y="555040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Aug–Nov (late monsoon)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3063240" y="555040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0.15 m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5074920" y="555040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359 mm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6446520" y="555040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8503920" y="47548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11.6% sits inside CGWB’s own published infiltration range of 8–15%, from an independent source we never fitted to.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feedback, and what we did with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are now in the plan. One changed shape, and the reason is measured.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EDF3F6"/>
          </a:solidFill>
          <a:ln w="12700">
            <a:solidFill>
              <a:srgbClr val="EDF3F6"/>
            </a:solidFill>
            <a:prstDash val="solid"/>
          </a:ln>
          <a:effectLst>
            <a:outerShdw sx="100000" sy="100000" kx="0" ky="0" algn="bl" rotWithShape="0" blurRad="101600" dist="25400" dir="5400000">
              <a:srgbClr val="9FB3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36192"/>
            <a:ext cx="932688" cy="274320"/>
          </a:xfrm>
          <a:prstGeom prst="roundRect">
            <a:avLst>
              <a:gd name="adj" fmla="val 26667"/>
            </a:avLst>
          </a:prstGeom>
          <a:solidFill>
            <a:srgbClr val="3E6B52"/>
          </a:solidFill>
          <a:ln w="12700">
            <a:solidFill>
              <a:srgbClr val="3E6B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6819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499616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non-linear distance function for the many-to-one mapping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1810512"/>
            <a:ext cx="9509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inverse-distance (power 2) and bicubic alongside bilinear, and compared them by hiding grid points and predicting them back. Bilinear won: 17.7% monthly error against 25.6% for the nearest point.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EDF3F6"/>
          </a:solidFill>
          <a:ln w="12700">
            <a:solidFill>
              <a:srgbClr val="EDF3F6"/>
            </a:solidFill>
            <a:prstDash val="solid"/>
          </a:ln>
          <a:effectLst>
            <a:outerShdw sx="100000" sy="100000" kx="0" ky="0" algn="bl" rotWithShape="0" blurRad="101600" dist="25400" dir="5400000">
              <a:srgbClr val="9FB3BC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633472"/>
            <a:ext cx="932688" cy="274320"/>
          </a:xfrm>
          <a:prstGeom prst="roundRect">
            <a:avLst>
              <a:gd name="adj" fmla="val 2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66547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596896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centroid of the group and use it as the well location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290779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adopted for grouping wells: two wells in one cell already differ by 0.90 m while the signal is 0.48–0.95 m, so averaging would erase real variation, and distance weighting versus a plain mean differs by only 0.038 m at this density. Applied instead to the 2,999 wells whose coordinates were recorded rounded, where the position genuinely is uncertain.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767328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EDF3F6"/>
          </a:solidFill>
          <a:ln w="12700">
            <a:solidFill>
              <a:srgbClr val="EDF3F6"/>
            </a:solidFill>
            <a:prstDash val="solid"/>
          </a:ln>
          <a:effectLst>
            <a:outerShdw sx="100000" sy="100000" kx="0" ky="0" algn="bl" rotWithShape="0" blurRad="101600" dist="25400" dir="5400000">
              <a:srgbClr val="9FB3BC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950208"/>
            <a:ext cx="932688" cy="274320"/>
          </a:xfrm>
          <a:prstGeom prst="roundRect">
            <a:avLst>
              <a:gd name="adj" fmla="val 2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982212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391363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recurrent model reading a 30-day sequence, fed forward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422452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Adopted, with the output moved. Your 30-day rainfall version was tested and it confirmed the problem you were probing: a model reading 30 days of rain falls back to the calendar average within a week, because no gauge exists at a well to train the rainfall output against. So the recurrent model now reads the 52-week rain sequence at a well and predicts the change in its water level, which has 23 years of real labels behind 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084064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EDF3F6"/>
          </a:solidFill>
          <a:ln w="12700">
            <a:solidFill>
              <a:srgbClr val="EDF3F6"/>
            </a:solidFill>
            <a:prstDash val="solid"/>
          </a:ln>
          <a:effectLst>
            <a:outerShdw sx="100000" sy="100000" kx="0" ky="0" algn="bl" rotWithShape="0" blurRad="101600" dist="25400" dir="5400000">
              <a:srgbClr val="9FB3BC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266944"/>
            <a:ext cx="932688" cy="274320"/>
          </a:xfrm>
          <a:prstGeom prst="roundRect">
            <a:avLst>
              <a:gd name="adj" fmla="val 26667"/>
            </a:avLst>
          </a:prstGeom>
          <a:solidFill>
            <a:srgbClr val="3E6B52"/>
          </a:solidFill>
          <a:ln w="12700">
            <a:solidFill>
              <a:srgbClr val="3E6B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29894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523036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two architectures, train both, compare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874520" y="5541264"/>
            <a:ext cx="9509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phrase is the split we used. Architecture A, many inputs and one output: ridge and LightGBM on 25 features. Architecture B, recurrent: the LSTM on the weekly sequence. Identical rows and splits, both scored against two no-skill baselines.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two architectures will be built and compared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Specified on identical rows and splits, so the comparison means something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9584" cy="2788920"/>
          </a:xfrm>
          <a:prstGeom prst="roundRect">
            <a:avLst>
              <a:gd name="adj" fmla="val 1967"/>
            </a:avLst>
          </a:prstGeom>
          <a:solidFill>
            <a:srgbClr val="EDF3F6"/>
          </a:solidFill>
          <a:ln w="12700">
            <a:solidFill>
              <a:srgbClr val="EDF3F6"/>
            </a:solidFill>
            <a:prstDash val="solid"/>
          </a:ln>
          <a:effectLst>
            <a:outerShdw sx="100000" sy="100000" kx="0" ky="0" algn="bl" rotWithShape="0" blurRad="101600" dist="25400" dir="5400000">
              <a:srgbClr val="9FB3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536192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59105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80744" y="157276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084832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rain that fell at a well, how far should its water level have moved this season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the change in level since the previous reading, in metres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inputs: past water level, year, coordinates, district or state, because each carries the pumping history we are trying to measure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5968" y="1371600"/>
            <a:ext cx="3529584" cy="2788920"/>
          </a:xfrm>
          <a:prstGeom prst="roundRect">
            <a:avLst>
              <a:gd name="adj" fmla="val 1967"/>
            </a:avLst>
          </a:prstGeom>
          <a:solidFill>
            <a:srgbClr val="EDF3F6"/>
          </a:solidFill>
          <a:ln w="12700">
            <a:solidFill>
              <a:srgbClr val="EDF3F6"/>
            </a:solidFill>
            <a:prstDash val="solid"/>
          </a:ln>
          <a:effectLst>
            <a:outerShdw sx="100000" sy="100000" kx="0" ky="0" algn="bl" rotWithShape="0" blurRad="101600" dist="25400" dir="5400000">
              <a:srgbClr val="9FB3BC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1536192"/>
            <a:ext cx="384048" cy="384048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59105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48072" y="157276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084832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Baselines: predict no change, and each well’s own average for that season. Every model must beat both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many inputs one output: ridge (the linear baseline) and LightGBM on 25 features, with a monotone constraint so more rain can never predict deeper water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B, recurrent: LSTM or GRU over 52 weekly rain totals, with well properties joining after the recurrent layer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83296" y="1371600"/>
            <a:ext cx="3529584" cy="2788920"/>
          </a:xfrm>
          <a:prstGeom prst="roundRect">
            <a:avLst>
              <a:gd name="adj" fmla="val 1967"/>
            </a:avLst>
          </a:prstGeom>
          <a:solidFill>
            <a:srgbClr val="EDF3F6"/>
          </a:solidFill>
          <a:ln w="12700">
            <a:solidFill>
              <a:srgbClr val="EDF3F6"/>
            </a:solidFill>
            <a:prstDash val="solid"/>
          </a:ln>
          <a:effectLst>
            <a:outerShdw sx="100000" sy="100000" kx="0" ky="0" algn="bl" rotWithShape="0" blurRad="101600" dist="25400" dir="5400000">
              <a:srgbClr val="9FB3BC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03336" y="1536192"/>
            <a:ext cx="384048" cy="384048"/>
          </a:xfrm>
          <a:prstGeom prst="ellipse">
            <a:avLst/>
          </a:prstGeom>
          <a:solidFill>
            <a:srgbClr val="C1553B"/>
          </a:solidFill>
          <a:ln w="12700">
            <a:solidFill>
              <a:srgbClr val="C155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03336" y="159105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157276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they are judged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03336" y="2084832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MAE and skill against the baselines, reported per season and never pooled into one number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hold-outs: unseen years, and whole unseen districts across five folds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Monotonicity: scaling rain 0.8x to 1.2x must never make predicted water deeper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5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Sanity: predicted May-Aug storage should land near CGWB’s 8–15% infiltration range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  <a:effectLst>
            <a:outerShdw sx="100000" sy="100000" kx="0" ky="0" algn="bl" rotWithShape="0" blurRad="101600" dist="25400" dir="5400000">
              <a:srgbClr val="9FB3BC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" y="45171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once, by year, and the test years stay closed until the end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8646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0840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2000–2014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3766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489,707 rows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48646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566160" y="50840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2015–2017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53766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85,250 rows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48646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50840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2018–2022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53766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119,296 rows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961120" y="48646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0" y="50840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district folds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53766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unseen districts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stands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9584" cy="3657600"/>
          </a:xfrm>
          <a:prstGeom prst="roundRect">
            <a:avLst>
              <a:gd name="adj" fmla="val 1554"/>
            </a:avLst>
          </a:prstGeom>
          <a:solidFill>
            <a:srgbClr val="124B5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727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this week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298094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B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layer is rebuilt from the raw archive and nothing is hand edited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B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specific yield and aquifer type are all evidence based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B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and levels share one clock, validated against CGWB’s own infiltration range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B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automated tests, 251 columns documented from the tables themselves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315968" y="1371600"/>
            <a:ext cx="3529584" cy="3657600"/>
          </a:xfrm>
          <a:prstGeom prst="roundRect">
            <a:avLst>
              <a:gd name="adj" fmla="val 1554"/>
            </a:avLst>
          </a:prstGeom>
          <a:solidFill>
            <a:srgbClr val="124B5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90288" y="15727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open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90288" y="2011680"/>
            <a:ext cx="298094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B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explains a modest share: season rain correlates −0.08 to −0.16 with the change. The unexplained part is what the project measures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B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CGWB’s Safe / Critical / Over-exploited categories are not obtained yet, and the ranking needs them to be validated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B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yield is a five-class map value, so storage in millimetres is approximate; the change in metres does not depend on it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B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carry a month but no day, so season edges are uncertain by about two weeks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83296" y="1371600"/>
            <a:ext cx="3529584" cy="3657600"/>
          </a:xfrm>
          <a:prstGeom prst="roundRect">
            <a:avLst>
              <a:gd name="adj" fmla="val 1554"/>
            </a:avLst>
          </a:prstGeom>
          <a:solidFill>
            <a:srgbClr val="124B5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57616" y="15727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357616" y="2011680"/>
            <a:ext cx="298094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B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training table at 11,455 wells, with the published 2,759 kept as the control arm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B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 on whether the expanded, less filtered set changes what we can responsibly claim about decline</a:t>
            </a:r>
            <a:endParaRPr lang="en-US" sz="1050" dirty="0"/>
          </a:p>
          <a:p>
            <a:pPr marL="342900" indent="-342900">
              <a:lnSpc>
                <a:spcPts val="1365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B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sourcing the CGWB category dataset, which is the only external check the ranking has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2852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these slides is regenerated by script from the raw files. Nothing was typed in by hand.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Rebuilding the Data Foundation</dc:title>
  <dc:subject>PptxGenJS Presentation</dc:subject>
  <dc:creator>Kakara Siva Kumar</dc:creator>
  <cp:lastModifiedBy>Kakara Siva Kumar</cp:lastModifiedBy>
  <cp:revision>1</cp:revision>
  <dcterms:created xsi:type="dcterms:W3CDTF">2026-09-26T06:15:56Z</dcterms:created>
  <dcterms:modified xsi:type="dcterms:W3CDTF">2026-09-26T06:15:56Z</dcterms:modified>
</cp:coreProperties>
</file>