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156334-5144-eedd-d889-f036e04739bf}">
          <p14:sldIdLst>
            <p14:sldId id="256"/>
          </p14:sldIdLst>
        </p14:section>
        <p14:section name="Findings" id="{a45e9a70-0b2f-9d0c-16e9-36cfc56625ff}">
          <p14:sldIdLst>
            <p14:sldId id="257"/>
            <p14:sldId id="258"/>
            <p14:sldId id="259"/>
            <p14:sldId id="260"/>
          </p14:sldIdLst>
        </p14:section>
        <p14:section name="Next" id="{baaf3932-2dbb-831f-aeed-35cff7c17376}">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530"/>
                </a:solidFill>
                <a:latin typeface="+mn-lt"/>
              </a:defRPr>
            </a:pPr>
            <a:r>
              <a:rPr sz="1400" b="0" i="0" u="none" strike="noStrike">
                <a:solidFill>
                  <a:srgbClr val="1B2530"/>
                </a:solidFill>
                <a:latin typeface="+mn-lt"/>
              </a:rPr>
              <a:t>R² by model</a:t>
            </a:r>
          </a:p>
        </c:rich>
      </c:tx>
      <c:layout/>
      <c:overlay val="0"/>
    </c:title>
    <c:autoTitleDeleted val="0"/>
    <c:plotArea>
      <c:layout/>
      <c:barChart>
        <c:barDir val="col"/>
        <c:grouping val="clustered"/>
        <c:varyColors val="0"/>
        <c:ser>
          <c:idx val="0"/>
          <c:order val="0"/>
          <c:tx>
            <c:strRef>
              <c:f>Sheet1!$B$1</c:f>
              <c:strCache>
                <c:ptCount val="1"/>
                <c:pt idx="0">
                  <c:v>Validation 2015–17 (used for early stopping)</c:v>
                </c:pt>
              </c:strCache>
            </c:strRef>
          </c:tx>
          <c:spPr>
            <a:solidFill>
              <a:srgbClr val="9AA8B6"/>
            </a:solidFill>
            <a:effectLst/>
          </c:spPr>
          <c:invertIfNegative val="0"/>
          <c:dLbls>
            <c:numFmt formatCode="0.000" sourceLinked="0"/>
            <c:txPr>
              <a:bodyPr/>
              <a:lstStyle/>
              <a:p>
                <a:pPr>
                  <a:defRPr b="0" i="0" strike="noStrike" sz="1100" u="none">
                    <a:solidFill>
                      <a:srgbClr val="1B2530"/>
                    </a:solidFill>
                    <a:latin typeface="+mn-lt"/>
                  </a:defRPr>
                </a:pPr>
              </a:p>
            </c:txPr>
            <c:showLegendKey val="0"/>
            <c:showVal val="1"/>
            <c:showCatName val="0"/>
            <c:showSerName val="0"/>
            <c:showPercent val="0"/>
            <c:showBubbleSize val="0"/>
            <c:showLeaderLines val="0"/>
          </c:dLbls>
          <c:cat>
            <c:multiLvlStrRef>
              <c:f>Sheet1!$A$2:$A$6</c:f>
              <c:multiLvlStrCache>
                <c:ptCount val="5"/>
                <c:lvl>
                  <c:pt idx="0">
                    <c:v>Season mean</c:v>
                  </c:pt>
                  <c:pt idx="1">
                    <c:v>Transformer</c:v>
                  </c:pt>
                  <c:pt idx="2">
                    <c:v>BiLSTM</c:v>
                  </c:pt>
                  <c:pt idx="3">
                    <c:v>Simulator</c:v>
                  </c:pt>
                  <c:pt idx="4">
                    <c:v>LightGBM</c:v>
                  </c:pt>
                </c:lvl>
              </c:multiLvlStrCache>
            </c:multiLvlStrRef>
          </c:cat>
          <c:val>
            <c:numRef>
              <c:f>Sheet1!$B$2:$B$6</c:f>
              <c:numCache>
                <c:formatCode>General</c:formatCode>
                <c:ptCount val="5"/>
                <c:pt idx="0">
                  <c:v>0.271</c:v>
                </c:pt>
                <c:pt idx="1">
                  <c:v>0.418</c:v>
                </c:pt>
                <c:pt idx="2">
                  <c:v>0.419</c:v>
                </c:pt>
                <c:pt idx="3">
                  <c:v>0.426</c:v>
                </c:pt>
                <c:pt idx="4">
                  <c:v>0.435</c:v>
                </c:pt>
              </c:numCache>
            </c:numRef>
          </c:val>
        </c:ser>
        <c:ser>
          <c:idx val="1"/>
          <c:order val="1"/>
          <c:tx>
            <c:strRef>
              <c:f>Sheet1!$C$1</c:f>
              <c:strCache>
                <c:ptCount val="1"/>
                <c:pt idx="0">
                  <c:v>Test 2018–22 (never used)</c:v>
                </c:pt>
              </c:strCache>
            </c:strRef>
          </c:tx>
          <c:spPr>
            <a:solidFill>
              <a:srgbClr val="C2502A"/>
            </a:solidFill>
            <a:effectLst/>
          </c:spPr>
          <c:invertIfNegative val="0"/>
          <c:dLbls>
            <c:numFmt formatCode="0.000" sourceLinked="0"/>
            <c:txPr>
              <a:bodyPr/>
              <a:lstStyle/>
              <a:p>
                <a:pPr>
                  <a:defRPr b="0" i="0" strike="noStrike" sz="1100" u="none">
                    <a:solidFill>
                      <a:srgbClr val="1B2530"/>
                    </a:solidFill>
                    <a:latin typeface="+mn-lt"/>
                  </a:defRPr>
                </a:pPr>
              </a:p>
            </c:txPr>
            <c:showLegendKey val="0"/>
            <c:showVal val="1"/>
            <c:showCatName val="0"/>
            <c:showSerName val="0"/>
            <c:showPercent val="0"/>
            <c:showBubbleSize val="0"/>
            <c:showLeaderLines val="0"/>
          </c:dLbls>
          <c:cat>
            <c:multiLvlStrRef>
              <c:f>Sheet1!$A$2:$A$6</c:f>
              <c:multiLvlStrCache>
                <c:ptCount val="5"/>
                <c:lvl>
                  <c:pt idx="0">
                    <c:v>Season mean</c:v>
                  </c:pt>
                  <c:pt idx="1">
                    <c:v>Transformer</c:v>
                  </c:pt>
                  <c:pt idx="2">
                    <c:v>BiLSTM</c:v>
                  </c:pt>
                  <c:pt idx="3">
                    <c:v>Simulator</c:v>
                  </c:pt>
                  <c:pt idx="4">
                    <c:v>LightGBM</c:v>
                  </c:pt>
                </c:lvl>
              </c:multiLvlStrCache>
            </c:multiLvlStrRef>
          </c:cat>
          <c:val>
            <c:numRef>
              <c:f>Sheet1!$C$2:$C$6</c:f>
              <c:numCache>
                <c:formatCode>General</c:formatCode>
                <c:ptCount val="5"/>
                <c:pt idx="0">
                  <c:v>0.258</c:v>
                </c:pt>
                <c:pt idx="1">
                  <c:v>0.439</c:v>
                </c:pt>
                <c:pt idx="2">
                  <c:v>0.441</c:v>
                </c:pt>
                <c:pt idx="3">
                  <c:v>0.453</c:v>
                </c:pt>
                <c:pt idx="4">
                  <c:v>0.484</c:v>
                </c:pt>
              </c:numCache>
            </c:numRef>
          </c:val>
        </c:ser>
        <c:dLbls>
          <c:numFmt formatCode="0.000" sourceLinked="0"/>
          <c:txPr>
            <a:bodyPr/>
            <a:lstStyle/>
            <a:p>
              <a:pPr>
                <a:defRPr b="0" i="0" strike="noStrike" sz="1100" u="none">
                  <a:solidFill>
                    <a:srgbClr val="1B25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2"/>
                </a:solidFill>
                <a:latin typeface="+mn-lt"/>
              </a:defRPr>
            </a:pPr>
            <a:endParaRPr lang="en-US"/>
          </a:p>
        </c:txPr>
        <c:crossAx val="2094734552"/>
        <c:crosses val="autoZero"/>
        <c:auto val="1"/>
        <c:lblAlgn val="ctr"/>
        <c:noMultiLvlLbl val="1"/>
      </c:catAx>
      <c:valAx>
        <c:axId val="2094734552"/>
        <c:scaling>
          <c:orientation val="minMax"/>
          <c:max val="0.55"/>
          <c:min val="0"/>
        </c:scaling>
        <c:delete val="0"/>
        <c:axPos val="l"/>
        <c:majorGridlines>
          <c:spPr>
            <a:ln w="6350" cap="flat">
              <a:solidFill>
                <a:srgbClr val="E3E8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2"/>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530"/>
                </a:solidFill>
                <a:latin typeface="+mn-lt"/>
              </a:defRPr>
            </a:pPr>
            <a:r>
              <a:rPr sz="1400" b="0" i="0" u="none" strike="noStrike">
                <a:solidFill>
                  <a:srgbClr val="1B2530"/>
                </a:solidFill>
                <a:latin typeface="+mn-lt"/>
              </a:rPr>
              <a:t>Wells predicted to fall further under +20% rain</a:t>
            </a:r>
          </a:p>
        </c:rich>
      </c:tx>
      <c:layout/>
      <c:overlay val="0"/>
    </c:title>
    <c:autoTitleDeleted val="0"/>
    <c:plotArea>
      <c:layout/>
      <c:barChart>
        <c:barDir val="col"/>
        <c:grouping val="clustered"/>
        <c:varyColors val="0"/>
        <c:ser>
          <c:idx val="0"/>
          <c:order val="0"/>
          <c:tx>
            <c:strRef>
              <c:f>Sheet1!$B$1</c:f>
              <c:strCache>
                <c:ptCount val="1"/>
                <c:pt idx="0">
                  <c:v>Penalty off</c:v>
                </c:pt>
              </c:strCache>
            </c:strRef>
          </c:tx>
          <c:spPr>
            <a:solidFill>
              <a:srgbClr val="9AA8B6"/>
            </a:solidFill>
            <a:effectLst/>
          </c:spPr>
          <c:invertIfNegative val="0"/>
          <c:dLbls>
            <c:numFmt formatCode="0.0&quot;%&quot;" sourceLinked="0"/>
            <c:txPr>
              <a:bodyPr/>
              <a:lstStyle/>
              <a:p>
                <a:pPr>
                  <a:defRPr b="0" i="0" strike="noStrike" sz="1100" u="none">
                    <a:solidFill>
                      <a:srgbClr val="1B2530"/>
                    </a:solidFill>
                    <a:latin typeface="+mn-lt"/>
                  </a:defRPr>
                </a:pPr>
              </a:p>
            </c:txPr>
            <c:showLegendKey val="0"/>
            <c:showVal val="1"/>
            <c:showCatName val="0"/>
            <c:showSerName val="0"/>
            <c:showPercent val="0"/>
            <c:showBubbleSize val="0"/>
            <c:showLeaderLines val="0"/>
          </c:dLbls>
          <c:cat>
            <c:multiLvlStrRef>
              <c:f>Sheet1!$A$2:$A$3</c:f>
              <c:multiLvlStrCache>
                <c:ptCount val="2"/>
                <c:lvl>
                  <c:pt idx="0">
                    <c:v>6 channels</c:v>
                  </c:pt>
                  <c:pt idx="1">
                    <c:v>Main data, rain only</c:v>
                  </c:pt>
                </c:lvl>
              </c:multiLvlStrCache>
            </c:multiLvlStrRef>
          </c:cat>
          <c:val>
            <c:numRef>
              <c:f>Sheet1!$B$2:$B$3</c:f>
              <c:numCache>
                <c:formatCode>General</c:formatCode>
                <c:ptCount val="2"/>
                <c:pt idx="0">
                  <c:v>54.1</c:v>
                </c:pt>
                <c:pt idx="1">
                  <c:v>55</c:v>
                </c:pt>
              </c:numCache>
            </c:numRef>
          </c:val>
        </c:ser>
        <c:ser>
          <c:idx val="1"/>
          <c:order val="1"/>
          <c:tx>
            <c:strRef>
              <c:f>Sheet1!$C$1</c:f>
              <c:strCache>
                <c:ptCount val="1"/>
                <c:pt idx="0">
                  <c:v>Penalty on</c:v>
                </c:pt>
              </c:strCache>
            </c:strRef>
          </c:tx>
          <c:spPr>
            <a:solidFill>
              <a:srgbClr val="3F8F7A"/>
            </a:solidFill>
            <a:effectLst/>
          </c:spPr>
          <c:invertIfNegative val="0"/>
          <c:dLbls>
            <c:numFmt formatCode="0.0&quot;%&quot;" sourceLinked="0"/>
            <c:txPr>
              <a:bodyPr/>
              <a:lstStyle/>
              <a:p>
                <a:pPr>
                  <a:defRPr b="0" i="0" strike="noStrike" sz="1100" u="none">
                    <a:solidFill>
                      <a:srgbClr val="1B2530"/>
                    </a:solidFill>
                    <a:latin typeface="+mn-lt"/>
                  </a:defRPr>
                </a:pPr>
              </a:p>
            </c:txPr>
            <c:showLegendKey val="0"/>
            <c:showVal val="1"/>
            <c:showCatName val="0"/>
            <c:showSerName val="0"/>
            <c:showPercent val="0"/>
            <c:showBubbleSize val="0"/>
            <c:showLeaderLines val="0"/>
          </c:dLbls>
          <c:cat>
            <c:multiLvlStrRef>
              <c:f>Sheet1!$A$2:$A$3</c:f>
              <c:multiLvlStrCache>
                <c:ptCount val="2"/>
                <c:lvl>
                  <c:pt idx="0">
                    <c:v>6 channels</c:v>
                  </c:pt>
                  <c:pt idx="1">
                    <c:v>Main data, rain only</c:v>
                  </c:pt>
                </c:lvl>
              </c:multiLvlStrCache>
            </c:multiLvlStrRef>
          </c:cat>
          <c:val>
            <c:numRef>
              <c:f>Sheet1!$C$2:$C$3</c:f>
              <c:numCache>
                <c:formatCode>General</c:formatCode>
                <c:ptCount val="2"/>
                <c:pt idx="0">
                  <c:v>2.2</c:v>
                </c:pt>
                <c:pt idx="1">
                  <c:v>3.1</c:v>
                </c:pt>
              </c:numCache>
            </c:numRef>
          </c:val>
        </c:ser>
        <c:dLbls>
          <c:numFmt formatCode="0.0&quot;%&quot;" sourceLinked="0"/>
          <c:txPr>
            <a:bodyPr/>
            <a:lstStyle/>
            <a:p>
              <a:pPr>
                <a:defRPr b="0" i="0" strike="noStrike" sz="1100" u="none">
                  <a:solidFill>
                    <a:srgbClr val="1B25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2"/>
                </a:solidFill>
                <a:latin typeface="+mn-lt"/>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6350" cap="flat">
              <a:solidFill>
                <a:srgbClr val="E3E8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2"/>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carry this talk. LightGBM is the best model on the held-out years. All the models make nearly the same errors, so the remaining error is a property of the data, not the model. And the simulator, our new model, has a rain response that points the right way for 98% of wells. Everything here is reproducible with models/review_checks.py, which reloads the saved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files compared models on 2015 to 2017. That is also where every model chose its stopping point: LightGBM picked 623 trees there, and the neural nets kept their best epoch there. So the fair comparison is 2018 to 2022, which no model saw. There, LightGBM leads by about 0.04 R². Test R² is higher than validation for every model only because the test years vary less (standard deviation 3.07 against 3.23 metres). It is not evidence of improvement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models made different mistakes, averaging them would help. It barely does, because their errors correlate at 0.96. A gradient-boosted tree, a transformer and two LSTMs all stop at R² about 0.45 to 0.48 and miss the same rows. So another model of the same kind will not close the gap. Better data would. This is the strongest evidence we have for the project's premise: about half the change in water level is not explained by rain and fixed well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for the sequence models, and it is not accuracy. A model trained only to fit the data responds to more rain in the wrong direction for more than half the wells. The fit metrics cannot see that, because they never change the rain. The simulator adds a training penalty that forbids it. Wrong-way wells drop from 54% to 2.2%, the response gets four times stronger, and test R² is the best of the sequence models. One caveat: the month of the reading alone gives R² 0.26, so say 'rain history plus calendar', not 'rain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change what we would say. First, the district ranking: two thirds of each district's rows are training rows the model has already fitted. Recomputed on held-out rows only, the top of the list changes, and Junagadh, quoted in both results files, drops out of the top ten. Second, ridge scores below 'no change' on test, so the linear baseline is broken, not weak. The other two are about wording: the district folds and the year split differ in more than the kind of shift, and every number is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follows from the ceiling. First, a mixed-effects model on out-of-fold residuals. It gives each district an unexplained decline per year, with a confidence interval, and we can check it against CGWB's official over-exploited and safe categories. That is the project's real deliverable. Then intervals, then a monotone LightGBM as a second simulator, and a foundation-model encoder only if the brief requires it. We would skip more forecasters of the same family, and any model that reads neighbours' water levels, because that brings pumping back in as an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583680" cy="21945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640080" y="3840480"/>
            <a:ext cx="6400800" cy="1280160"/>
          </a:xfrm>
          <a:prstGeom prst="rect">
            <a:avLst/>
          </a:prstGeom>
          <a:noFill/>
          <a:ln/>
        </p:spPr>
        <p:txBody>
          <a:bodyPr wrap="square" rtlCol="0"/>
          <a:lstStyle>
            <a:lvl1pPr algn="l" indent="0" marL="0">
              <a:buNone/>
              <a:defRPr lang="en-US" sz="1800" dirty="0">
                <a:solidFill>
                  <a:srgbClr val="C9D6E2"/>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5B6672"/>
                </a:solidFill>
              </a:rPr>
              <a:t>Rain or Pumps · BITS Pilani PGCP AI/ML capstone, Group 18 · model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583680" cy="21945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What the models really show</a:t>
            </a:r>
            <a:endParaRPr lang="en-US" sz="4400" dirty="0"/>
          </a:p>
        </p:txBody>
      </p:sp>
      <p:sp>
        <p:nvSpPr>
          <p:cNvPr id="3" name="Text 0"/>
          <p:cNvSpPr/>
          <p:nvPr>
            <p:ph idx="101" type="body" hasCustomPrompt="1"/>
          </p:nvPr>
        </p:nvSpPr>
        <p:spPr>
          <a:xfrm>
            <a:off x="640080" y="3840480"/>
            <a:ext cx="6400800" cy="1280160"/>
          </a:xfrm>
          <a:prstGeom prst="rect">
            <a:avLst/>
          </a:prstGeom>
          <a:noFill/>
          <a:ln/>
        </p:spPr>
        <p:txBody>
          <a:bodyPr wrap="square" lIns="0" tIns="0" rIns="0" bIns="0" rtlCol="0" anchor="t"/>
          <a:lstStyle/>
          <a:p>
            <a:pPr algn="l" indent="0" marL="0">
              <a:buNone/>
            </a:pPr>
            <a:r>
              <a:rPr lang="en-US" sz="1800" dirty="0">
                <a:solidFill>
                  <a:srgbClr val="C9D6E2"/>
                </a:solidFill>
                <a:latin typeface="Calibri" pitchFamily="34" charset="0"/>
                <a:ea typeface="Calibri" pitchFamily="34" charset="-122"/>
                <a:cs typeface="Calibri" pitchFamily="34" charset="-120"/>
              </a:rPr>
              <a:t>A review of the transformer, BiLSTM, simulator and LightGBM results, checked against the saved models</a:t>
            </a:r>
            <a:endParaRPr lang="en-US" sz="1800" dirty="0"/>
          </a:p>
        </p:txBody>
      </p:sp>
      <p:sp>
        <p:nvSpPr>
          <p:cNvPr id="4" name="stat-0"/>
          <p:cNvSpPr txBox="1"/>
          <p:nvPr/>
        </p:nvSpPr>
        <p:spPr>
          <a:xfrm>
            <a:off x="7863840" y="1143000"/>
            <a:ext cx="3840480" cy="777240"/>
          </a:xfrm>
          <a:prstGeom prst="rect">
            <a:avLst/>
          </a:prstGeom>
          <a:noFill/>
          <a:ln/>
        </p:spPr>
        <p:txBody>
          <a:bodyPr wrap="square" lIns="0" tIns="0" rIns="0" bIns="0" rtlCol="0" anchor="ctr"/>
          <a:lstStyle/>
          <a:p>
            <a:pPr indent="0" marL="0">
              <a:buNone/>
            </a:pPr>
            <a:r>
              <a:rPr lang="en-US" sz="4800" b="1" dirty="0">
                <a:solidFill>
                  <a:srgbClr val="C2502A"/>
                </a:solidFill>
                <a:latin typeface="Cambria" pitchFamily="34" charset="0"/>
                <a:ea typeface="Cambria" pitchFamily="34" charset="-122"/>
                <a:cs typeface="Cambria" pitchFamily="34" charset="-120"/>
              </a:rPr>
              <a:t>0.484</a:t>
            </a:r>
            <a:endParaRPr lang="en-US" sz="4800" dirty="0"/>
          </a:p>
        </p:txBody>
      </p:sp>
      <p:sp>
        <p:nvSpPr>
          <p:cNvPr id="5" name="stat-0-label"/>
          <p:cNvSpPr txBox="1"/>
          <p:nvPr/>
        </p:nvSpPr>
        <p:spPr>
          <a:xfrm>
            <a:off x="7863840" y="1920240"/>
            <a:ext cx="3840480" cy="640080"/>
          </a:xfrm>
          <a:prstGeom prst="rect">
            <a:avLst/>
          </a:prstGeom>
          <a:noFill/>
          <a:ln/>
        </p:spPr>
        <p:txBody>
          <a:bodyPr wrap="square" lIns="0" tIns="0" rIns="0" bIns="0" rtlCol="0" anchor="t"/>
          <a:lstStyle/>
          <a:p>
            <a:pPr indent="0" marL="0">
              <a:buNone/>
            </a:pPr>
            <a:r>
              <a:rPr lang="en-US" sz="1400" dirty="0">
                <a:solidFill>
                  <a:srgbClr val="C9D6E2"/>
                </a:solidFill>
                <a:latin typeface="Calibri" pitchFamily="34" charset="0"/>
                <a:ea typeface="Calibri" pitchFamily="34" charset="-122"/>
                <a:cs typeface="Calibri" pitchFamily="34" charset="-120"/>
              </a:rPr>
              <a:t>LightGBM test R²: the best model on years nobody trained on</a:t>
            </a:r>
            <a:endParaRPr lang="en-US" sz="1400" dirty="0"/>
          </a:p>
        </p:txBody>
      </p:sp>
      <p:sp>
        <p:nvSpPr>
          <p:cNvPr id="6" name="stat-1"/>
          <p:cNvSpPr txBox="1"/>
          <p:nvPr/>
        </p:nvSpPr>
        <p:spPr>
          <a:xfrm>
            <a:off x="7863840" y="2743200"/>
            <a:ext cx="3840480" cy="777240"/>
          </a:xfrm>
          <a:prstGeom prst="rect">
            <a:avLst/>
          </a:prstGeom>
          <a:noFill/>
          <a:ln/>
        </p:spPr>
        <p:txBody>
          <a:bodyPr wrap="square" lIns="0" tIns="0" rIns="0" bIns="0" rtlCol="0" anchor="ctr"/>
          <a:lstStyle/>
          <a:p>
            <a:pPr indent="0" marL="0">
              <a:buNone/>
            </a:pPr>
            <a:r>
              <a:rPr lang="en-US" sz="4800" b="1" dirty="0">
                <a:solidFill>
                  <a:srgbClr val="7FB2E0"/>
                </a:solidFill>
                <a:latin typeface="Cambria" pitchFamily="34" charset="0"/>
                <a:ea typeface="Cambria" pitchFamily="34" charset="-122"/>
                <a:cs typeface="Cambria" pitchFamily="34" charset="-120"/>
              </a:rPr>
              <a:t>0.96</a:t>
            </a:r>
            <a:endParaRPr lang="en-US" sz="4800" dirty="0"/>
          </a:p>
        </p:txBody>
      </p:sp>
      <p:sp>
        <p:nvSpPr>
          <p:cNvPr id="7" name="stat-1-label"/>
          <p:cNvSpPr txBox="1"/>
          <p:nvPr/>
        </p:nvSpPr>
        <p:spPr>
          <a:xfrm>
            <a:off x="7863840" y="3520440"/>
            <a:ext cx="3840480" cy="640080"/>
          </a:xfrm>
          <a:prstGeom prst="rect">
            <a:avLst/>
          </a:prstGeom>
          <a:noFill/>
          <a:ln/>
        </p:spPr>
        <p:txBody>
          <a:bodyPr wrap="square" lIns="0" tIns="0" rIns="0" bIns="0" rtlCol="0" anchor="t"/>
          <a:lstStyle/>
          <a:p>
            <a:pPr indent="0" marL="0">
              <a:buNone/>
            </a:pPr>
            <a:r>
              <a:rPr lang="en-US" sz="1400" dirty="0">
                <a:solidFill>
                  <a:srgbClr val="C9D6E2"/>
                </a:solidFill>
                <a:latin typeface="Calibri" pitchFamily="34" charset="0"/>
                <a:ea typeface="Calibri" pitchFamily="34" charset="-122"/>
                <a:cs typeface="Calibri" pitchFamily="34" charset="-120"/>
              </a:rPr>
              <a:t>correlation between the models' errors: one shared ceiling</a:t>
            </a:r>
            <a:endParaRPr lang="en-US" sz="1400" dirty="0"/>
          </a:p>
        </p:txBody>
      </p:sp>
      <p:sp>
        <p:nvSpPr>
          <p:cNvPr id="8" name="stat-2"/>
          <p:cNvSpPr txBox="1"/>
          <p:nvPr/>
        </p:nvSpPr>
        <p:spPr>
          <a:xfrm>
            <a:off x="7863840" y="4343400"/>
            <a:ext cx="3840480" cy="777240"/>
          </a:xfrm>
          <a:prstGeom prst="rect">
            <a:avLst/>
          </a:prstGeom>
          <a:noFill/>
          <a:ln/>
        </p:spPr>
        <p:txBody>
          <a:bodyPr wrap="square" lIns="0" tIns="0" rIns="0" bIns="0" rtlCol="0" anchor="ctr"/>
          <a:lstStyle/>
          <a:p>
            <a:pPr indent="0" marL="0">
              <a:buNone/>
            </a:pPr>
            <a:r>
              <a:rPr lang="en-US" sz="4800" b="1" dirty="0">
                <a:solidFill>
                  <a:srgbClr val="7FC9B4"/>
                </a:solidFill>
                <a:latin typeface="Cambria" pitchFamily="34" charset="0"/>
                <a:ea typeface="Cambria" pitchFamily="34" charset="-122"/>
                <a:cs typeface="Cambria" pitchFamily="34" charset="-120"/>
              </a:rPr>
              <a:t>2.2%</a:t>
            </a:r>
            <a:endParaRPr lang="en-US" sz="4800" dirty="0"/>
          </a:p>
        </p:txBody>
      </p:sp>
      <p:sp>
        <p:nvSpPr>
          <p:cNvPr id="9" name="stat-2-label"/>
          <p:cNvSpPr txBox="1"/>
          <p:nvPr/>
        </p:nvSpPr>
        <p:spPr>
          <a:xfrm>
            <a:off x="7863840" y="5120640"/>
            <a:ext cx="3840480" cy="640080"/>
          </a:xfrm>
          <a:prstGeom prst="rect">
            <a:avLst/>
          </a:prstGeom>
          <a:noFill/>
          <a:ln/>
        </p:spPr>
        <p:txBody>
          <a:bodyPr wrap="square" lIns="0" tIns="0" rIns="0" bIns="0" rtlCol="0" anchor="t"/>
          <a:lstStyle/>
          <a:p>
            <a:pPr indent="0" marL="0">
              <a:buNone/>
            </a:pPr>
            <a:r>
              <a:rPr lang="en-US" sz="1400" dirty="0">
                <a:solidFill>
                  <a:srgbClr val="C9D6E2"/>
                </a:solidFill>
                <a:latin typeface="Calibri" pitchFamily="34" charset="0"/>
                <a:ea typeface="Calibri" pitchFamily="34" charset="-122"/>
                <a:cs typeface="Calibri" pitchFamily="34" charset="-120"/>
              </a:rPr>
              <a:t>of wells the simulator moves the wrong way under +20% rain (54% without the penalty)</a:t>
            </a:r>
            <a:endParaRPr lang="en-US" sz="1400" dirty="0"/>
          </a:p>
        </p:txBody>
      </p:sp>
      <p:sp>
        <p:nvSpPr>
          <p:cNvPr id="10" name="Text 8"/>
          <p:cNvSpPr txBox="1"/>
          <p:nvPr/>
        </p:nvSpPr>
        <p:spPr>
          <a:xfrm>
            <a:off x="640080" y="6126480"/>
            <a:ext cx="6400800" cy="320040"/>
          </a:xfrm>
          <a:prstGeom prst="rect">
            <a:avLst/>
          </a:prstGeom>
          <a:noFill/>
          <a:ln/>
        </p:spPr>
        <p:txBody>
          <a:bodyPr wrap="square" lIns="0" tIns="0" rIns="0" bIns="0" rtlCol="0" anchor="ctr"/>
          <a:lstStyle/>
          <a:p>
            <a:pPr indent="0" marL="0">
              <a:buNone/>
            </a:pPr>
            <a:r>
              <a:rPr lang="en-US" sz="1200" dirty="0">
                <a:solidFill>
                  <a:srgbClr val="8FA3B6"/>
                </a:solidFill>
                <a:latin typeface="Calibri" pitchFamily="34" charset="0"/>
                <a:ea typeface="Calibri" pitchFamily="34" charset="-122"/>
                <a:cs typeface="Calibri" pitchFamily="34" charset="-120"/>
              </a:rPr>
              <a:t>BITS Pilani PGCP AI/ML capstone · Group 18 · bilstm branch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 held-out years, LightGBM leads by 0.04 R²</a:t>
            </a:r>
            <a:endParaRPr lang="en-US" sz="3200" dirty="0"/>
          </a:p>
        </p:txBody>
      </p:sp>
      <p:graphicFrame>
        <p:nvGraphicFramePr>
          <p:cNvPr id="3" name="chart-valid-tes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ommentary-card"/>
          <p:cNvSpPr/>
          <p:nvPr/>
        </p:nvSpPr>
        <p:spPr>
          <a:xfrm>
            <a:off x="7863840" y="1371600"/>
            <a:ext cx="3749040" cy="4754880"/>
          </a:xfrm>
          <a:prstGeom prst="roundRect">
            <a:avLst>
              <a:gd name="adj" fmla="val 1951"/>
            </a:avLst>
          </a:prstGeom>
          <a:solidFill>
            <a:schemeClr val="bg2"/>
          </a:solidFill>
          <a:ln w="12700">
            <a:solidFill>
              <a:schemeClr val="bg2"/>
            </a:solidFill>
            <a:prstDash val="solid"/>
          </a:ln>
        </p:spPr>
      </p:sp>
      <p:sp>
        <p:nvSpPr>
          <p:cNvPr id="5" name="commentary"/>
          <p:cNvSpPr txBox="1"/>
          <p:nvPr/>
        </p:nvSpPr>
        <p:spPr>
          <a:xfrm>
            <a:off x="8138160" y="1600200"/>
            <a:ext cx="3246120" cy="43891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Validation looks like a tie</a:t>
            </a:r>
            <a:endParaRPr lang="en-US" sz="1600" dirty="0"/>
          </a:p>
          <a:p>
            <a:pPr indent="0" marL="0">
              <a:buNone/>
            </a:pPr>
            <a:r>
              <a:rPr lang="en-US" sz="1400" dirty="0">
                <a:solidFill>
                  <a:schemeClr val="tx1"/>
                </a:solidFill>
                <a:latin typeface="Calibri" pitchFamily="34" charset="0"/>
                <a:ea typeface="Calibri" pitchFamily="34" charset="-122"/>
                <a:cs typeface="Calibri" pitchFamily="34" charset="-120"/>
              </a:rPr>
              <a:t>Every model is within 0.02 R². But every model also used these years to decide when to stop, so the scores flatter all of them.</a:t>
            </a:r>
            <a:endParaRPr lang="en-US" sz="16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tx2"/>
                </a:solidFill>
                <a:latin typeface="Calibri" pitchFamily="34" charset="0"/>
                <a:ea typeface="Calibri" pitchFamily="34" charset="-122"/>
                <a:cs typeface="Calibri" pitchFamily="34" charset="-120"/>
              </a:rPr>
              <a:t>Test is the fair contest</a:t>
            </a:r>
            <a:endParaRPr lang="en-US" sz="1600" dirty="0"/>
          </a:p>
          <a:p>
            <a:pPr indent="0" marL="0">
              <a:buNone/>
            </a:pPr>
            <a:r>
              <a:rPr lang="en-US" sz="1400" dirty="0">
                <a:solidFill>
                  <a:schemeClr val="tx1"/>
                </a:solidFill>
                <a:latin typeface="Calibri" pitchFamily="34" charset="0"/>
                <a:ea typeface="Calibri" pitchFamily="34" charset="-122"/>
                <a:cs typeface="Calibri" pitchFamily="34" charset="-120"/>
              </a:rPr>
              <a:t>LightGBM 0.484 against 0.439–0.453 for the sequence models. Neither results file reported LightGBM's test score.</a:t>
            </a:r>
            <a:endParaRPr lang="en-US" sz="16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accent2"/>
                </a:solidFill>
                <a:latin typeface="Calibri" pitchFamily="34" charset="0"/>
                <a:ea typeface="Calibri" pitchFamily="34" charset="-122"/>
                <a:cs typeface="Calibri" pitchFamily="34" charset="-120"/>
              </a:rPr>
              <a:t>Say this</a:t>
            </a:r>
            <a:endParaRPr lang="en-US" sz="1600" dirty="0"/>
          </a:p>
          <a:p>
            <a:pPr indent="0" marL="0">
              <a:buNone/>
            </a:pPr>
            <a:r>
              <a:rPr lang="en-US" sz="1400" i="1" dirty="0">
                <a:solidFill>
                  <a:schemeClr val="tx1"/>
                </a:solidFill>
                <a:latin typeface="Calibri" pitchFamily="34" charset="0"/>
                <a:ea typeface="Calibri" pitchFamily="34" charset="-122"/>
                <a:cs typeface="Calibri" pitchFamily="34" charset="-120"/>
              </a:rPr>
              <a:t>“The sequence models match boosting on validation and trail it by about 0.04 R² on held-out years.”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Every model hits the same ceiling</a:t>
            </a:r>
            <a:endParaRPr lang="en-US" sz="3200" dirty="0"/>
          </a:p>
        </p:txBody>
      </p:sp>
      <p:sp>
        <p:nvSpPr>
          <p:cNvPr id="3" name="stat-card"/>
          <p:cNvSpPr/>
          <p:nvPr/>
        </p:nvSpPr>
        <p:spPr>
          <a:xfrm>
            <a:off x="548640" y="1463040"/>
            <a:ext cx="4023360" cy="4480560"/>
          </a:xfrm>
          <a:prstGeom prst="roundRect">
            <a:avLst>
              <a:gd name="adj" fmla="val 1818"/>
            </a:avLst>
          </a:prstGeom>
          <a:solidFill>
            <a:schemeClr val="tx2"/>
          </a:solidFill>
          <a:ln w="12700">
            <a:solidFill>
              <a:schemeClr val="tx2"/>
            </a:solidFill>
            <a:prstDash val="solid"/>
          </a:ln>
        </p:spPr>
      </p:sp>
      <p:sp>
        <p:nvSpPr>
          <p:cNvPr id="4" name="big-stat"/>
          <p:cNvSpPr txBox="1"/>
          <p:nvPr/>
        </p:nvSpPr>
        <p:spPr>
          <a:xfrm>
            <a:off x="822960" y="1783080"/>
            <a:ext cx="3474720" cy="1371600"/>
          </a:xfrm>
          <a:prstGeom prst="rect">
            <a:avLst/>
          </a:prstGeom>
          <a:noFill/>
          <a:ln/>
        </p:spPr>
        <p:txBody>
          <a:bodyPr wrap="square" lIns="0" tIns="0" rIns="0" bIns="0" rtlCol="0" anchor="ctr"/>
          <a:lstStyle/>
          <a:p>
            <a:pPr indent="0" marL="0">
              <a:buNone/>
            </a:pPr>
            <a:r>
              <a:rPr lang="en-US" sz="7200" b="1" dirty="0">
                <a:solidFill>
                  <a:schemeClr val="bg1"/>
                </a:solidFill>
                <a:latin typeface="Cambria" pitchFamily="34" charset="0"/>
                <a:ea typeface="Cambria" pitchFamily="34" charset="-122"/>
                <a:cs typeface="Cambria" pitchFamily="34" charset="-120"/>
              </a:rPr>
              <a:t>0.96</a:t>
            </a:r>
            <a:endParaRPr lang="en-US" sz="7200" dirty="0"/>
          </a:p>
        </p:txBody>
      </p:sp>
      <p:sp>
        <p:nvSpPr>
          <p:cNvPr id="5" name="Text 3"/>
          <p:cNvSpPr txBox="1"/>
          <p:nvPr/>
        </p:nvSpPr>
        <p:spPr>
          <a:xfrm>
            <a:off x="822960" y="3200400"/>
            <a:ext cx="3474720" cy="914400"/>
          </a:xfrm>
          <a:prstGeom prst="rect">
            <a:avLst/>
          </a:prstGeom>
          <a:noFill/>
          <a:ln/>
        </p:spPr>
        <p:txBody>
          <a:bodyPr wrap="square" lIns="0" tIns="0" rIns="0" bIns="0" rtlCol="0" anchor="t"/>
          <a:lstStyle/>
          <a:p>
            <a:pPr indent="0" marL="0">
              <a:buNone/>
            </a:pPr>
            <a:r>
              <a:rPr lang="en-US" sz="1600" dirty="0">
                <a:solidFill>
                  <a:srgbClr val="C9D6E2"/>
                </a:solidFill>
                <a:latin typeface="Calibri" pitchFamily="34" charset="0"/>
                <a:ea typeface="Calibri" pitchFamily="34" charset="-122"/>
                <a:cs typeface="Calibri" pitchFamily="34" charset="-120"/>
              </a:rPr>
              <a:t>correlation between LightGBM's errors and the BiLSTM's (0.962 with the simulator's)</a:t>
            </a:r>
            <a:endParaRPr lang="en-US" sz="1600" dirty="0"/>
          </a:p>
        </p:txBody>
      </p:sp>
      <p:sp>
        <p:nvSpPr>
          <p:cNvPr id="6" name="Text 4"/>
          <p:cNvSpPr txBox="1"/>
          <p:nvPr/>
        </p:nvSpPr>
        <p:spPr>
          <a:xfrm>
            <a:off x="822960" y="4480560"/>
            <a:ext cx="3474720" cy="1097280"/>
          </a:xfrm>
          <a:prstGeom prst="rect">
            <a:avLst/>
          </a:prstGeom>
          <a:noFill/>
          <a:ln/>
        </p:spPr>
        <p:txBody>
          <a:bodyPr wrap="square" lIns="0" tIns="0" rIns="0" bIns="0" rtlCol="0" anchor="t"/>
          <a:lstStyle/>
          <a:p>
            <a:pPr indent="0" marL="0">
              <a:buNone/>
            </a:pPr>
            <a:r>
              <a:rPr lang="en-US" sz="1600" b="1" dirty="0">
                <a:solidFill>
                  <a:srgbClr val="7FB2E0"/>
                </a:solidFill>
                <a:latin typeface="Calibri" pitchFamily="34" charset="0"/>
                <a:ea typeface="Calibri" pitchFamily="34" charset="-122"/>
                <a:cs typeface="Calibri" pitchFamily="34" charset="-120"/>
              </a:rPr>
              <a:t>Four model families, different inputs, wrong on the same rows.</a:t>
            </a:r>
            <a:endParaRPr lang="en-US" sz="1600" dirty="0"/>
          </a:p>
        </p:txBody>
      </p:sp>
      <p:graphicFrame>
        <p:nvGraphicFramePr>
          <p:cNvPr id="4" name="ensemble-table"/>
          <p:cNvGraphicFramePr>
            <a:graphicFrameLocks noGrp="1"/>
          </p:cNvGraphicFramePr>
          <p:nvPr>
            <p:extLst>
              <p:ext uri="{D42A27DB-BD31-4B8C-83A1-F6EECF244321}">
                <p14:modId xmlns:p14="http://schemas.microsoft.com/office/powerpoint/2010/main" val="1579011935"/>
              </p:ext>
            </p:extLst>
          </p:nvPr>
        </p:nvGraphicFramePr>
        <p:xfrm>
          <a:off x="4937760" y="1463040"/>
          <a:ext cx="6675120" cy="914400"/>
        </p:xfrm>
        <a:graphic>
          <a:graphicData uri="http://schemas.openxmlformats.org/drawingml/2006/table">
            <a:tbl>
              <a:tblPr/>
              <a:tblGrid>
                <a:gridCol w="3566160"/>
                <a:gridCol w="1463040"/>
                <a:gridCol w="16459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Averaging models</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F2A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Test R²</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F2A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Test MAE (m)</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F2A3D"/>
                    </a:solidFill>
                  </a:tcPr>
                </a:tc>
              </a:tr>
              <a:tr h="457200">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LightGBM alone</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b="1" dirty="0">
                          <a:solidFill>
                            <a:srgbClr val="1B2530"/>
                          </a:solidFill>
                          <a:latin typeface="Calibri" pitchFamily="34" charset="0"/>
                          <a:ea typeface="Calibri" pitchFamily="34" charset="-122"/>
                          <a:cs typeface="Calibri" pitchFamily="34" charset="-120"/>
                        </a:rPr>
                        <a:t>0.484</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1.427</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0.5 LightGBM + 0.5 BiLSTM</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0.476</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1.418</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0.7 LightGBM + 0.3 BiLSTM</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0.482</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1.416</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0.5 LightGBM + 0.5 simulator</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0.480</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530"/>
                          </a:solidFill>
                          <a:latin typeface="Calibri" pitchFamily="34" charset="0"/>
                          <a:ea typeface="Calibri" pitchFamily="34" charset="-122"/>
                          <a:cs typeface="Calibri" pitchFamily="34" charset="-120"/>
                        </a:rPr>
                        <a:t>1.416</a:t>
                      </a:r>
                      <a:endParaRPr lang="en-US" sz="1400" dirty="0">
                        <a:latin typeface="Calibri" charset="0"/>
                        <a:ea typeface="Calibri" charset="0"/>
                        <a:cs typeface="Calibri" charset="0"/>
                      </a:endParaRPr>
                    </a:p>
                  </a:txBody>
                  <a:tcPr marL="91440" marR="91440" marT="45720" marB="45720">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4937760" y="3886200"/>
            <a:ext cx="6675120" cy="45720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Weights chosen on validation only. Averaging trims about 0.01 m of MAE and does not raise R².</a:t>
            </a:r>
            <a:endParaRPr lang="en-US" sz="1200" dirty="0"/>
          </a:p>
        </p:txBody>
      </p:sp>
      <p:sp>
        <p:nvSpPr>
          <p:cNvPr id="9" name="premise-card"/>
          <p:cNvSpPr/>
          <p:nvPr/>
        </p:nvSpPr>
        <p:spPr>
          <a:xfrm>
            <a:off x="4937760" y="4526280"/>
            <a:ext cx="6675120" cy="1417320"/>
          </a:xfrm>
          <a:prstGeom prst="roundRect">
            <a:avLst>
              <a:gd name="adj" fmla="val 5161"/>
            </a:avLst>
          </a:prstGeom>
          <a:solidFill>
            <a:schemeClr val="bg2"/>
          </a:solidFill>
          <a:ln w="12700">
            <a:solidFill>
              <a:schemeClr val="bg2"/>
            </a:solidFill>
            <a:prstDash val="solid"/>
          </a:ln>
        </p:spPr>
      </p:sp>
      <p:sp>
        <p:nvSpPr>
          <p:cNvPr id="10" name="premise"/>
          <p:cNvSpPr txBox="1"/>
          <p:nvPr/>
        </p:nvSpPr>
        <p:spPr>
          <a:xfrm>
            <a:off x="5166360" y="4663440"/>
            <a:ext cx="6217920" cy="118872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Why it matters  </a:t>
            </a:r>
            <a:pPr indent="0" marL="0">
              <a:buNone/>
            </a:pPr>
            <a:r>
              <a:rPr lang="en-US" sz="1500" dirty="0">
                <a:solidFill>
                  <a:schemeClr val="tx1"/>
                </a:solidFill>
                <a:latin typeface="Calibri" pitchFamily="34" charset="0"/>
                <a:ea typeface="Calibri" pitchFamily="34" charset="-122"/>
                <a:cs typeface="Calibri" pitchFamily="34" charset="-120"/>
              </a:rPr>
              <a:t>Rain and fixed well facts explain about half the variance, whatever the model. The other half is what the project calls pumping. That is not proof (canals, soils and cropping are missing too), but the ceiling is now measured, not assumed.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sequence models add: a usable rain response</a:t>
            </a:r>
            <a:endParaRPr lang="en-US" sz="3200" dirty="0"/>
          </a:p>
        </p:txBody>
      </p:sp>
      <p:graphicFrame>
        <p:nvGraphicFramePr>
          <p:cNvPr id="3" name="chart-penalty" descr=""/>
          <p:cNvGraphicFramePr/>
          <p:nvPr/>
        </p:nvGraphicFramePr>
        <p:xfrm>
          <a:off x="548640" y="1371600"/>
          <a:ext cx="5852160" cy="4754880"/>
        </p:xfrm>
        <a:graphic xmlns:a="http://schemas.openxmlformats.org/drawingml/2006/main">
          <a:graphicData uri="http://schemas.openxmlformats.org/drawingml/2006/chart">
            <c:chart xmlns:c="http://schemas.openxmlformats.org/drawingml/2006/chart" r:id="rId1"/>
          </a:graphicData>
        </a:graphic>
      </p:graphicFrame>
      <p:sp>
        <p:nvSpPr>
          <p:cNvPr id="4" name="fact-0"/>
          <p:cNvSpPr/>
          <p:nvPr/>
        </p:nvSpPr>
        <p:spPr>
          <a:xfrm>
            <a:off x="6766560" y="1417320"/>
            <a:ext cx="4846320" cy="1371600"/>
          </a:xfrm>
          <a:prstGeom prst="roundRect">
            <a:avLst>
              <a:gd name="adj" fmla="val 5333"/>
            </a:avLst>
          </a:prstGeom>
          <a:solidFill>
            <a:schemeClr val="bg2"/>
          </a:solidFill>
          <a:ln w="12700">
            <a:solidFill>
              <a:schemeClr val="bg2"/>
            </a:solidFill>
            <a:prstDash val="solid"/>
          </a:ln>
        </p:spPr>
      </p:sp>
      <p:sp>
        <p:nvSpPr>
          <p:cNvPr id="5" name="fact-0-value"/>
          <p:cNvSpPr txBox="1"/>
          <p:nvPr/>
        </p:nvSpPr>
        <p:spPr>
          <a:xfrm>
            <a:off x="6995160" y="1554480"/>
            <a:ext cx="1828800" cy="1097280"/>
          </a:xfrm>
          <a:prstGeom prst="rect">
            <a:avLst/>
          </a:prstGeom>
          <a:noFill/>
          <a:ln/>
        </p:spPr>
        <p:txBody>
          <a:bodyPr wrap="square" lIns="0" tIns="0" rIns="0" bIns="0" rtlCol="0" anchor="ctr"/>
          <a:lstStyle/>
          <a:p>
            <a:pPr indent="0" marL="0">
              <a:buNone/>
            </a:pPr>
            <a:r>
              <a:rPr lang="en-US" sz="3000" b="1" dirty="0">
                <a:solidFill>
                  <a:srgbClr val="2E6FA7"/>
                </a:solidFill>
                <a:latin typeface="Cambria" pitchFamily="34" charset="0"/>
                <a:ea typeface="Cambria" pitchFamily="34" charset="-122"/>
                <a:cs typeface="Cambria" pitchFamily="34" charset="-120"/>
              </a:rPr>
              <a:t>−11.1 cm</a:t>
            </a:r>
            <a:endParaRPr lang="en-US" sz="3000" dirty="0"/>
          </a:p>
        </p:txBody>
      </p:sp>
      <p:sp>
        <p:nvSpPr>
          <p:cNvPr id="6" name="fact-0-label"/>
          <p:cNvSpPr txBox="1"/>
          <p:nvPr/>
        </p:nvSpPr>
        <p:spPr>
          <a:xfrm>
            <a:off x="8869680" y="1554480"/>
            <a:ext cx="2560320" cy="109728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mean response to +20% rain with the penalty, against −2.7 cm without</a:t>
            </a:r>
            <a:endParaRPr lang="en-US" sz="1400" dirty="0"/>
          </a:p>
        </p:txBody>
      </p:sp>
      <p:sp>
        <p:nvSpPr>
          <p:cNvPr id="7" name="fact-1"/>
          <p:cNvSpPr/>
          <p:nvPr/>
        </p:nvSpPr>
        <p:spPr>
          <a:xfrm>
            <a:off x="6766560" y="3017520"/>
            <a:ext cx="4846320" cy="1371600"/>
          </a:xfrm>
          <a:prstGeom prst="roundRect">
            <a:avLst>
              <a:gd name="adj" fmla="val 5333"/>
            </a:avLst>
          </a:prstGeom>
          <a:solidFill>
            <a:schemeClr val="bg2"/>
          </a:solidFill>
          <a:ln w="12700">
            <a:solidFill>
              <a:schemeClr val="bg2"/>
            </a:solidFill>
            <a:prstDash val="solid"/>
          </a:ln>
        </p:spPr>
      </p:sp>
      <p:sp>
        <p:nvSpPr>
          <p:cNvPr id="8" name="fact-1-value"/>
          <p:cNvSpPr txBox="1"/>
          <p:nvPr/>
        </p:nvSpPr>
        <p:spPr>
          <a:xfrm>
            <a:off x="6995160" y="3154680"/>
            <a:ext cx="1828800" cy="1097280"/>
          </a:xfrm>
          <a:prstGeom prst="rect">
            <a:avLst/>
          </a:prstGeom>
          <a:noFill/>
          <a:ln/>
        </p:spPr>
        <p:txBody>
          <a:bodyPr wrap="square" lIns="0" tIns="0" rIns="0" bIns="0" rtlCol="0" anchor="ctr"/>
          <a:lstStyle/>
          <a:p>
            <a:pPr indent="0" marL="0">
              <a:buNone/>
            </a:pPr>
            <a:r>
              <a:rPr lang="en-US" sz="3000" b="1" dirty="0">
                <a:solidFill>
                  <a:srgbClr val="3F8F7A"/>
                </a:solidFill>
                <a:latin typeface="Cambria" pitchFamily="34" charset="0"/>
                <a:ea typeface="Cambria" pitchFamily="34" charset="-122"/>
                <a:cs typeface="Cambria" pitchFamily="34" charset="-120"/>
              </a:rPr>
              <a:t>0.453</a:t>
            </a:r>
            <a:endParaRPr lang="en-US" sz="3000" dirty="0"/>
          </a:p>
        </p:txBody>
      </p:sp>
      <p:sp>
        <p:nvSpPr>
          <p:cNvPr id="9" name="fact-1-label"/>
          <p:cNvSpPr txBox="1"/>
          <p:nvPr/>
        </p:nvSpPr>
        <p:spPr>
          <a:xfrm>
            <a:off x="8869680" y="3154680"/>
            <a:ext cx="2560320" cy="109728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simulator test R²: the best sequence model, at no cost from the penalty</a:t>
            </a:r>
            <a:endParaRPr lang="en-US" sz="1400" dirty="0"/>
          </a:p>
        </p:txBody>
      </p:sp>
      <p:sp>
        <p:nvSpPr>
          <p:cNvPr id="10" name="fact-2"/>
          <p:cNvSpPr/>
          <p:nvPr/>
        </p:nvSpPr>
        <p:spPr>
          <a:xfrm>
            <a:off x="6766560" y="4617720"/>
            <a:ext cx="4846320" cy="1371600"/>
          </a:xfrm>
          <a:prstGeom prst="roundRect">
            <a:avLst>
              <a:gd name="adj" fmla="val 5333"/>
            </a:avLst>
          </a:prstGeom>
          <a:solidFill>
            <a:schemeClr val="bg2"/>
          </a:solidFill>
          <a:ln w="12700">
            <a:solidFill>
              <a:schemeClr val="bg2"/>
            </a:solidFill>
            <a:prstDash val="solid"/>
          </a:ln>
        </p:spPr>
      </p:sp>
      <p:sp>
        <p:nvSpPr>
          <p:cNvPr id="11" name="fact-2-value"/>
          <p:cNvSpPr txBox="1"/>
          <p:nvPr/>
        </p:nvSpPr>
        <p:spPr>
          <a:xfrm>
            <a:off x="6995160" y="4754880"/>
            <a:ext cx="1828800" cy="1097280"/>
          </a:xfrm>
          <a:prstGeom prst="rect">
            <a:avLst/>
          </a:prstGeom>
          <a:noFill/>
          <a:ln/>
        </p:spPr>
        <p:txBody>
          <a:bodyPr wrap="square" lIns="0" tIns="0" rIns="0" bIns="0" rtlCol="0" anchor="ctr"/>
          <a:lstStyle/>
          <a:p>
            <a:pPr indent="0" marL="0">
              <a:buNone/>
            </a:pPr>
            <a:r>
              <a:rPr lang="en-US" sz="3000" b="1" dirty="0">
                <a:solidFill>
                  <a:srgbClr val="D9A441"/>
                </a:solidFill>
                <a:latin typeface="Cambria" pitchFamily="34" charset="0"/>
                <a:ea typeface="Cambria" pitchFamily="34" charset="-122"/>
                <a:cs typeface="Cambria" pitchFamily="34" charset="-120"/>
              </a:rPr>
              <a:t>0.26</a:t>
            </a:r>
            <a:endParaRPr lang="en-US" sz="3000" dirty="0"/>
          </a:p>
        </p:txBody>
      </p:sp>
      <p:sp>
        <p:nvSpPr>
          <p:cNvPr id="12" name="fact-2-label"/>
          <p:cNvSpPr txBox="1"/>
          <p:nvPr/>
        </p:nvSpPr>
        <p:spPr>
          <a:xfrm>
            <a:off x="8869680" y="4754880"/>
            <a:ext cx="2560320" cy="109728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R² from the calendar alone. Rain and well facts add 0.18–0.23 on top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Four things to fix before presenting the results</a:t>
            </a:r>
            <a:endParaRPr lang="en-US" sz="3200" dirty="0"/>
          </a:p>
        </p:txBody>
      </p:sp>
      <p:sp>
        <p:nvSpPr>
          <p:cNvPr id="3" name="fix-0"/>
          <p:cNvSpPr/>
          <p:nvPr/>
        </p:nvSpPr>
        <p:spPr>
          <a:xfrm>
            <a:off x="548640" y="1600200"/>
            <a:ext cx="5440680" cy="1874520"/>
          </a:xfrm>
          <a:prstGeom prst="roundRect">
            <a:avLst>
              <a:gd name="adj" fmla="val 3902"/>
            </a:avLst>
          </a:prstGeom>
          <a:solidFill>
            <a:schemeClr val="bg2"/>
          </a:solidFill>
          <a:ln w="12700">
            <a:solidFill>
              <a:schemeClr val="bg2"/>
            </a:solidFill>
            <a:prstDash val="solid"/>
          </a:ln>
        </p:spPr>
      </p:sp>
      <p:sp>
        <p:nvSpPr>
          <p:cNvPr id="4" name="fix-0-badge"/>
          <p:cNvSpPr/>
          <p:nvPr/>
        </p:nvSpPr>
        <p:spPr>
          <a:xfrm>
            <a:off x="822960" y="1874520"/>
            <a:ext cx="457200" cy="457200"/>
          </a:xfrm>
          <a:prstGeom prst="ellipse">
            <a:avLst/>
          </a:prstGeom>
          <a:solidFill>
            <a:srgbClr val="C2502A"/>
          </a:solidFill>
          <a:ln w="12700">
            <a:solidFill>
              <a:srgbClr val="C2502A"/>
            </a:solidFill>
            <a:prstDash val="solid"/>
          </a:ln>
        </p:spPr>
      </p:sp>
      <p:sp>
        <p:nvSpPr>
          <p:cNvPr id="5" name="fix-0-num"/>
          <p:cNvSpPr txBox="1"/>
          <p:nvPr/>
        </p:nvSpPr>
        <p:spPr>
          <a:xfrm>
            <a:off x="82296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fix-0-head"/>
          <p:cNvSpPr txBox="1"/>
          <p:nvPr/>
        </p:nvSpPr>
        <p:spPr>
          <a:xfrm>
            <a:off x="1463040" y="1856232"/>
            <a:ext cx="4297680" cy="502920"/>
          </a:xfrm>
          <a:prstGeom prst="rect">
            <a:avLst/>
          </a:prstGeom>
          <a:noFill/>
          <a:ln/>
        </p:spPr>
        <p:txBody>
          <a:bodyPr wrap="square" lIns="0" tIns="0" rIns="0" bIns="0" rtlCol="0" anchor="ctr"/>
          <a:lstStyle/>
          <a:p>
            <a:pPr indent="0" marL="0">
              <a:buNone/>
            </a:pPr>
            <a:r>
              <a:rPr lang="en-US" sz="1800" b="1" dirty="0">
                <a:solidFill>
                  <a:srgbClr val="0F2A3D"/>
                </a:solidFill>
                <a:latin typeface="Calibri" pitchFamily="34" charset="0"/>
                <a:ea typeface="Calibri" pitchFamily="34" charset="-122"/>
                <a:cs typeface="Calibri" pitchFamily="34" charset="-120"/>
              </a:rPr>
              <a:t>District ranking uses training rows</a:t>
            </a:r>
            <a:endParaRPr lang="en-US" sz="1800" dirty="0"/>
          </a:p>
        </p:txBody>
      </p:sp>
      <p:sp>
        <p:nvSpPr>
          <p:cNvPr id="7" name="fix-0-body"/>
          <p:cNvSpPr txBox="1"/>
          <p:nvPr/>
        </p:nvSpPr>
        <p:spPr>
          <a:xfrm>
            <a:off x="1463040" y="2423160"/>
            <a:ext cx="4297680" cy="118872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Two thirds of each district's rows were fitted. On held-out rows only, 4 of the top 10 survive and Junagadh drops out. Rank on out-of-fold residuals.</a:t>
            </a:r>
            <a:endParaRPr lang="en-US" sz="1400" dirty="0"/>
          </a:p>
        </p:txBody>
      </p:sp>
      <p:sp>
        <p:nvSpPr>
          <p:cNvPr id="8" name="fix-1"/>
          <p:cNvSpPr/>
          <p:nvPr/>
        </p:nvSpPr>
        <p:spPr>
          <a:xfrm>
            <a:off x="6172200" y="1600200"/>
            <a:ext cx="5440680" cy="1874520"/>
          </a:xfrm>
          <a:prstGeom prst="roundRect">
            <a:avLst>
              <a:gd name="adj" fmla="val 3902"/>
            </a:avLst>
          </a:prstGeom>
          <a:solidFill>
            <a:schemeClr val="bg2"/>
          </a:solidFill>
          <a:ln w="12700">
            <a:solidFill>
              <a:schemeClr val="bg2"/>
            </a:solidFill>
            <a:prstDash val="solid"/>
          </a:ln>
        </p:spPr>
      </p:sp>
      <p:sp>
        <p:nvSpPr>
          <p:cNvPr id="9" name="fix-1-badge"/>
          <p:cNvSpPr/>
          <p:nvPr/>
        </p:nvSpPr>
        <p:spPr>
          <a:xfrm>
            <a:off x="6446520" y="1874520"/>
            <a:ext cx="457200" cy="457200"/>
          </a:xfrm>
          <a:prstGeom prst="ellipse">
            <a:avLst/>
          </a:prstGeom>
          <a:solidFill>
            <a:srgbClr val="C2502A"/>
          </a:solidFill>
          <a:ln w="12700">
            <a:solidFill>
              <a:srgbClr val="C2502A"/>
            </a:solidFill>
            <a:prstDash val="solid"/>
          </a:ln>
        </p:spPr>
      </p:sp>
      <p:sp>
        <p:nvSpPr>
          <p:cNvPr id="10" name="fix-1-num"/>
          <p:cNvSpPr txBox="1"/>
          <p:nvPr/>
        </p:nvSpPr>
        <p:spPr>
          <a:xfrm>
            <a:off x="644652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fix-1-head"/>
          <p:cNvSpPr txBox="1"/>
          <p:nvPr/>
        </p:nvSpPr>
        <p:spPr>
          <a:xfrm>
            <a:off x="7086600" y="1856232"/>
            <a:ext cx="4297680" cy="502920"/>
          </a:xfrm>
          <a:prstGeom prst="rect">
            <a:avLst/>
          </a:prstGeom>
          <a:noFill/>
          <a:ln/>
        </p:spPr>
        <p:txBody>
          <a:bodyPr wrap="square" lIns="0" tIns="0" rIns="0" bIns="0" rtlCol="0" anchor="ctr"/>
          <a:lstStyle/>
          <a:p>
            <a:pPr indent="0" marL="0">
              <a:buNone/>
            </a:pPr>
            <a:r>
              <a:rPr lang="en-US" sz="1800" b="1" dirty="0">
                <a:solidFill>
                  <a:srgbClr val="0F2A3D"/>
                </a:solidFill>
                <a:latin typeface="Calibri" pitchFamily="34" charset="0"/>
                <a:ea typeface="Calibri" pitchFamily="34" charset="-122"/>
                <a:cs typeface="Calibri" pitchFamily="34" charset="-120"/>
              </a:rPr>
              <a:t>Ridge baseline is broken</a:t>
            </a:r>
            <a:endParaRPr lang="en-US" sz="1800" dirty="0"/>
          </a:p>
        </p:txBody>
      </p:sp>
      <p:sp>
        <p:nvSpPr>
          <p:cNvPr id="12" name="fix-1-body"/>
          <p:cNvSpPr txBox="1"/>
          <p:nvPr/>
        </p:nvSpPr>
        <p:spPr>
          <a:xfrm>
            <a:off x="7086600" y="2423160"/>
            <a:ext cx="4297680" cy="118872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Test R² −0.013, worse than predicting no change. Likely an unbounded ratio feature. Fix it or drop it from the table.</a:t>
            </a:r>
            <a:endParaRPr lang="en-US" sz="1400" dirty="0"/>
          </a:p>
        </p:txBody>
      </p:sp>
      <p:sp>
        <p:nvSpPr>
          <p:cNvPr id="13" name="fix-2"/>
          <p:cNvSpPr/>
          <p:nvPr/>
        </p:nvSpPr>
        <p:spPr>
          <a:xfrm>
            <a:off x="548640" y="3840480"/>
            <a:ext cx="5440680" cy="1874520"/>
          </a:xfrm>
          <a:prstGeom prst="roundRect">
            <a:avLst>
              <a:gd name="adj" fmla="val 3902"/>
            </a:avLst>
          </a:prstGeom>
          <a:solidFill>
            <a:schemeClr val="bg2"/>
          </a:solidFill>
          <a:ln w="12700">
            <a:solidFill>
              <a:schemeClr val="bg2"/>
            </a:solidFill>
            <a:prstDash val="solid"/>
          </a:ln>
        </p:spPr>
      </p:sp>
      <p:sp>
        <p:nvSpPr>
          <p:cNvPr id="14" name="fix-2-badge"/>
          <p:cNvSpPr/>
          <p:nvPr/>
        </p:nvSpPr>
        <p:spPr>
          <a:xfrm>
            <a:off x="822960" y="4114800"/>
            <a:ext cx="457200" cy="457200"/>
          </a:xfrm>
          <a:prstGeom prst="ellipse">
            <a:avLst/>
          </a:prstGeom>
          <a:solidFill>
            <a:srgbClr val="D9A441"/>
          </a:solidFill>
          <a:ln w="12700">
            <a:solidFill>
              <a:srgbClr val="D9A441"/>
            </a:solidFill>
            <a:prstDash val="solid"/>
          </a:ln>
        </p:spPr>
      </p:sp>
      <p:sp>
        <p:nvSpPr>
          <p:cNvPr id="15" name="fix-2-num"/>
          <p:cNvSpPr txBox="1"/>
          <p:nvPr/>
        </p:nvSpPr>
        <p:spPr>
          <a:xfrm>
            <a:off x="82296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fix-2-head"/>
          <p:cNvSpPr txBox="1"/>
          <p:nvPr/>
        </p:nvSpPr>
        <p:spPr>
          <a:xfrm>
            <a:off x="1463040" y="4096512"/>
            <a:ext cx="4297680" cy="502920"/>
          </a:xfrm>
          <a:prstGeom prst="rect">
            <a:avLst/>
          </a:prstGeom>
          <a:noFill/>
          <a:ln/>
        </p:spPr>
        <p:txBody>
          <a:bodyPr wrap="square" lIns="0" tIns="0" rIns="0" bIns="0" rtlCol="0" anchor="ctr"/>
          <a:lstStyle/>
          <a:p>
            <a:pPr indent="0" marL="0">
              <a:buNone/>
            </a:pPr>
            <a:r>
              <a:rPr lang="en-US" sz="1800" b="1" dirty="0">
                <a:solidFill>
                  <a:srgbClr val="0F2A3D"/>
                </a:solidFill>
                <a:latin typeface="Calibri" pitchFamily="34" charset="0"/>
                <a:ea typeface="Calibri" pitchFamily="34" charset="-122"/>
                <a:cs typeface="Calibri" pitchFamily="34" charset="-120"/>
              </a:rPr>
              <a:t>Districts against years isn't like for like</a:t>
            </a:r>
            <a:endParaRPr lang="en-US" sz="1800" dirty="0"/>
          </a:p>
        </p:txBody>
      </p:sp>
      <p:sp>
        <p:nvSpPr>
          <p:cNvPr id="17" name="fix-2-body"/>
          <p:cNvSpPr txBox="1"/>
          <p:nvPr/>
        </p:nvSpPr>
        <p:spPr>
          <a:xfrm>
            <a:off x="1463040" y="4663440"/>
            <a:ext cx="4297680" cy="118872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The district folds also train on all years and on 80% of rows, against 67%. Report both; don't rank the difficulty.</a:t>
            </a:r>
            <a:endParaRPr lang="en-US" sz="1400" dirty="0"/>
          </a:p>
        </p:txBody>
      </p:sp>
      <p:sp>
        <p:nvSpPr>
          <p:cNvPr id="18" name="fix-3"/>
          <p:cNvSpPr/>
          <p:nvPr/>
        </p:nvSpPr>
        <p:spPr>
          <a:xfrm>
            <a:off x="6172200" y="3840480"/>
            <a:ext cx="5440680" cy="1874520"/>
          </a:xfrm>
          <a:prstGeom prst="roundRect">
            <a:avLst>
              <a:gd name="adj" fmla="val 3902"/>
            </a:avLst>
          </a:prstGeom>
          <a:solidFill>
            <a:schemeClr val="bg2"/>
          </a:solidFill>
          <a:ln w="12700">
            <a:solidFill>
              <a:schemeClr val="bg2"/>
            </a:solidFill>
            <a:prstDash val="solid"/>
          </a:ln>
        </p:spPr>
      </p:sp>
      <p:sp>
        <p:nvSpPr>
          <p:cNvPr id="19" name="fix-3-badge"/>
          <p:cNvSpPr/>
          <p:nvPr/>
        </p:nvSpPr>
        <p:spPr>
          <a:xfrm>
            <a:off x="6446520" y="4114800"/>
            <a:ext cx="457200" cy="457200"/>
          </a:xfrm>
          <a:prstGeom prst="ellipse">
            <a:avLst/>
          </a:prstGeom>
          <a:solidFill>
            <a:srgbClr val="D9A441"/>
          </a:solidFill>
          <a:ln w="12700">
            <a:solidFill>
              <a:srgbClr val="D9A441"/>
            </a:solidFill>
            <a:prstDash val="solid"/>
          </a:ln>
        </p:spPr>
      </p:sp>
      <p:sp>
        <p:nvSpPr>
          <p:cNvPr id="20" name="fix-3-num"/>
          <p:cNvSpPr txBox="1"/>
          <p:nvPr/>
        </p:nvSpPr>
        <p:spPr>
          <a:xfrm>
            <a:off x="644652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1" name="fix-3-head"/>
          <p:cNvSpPr txBox="1"/>
          <p:nvPr/>
        </p:nvSpPr>
        <p:spPr>
          <a:xfrm>
            <a:off x="7086600" y="4096512"/>
            <a:ext cx="4297680" cy="502920"/>
          </a:xfrm>
          <a:prstGeom prst="rect">
            <a:avLst/>
          </a:prstGeom>
          <a:noFill/>
          <a:ln/>
        </p:spPr>
        <p:txBody>
          <a:bodyPr wrap="square" lIns="0" tIns="0" rIns="0" bIns="0" rtlCol="0" anchor="ctr"/>
          <a:lstStyle/>
          <a:p>
            <a:pPr indent="0" marL="0">
              <a:buNone/>
            </a:pPr>
            <a:r>
              <a:rPr lang="en-US" sz="1800" b="1" dirty="0">
                <a:solidFill>
                  <a:srgbClr val="0F2A3D"/>
                </a:solidFill>
                <a:latin typeface="Calibri" pitchFamily="34" charset="0"/>
                <a:ea typeface="Calibri" pitchFamily="34" charset="-122"/>
                <a:cs typeface="Calibri" pitchFamily="34" charset="-120"/>
              </a:rPr>
              <a:t>One seed throughout</a:t>
            </a:r>
            <a:endParaRPr lang="en-US" sz="1800" dirty="0"/>
          </a:p>
        </p:txBody>
      </p:sp>
      <p:sp>
        <p:nvSpPr>
          <p:cNvPr id="22" name="fix-3-body"/>
          <p:cNvSpPr txBox="1"/>
          <p:nvPr/>
        </p:nvSpPr>
        <p:spPr>
          <a:xfrm>
            <a:off x="7086600" y="4663440"/>
            <a:ext cx="4297680" cy="118872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Treat any gap under 0.01 R² or 0.01 m MAE as noise until it holds across 3–5 seeds.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583680" cy="21945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Next: attribute, don't forecast</a:t>
            </a:r>
            <a:endParaRPr lang="en-US" sz="4400" dirty="0"/>
          </a:p>
        </p:txBody>
      </p:sp>
      <p:sp>
        <p:nvSpPr>
          <p:cNvPr id="3" name="Text 0"/>
          <p:cNvSpPr/>
          <p:nvPr>
            <p:ph idx="101" type="body" hasCustomPrompt="1"/>
          </p:nvPr>
        </p:nvSpPr>
        <p:spPr>
          <a:xfrm>
            <a:off x="640080" y="3840480"/>
            <a:ext cx="6400800" cy="1280160"/>
          </a:xfrm>
          <a:prstGeom prst="rect">
            <a:avLst/>
          </a:prstGeom>
          <a:noFill/>
          <a:ln/>
        </p:spPr>
        <p:txBody>
          <a:bodyPr wrap="square" lIns="0" tIns="0" rIns="0" bIns="0" rtlCol="0" anchor="t"/>
          <a:lstStyle/>
          <a:p>
            <a:pPr algn="l" indent="0" marL="0">
              <a:buNone/>
            </a:pPr>
            <a:r>
              <a:rPr lang="en-US" sz="1800" dirty="0">
                <a:solidFill>
                  <a:srgbClr val="C9D6E2"/>
                </a:solidFill>
                <a:latin typeface="Calibri" pitchFamily="34" charset="0"/>
                <a:ea typeface="Calibri" pitchFamily="34" charset="-122"/>
                <a:cs typeface="Calibri" pitchFamily="34" charset="-120"/>
              </a:rPr>
              <a:t>The forecasters share one ceiling. The value now is in using the residual.</a:t>
            </a:r>
            <a:endParaRPr lang="en-US" sz="1800" dirty="0"/>
          </a:p>
        </p:txBody>
      </p:sp>
      <p:sp>
        <p:nvSpPr>
          <p:cNvPr id="4" name="step-0-badge"/>
          <p:cNvSpPr/>
          <p:nvPr/>
        </p:nvSpPr>
        <p:spPr>
          <a:xfrm>
            <a:off x="7315200" y="868680"/>
            <a:ext cx="457200" cy="457200"/>
          </a:xfrm>
          <a:prstGeom prst="ellipse">
            <a:avLst/>
          </a:prstGeom>
          <a:solidFill>
            <a:srgbClr val="C2502A"/>
          </a:solidFill>
          <a:ln w="12700">
            <a:solidFill>
              <a:srgbClr val="C2502A"/>
            </a:solidFill>
            <a:prstDash val="solid"/>
          </a:ln>
        </p:spPr>
      </p:sp>
      <p:sp>
        <p:nvSpPr>
          <p:cNvPr id="5" name="step-0-num"/>
          <p:cNvSpPr txBox="1"/>
          <p:nvPr/>
        </p:nvSpPr>
        <p:spPr>
          <a:xfrm>
            <a:off x="7315200" y="868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step-0-head"/>
          <p:cNvSpPr txBox="1"/>
          <p:nvPr/>
        </p:nvSpPr>
        <p:spPr>
          <a:xfrm>
            <a:off x="7955280" y="777240"/>
            <a:ext cx="3611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Attribution model  </a:t>
            </a:r>
            <a:pPr indent="0" marL="0">
              <a:buNone/>
            </a:pPr>
            <a:r>
              <a:rPr lang="en-US" sz="1300" dirty="0">
                <a:solidFill>
                  <a:srgbClr val="F0A58C"/>
                </a:solidFill>
                <a:latin typeface="Calibri" pitchFamily="34" charset="0"/>
                <a:ea typeface="Calibri" pitchFamily="34" charset="-122"/>
                <a:cs typeface="Calibri" pitchFamily="34" charset="-120"/>
              </a:rPr>
              <a:t>½ day · recommended</a:t>
            </a:r>
            <a:endParaRPr lang="en-US" sz="1700" dirty="0"/>
          </a:p>
        </p:txBody>
      </p:sp>
      <p:sp>
        <p:nvSpPr>
          <p:cNvPr id="7" name="step-0-body"/>
          <p:cNvSpPr txBox="1"/>
          <p:nvPr/>
        </p:nvSpPr>
        <p:spPr>
          <a:xfrm>
            <a:off x="7955280" y="1234440"/>
            <a:ext cx="3611880" cy="777240"/>
          </a:xfrm>
          <a:prstGeom prst="rect">
            <a:avLst/>
          </a:prstGeom>
          <a:noFill/>
          <a:ln/>
        </p:spPr>
        <p:txBody>
          <a:bodyPr wrap="square" lIns="0" tIns="0" rIns="0" bIns="0" rtlCol="0" anchor="t"/>
          <a:lstStyle/>
          <a:p>
            <a:pPr indent="0" marL="0">
              <a:buNone/>
            </a:pPr>
            <a:r>
              <a:rPr lang="en-US" sz="1300" dirty="0">
                <a:solidFill>
                  <a:srgbClr val="C9D6E2"/>
                </a:solidFill>
                <a:latin typeface="Calibri" pitchFamily="34" charset="0"/>
                <a:ea typeface="Calibri" pitchFamily="34" charset="-122"/>
                <a:cs typeface="Calibri" pitchFamily="34" charset="-120"/>
              </a:rPr>
              <a:t>Mixed-effects model on out-of-fold residuals: unexplained decline per district per year, with intervals. Check it against CGWB's extraction categories.</a:t>
            </a:r>
            <a:endParaRPr lang="en-US" sz="1300" dirty="0"/>
          </a:p>
        </p:txBody>
      </p:sp>
      <p:sp>
        <p:nvSpPr>
          <p:cNvPr id="8" name="step-1-badge"/>
          <p:cNvSpPr/>
          <p:nvPr/>
        </p:nvSpPr>
        <p:spPr>
          <a:xfrm>
            <a:off x="7315200" y="2194560"/>
            <a:ext cx="457200" cy="457200"/>
          </a:xfrm>
          <a:prstGeom prst="ellipse">
            <a:avLst/>
          </a:prstGeom>
          <a:solidFill>
            <a:srgbClr val="2E6FA7"/>
          </a:solidFill>
          <a:ln w="12700">
            <a:solidFill>
              <a:srgbClr val="2E6FA7"/>
            </a:solidFill>
            <a:prstDash val="solid"/>
          </a:ln>
        </p:spPr>
      </p:sp>
      <p:sp>
        <p:nvSpPr>
          <p:cNvPr id="9" name="step-1-num"/>
          <p:cNvSpPr txBox="1"/>
          <p:nvPr/>
        </p:nvSpPr>
        <p:spPr>
          <a:xfrm>
            <a:off x="731520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0" name="step-1-head"/>
          <p:cNvSpPr txBox="1"/>
          <p:nvPr/>
        </p:nvSpPr>
        <p:spPr>
          <a:xfrm>
            <a:off x="7955280" y="2103120"/>
            <a:ext cx="3611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Quantile intervals  </a:t>
            </a:r>
            <a:pPr indent="0" marL="0">
              <a:buNone/>
            </a:pPr>
            <a:r>
              <a:rPr lang="en-US" sz="1300" dirty="0">
                <a:solidFill>
                  <a:srgbClr val="8FA3B6"/>
                </a:solidFill>
                <a:latin typeface="Calibri" pitchFamily="34" charset="0"/>
                <a:ea typeface="Calibri" pitchFamily="34" charset="-122"/>
                <a:cs typeface="Calibri" pitchFamily="34" charset="-120"/>
              </a:rPr>
              <a:t>2–3 hours</a:t>
            </a:r>
            <a:endParaRPr lang="en-US" sz="1700" dirty="0"/>
          </a:p>
        </p:txBody>
      </p:sp>
      <p:sp>
        <p:nvSpPr>
          <p:cNvPr id="11" name="step-1-body"/>
          <p:cNvSpPr txBox="1"/>
          <p:nvPr/>
        </p:nvSpPr>
        <p:spPr>
          <a:xfrm>
            <a:off x="7955280" y="2560320"/>
            <a:ext cx="3611880" cy="777240"/>
          </a:xfrm>
          <a:prstGeom prst="rect">
            <a:avLst/>
          </a:prstGeom>
          <a:noFill/>
          <a:ln/>
        </p:spPr>
        <p:txBody>
          <a:bodyPr wrap="square" lIns="0" tIns="0" rIns="0" bIns="0" rtlCol="0" anchor="t"/>
          <a:lstStyle/>
          <a:p>
            <a:pPr indent="0" marL="0">
              <a:buNone/>
            </a:pPr>
            <a:r>
              <a:rPr lang="en-US" sz="1300" dirty="0">
                <a:solidFill>
                  <a:srgbClr val="C9D6E2"/>
                </a:solidFill>
                <a:latin typeface="Calibri" pitchFamily="34" charset="0"/>
                <a:ea typeface="Calibri" pitchFamily="34" charset="-122"/>
                <a:cs typeface="Calibri" pitchFamily="34" charset="-120"/>
              </a:rPr>
              <a:t>LightGBM quantile and pinball-loss models: ranges for districts and scenarios.</a:t>
            </a:r>
            <a:endParaRPr lang="en-US" sz="1300" dirty="0"/>
          </a:p>
        </p:txBody>
      </p:sp>
      <p:sp>
        <p:nvSpPr>
          <p:cNvPr id="12" name="step-2-badge"/>
          <p:cNvSpPr/>
          <p:nvPr/>
        </p:nvSpPr>
        <p:spPr>
          <a:xfrm>
            <a:off x="7315200" y="3520440"/>
            <a:ext cx="457200" cy="457200"/>
          </a:xfrm>
          <a:prstGeom prst="ellipse">
            <a:avLst/>
          </a:prstGeom>
          <a:solidFill>
            <a:srgbClr val="2E6FA7"/>
          </a:solidFill>
          <a:ln w="12700">
            <a:solidFill>
              <a:srgbClr val="2E6FA7"/>
            </a:solidFill>
            <a:prstDash val="solid"/>
          </a:ln>
        </p:spPr>
      </p:sp>
      <p:sp>
        <p:nvSpPr>
          <p:cNvPr id="13" name="step-2-num"/>
          <p:cNvSpPr txBox="1"/>
          <p:nvPr/>
        </p:nvSpPr>
        <p:spPr>
          <a:xfrm>
            <a:off x="731520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step-2-head"/>
          <p:cNvSpPr txBox="1"/>
          <p:nvPr/>
        </p:nvSpPr>
        <p:spPr>
          <a:xfrm>
            <a:off x="7955280" y="3429000"/>
            <a:ext cx="3611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Monotone LightGBM  </a:t>
            </a:r>
            <a:pPr indent="0" marL="0">
              <a:buNone/>
            </a:pPr>
            <a:r>
              <a:rPr lang="en-US" sz="1300" dirty="0">
                <a:solidFill>
                  <a:srgbClr val="8FA3B6"/>
                </a:solidFill>
                <a:latin typeface="Calibri" pitchFamily="34" charset="0"/>
                <a:ea typeface="Calibri" pitchFamily="34" charset="-122"/>
                <a:cs typeface="Calibri" pitchFamily="34" charset="-120"/>
              </a:rPr>
              <a:t>½ day</a:t>
            </a:r>
            <a:endParaRPr lang="en-US" sz="1700" dirty="0"/>
          </a:p>
        </p:txBody>
      </p:sp>
      <p:sp>
        <p:nvSpPr>
          <p:cNvPr id="15" name="step-2-body"/>
          <p:cNvSpPr txBox="1"/>
          <p:nvPr/>
        </p:nvSpPr>
        <p:spPr>
          <a:xfrm>
            <a:off x="7955280" y="3886200"/>
            <a:ext cx="3611880" cy="777240"/>
          </a:xfrm>
          <a:prstGeom prst="rect">
            <a:avLst/>
          </a:prstGeom>
          <a:noFill/>
          <a:ln/>
        </p:spPr>
        <p:txBody>
          <a:bodyPr wrap="square" lIns="0" tIns="0" rIns="0" bIns="0" rtlCol="0" anchor="t"/>
          <a:lstStyle/>
          <a:p>
            <a:pPr indent="0" marL="0">
              <a:buNone/>
            </a:pPr>
            <a:r>
              <a:rPr lang="en-US" sz="1300" dirty="0">
                <a:solidFill>
                  <a:srgbClr val="C9D6E2"/>
                </a:solidFill>
                <a:latin typeface="Calibri" pitchFamily="34" charset="0"/>
                <a:ea typeface="Calibri" pitchFamily="34" charset="-122"/>
                <a:cs typeface="Calibri" pitchFamily="34" charset="-120"/>
              </a:rPr>
              <a:t>A second simulator with a hard rain-direction guarantee, from the best test model.</a:t>
            </a:r>
            <a:endParaRPr lang="en-US" sz="1300" dirty="0"/>
          </a:p>
        </p:txBody>
      </p:sp>
      <p:sp>
        <p:nvSpPr>
          <p:cNvPr id="16" name="step-3-badge"/>
          <p:cNvSpPr/>
          <p:nvPr/>
        </p:nvSpPr>
        <p:spPr>
          <a:xfrm>
            <a:off x="7315200" y="4846320"/>
            <a:ext cx="457200" cy="457200"/>
          </a:xfrm>
          <a:prstGeom prst="ellipse">
            <a:avLst/>
          </a:prstGeom>
          <a:solidFill>
            <a:srgbClr val="2E6FA7"/>
          </a:solidFill>
          <a:ln w="12700">
            <a:solidFill>
              <a:srgbClr val="2E6FA7"/>
            </a:solidFill>
            <a:prstDash val="solid"/>
          </a:ln>
        </p:spPr>
      </p:sp>
      <p:sp>
        <p:nvSpPr>
          <p:cNvPr id="17" name="step-3-num"/>
          <p:cNvSpPr txBox="1"/>
          <p:nvPr/>
        </p:nvSpPr>
        <p:spPr>
          <a:xfrm>
            <a:off x="731520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8" name="step-3-head"/>
          <p:cNvSpPr txBox="1"/>
          <p:nvPr/>
        </p:nvSpPr>
        <p:spPr>
          <a:xfrm>
            <a:off x="7955280" y="4754880"/>
            <a:ext cx="3611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Foundation encoder  </a:t>
            </a:r>
            <a:pPr indent="0" marL="0">
              <a:buNone/>
            </a:pPr>
            <a:r>
              <a:rPr lang="en-US" sz="1300" dirty="0">
                <a:solidFill>
                  <a:srgbClr val="8FA3B6"/>
                </a:solidFill>
                <a:latin typeface="Calibri" pitchFamily="34" charset="0"/>
                <a:ea typeface="Calibri" pitchFamily="34" charset="-122"/>
                <a:cs typeface="Calibri" pitchFamily="34" charset="-120"/>
              </a:rPr>
              <a:t>1 day, GPU</a:t>
            </a:r>
            <a:endParaRPr lang="en-US" sz="1700" dirty="0"/>
          </a:p>
        </p:txBody>
      </p:sp>
      <p:sp>
        <p:nvSpPr>
          <p:cNvPr id="19" name="step-3-body"/>
          <p:cNvSpPr txBox="1"/>
          <p:nvPr/>
        </p:nvSpPr>
        <p:spPr>
          <a:xfrm>
            <a:off x="7955280" y="5212080"/>
            <a:ext cx="3611880" cy="777240"/>
          </a:xfrm>
          <a:prstGeom prst="rect">
            <a:avLst/>
          </a:prstGeom>
          <a:noFill/>
          <a:ln/>
        </p:spPr>
        <p:txBody>
          <a:bodyPr wrap="square" lIns="0" tIns="0" rIns="0" bIns="0" rtlCol="0" anchor="t"/>
          <a:lstStyle/>
          <a:p>
            <a:pPr indent="0" marL="0">
              <a:buNone/>
            </a:pPr>
            <a:r>
              <a:rPr lang="en-US" sz="1300" dirty="0">
                <a:solidFill>
                  <a:srgbClr val="C9D6E2"/>
                </a:solidFill>
                <a:latin typeface="Calibri" pitchFamily="34" charset="0"/>
                <a:ea typeface="Calibri" pitchFamily="34" charset="-122"/>
                <a:cs typeface="Calibri" pitchFamily="34" charset="-120"/>
              </a:rPr>
              <a:t>Frozen TimesFM or Moirai on rain only, if the brief requires it.</a:t>
            </a:r>
            <a:endParaRPr lang="en-US" sz="1300" dirty="0"/>
          </a:p>
        </p:txBody>
      </p:sp>
      <p:sp>
        <p:nvSpPr>
          <p:cNvPr id="20" name="skip-note"/>
          <p:cNvSpPr txBox="1"/>
          <p:nvPr/>
        </p:nvSpPr>
        <p:spPr>
          <a:xfrm>
            <a:off x="640080" y="5623560"/>
            <a:ext cx="6400800" cy="731520"/>
          </a:xfrm>
          <a:prstGeom prst="rect">
            <a:avLst/>
          </a:prstGeom>
          <a:noFill/>
          <a:ln/>
        </p:spPr>
        <p:txBody>
          <a:bodyPr wrap="square" lIns="0" tIns="0" rIns="0" bIns="0" rtlCol="0" anchor="t"/>
          <a:lstStyle/>
          <a:p>
            <a:pPr indent="0" marL="0">
              <a:buNone/>
            </a:pPr>
            <a:r>
              <a:rPr lang="en-US" sz="1300" dirty="0">
                <a:solidFill>
                  <a:srgbClr val="8FA3B6"/>
                </a:solidFill>
                <a:latin typeface="Calibri" pitchFamily="34" charset="0"/>
                <a:ea typeface="Calibri" pitchFamily="34" charset="-122"/>
                <a:cs typeface="Calibri" pitchFamily="34" charset="-120"/>
              </a:rPr>
              <a:t>Skip: GRU, temporal CNN, bigger transformers (same family, same errors); graph networks over neighbouring wells (neighbours' levels leak the pumping signal).</a:t>
            </a:r>
            <a:endParaRPr lang="en-US" sz="1300" dirty="0"/>
          </a:p>
        </p:txBody>
      </p:sp>
    </p:spTree>
  </p:cSld>
  <p:clrMapOvr>
    <a:masterClrMapping/>
  </p:clrMapOvr>
</p:sld>
</file>

<file path=ppt/theme/theme1.xml><?xml version="1.0" encoding="utf-8"?>
<a:theme xmlns:a="http://schemas.openxmlformats.org/drawingml/2006/main" name="Rain or Pumps">
  <a:themeElements>
    <a:clrScheme name="Rain or Pumps">
      <a:dk1>
        <a:srgbClr val="1B2530"/>
      </a:dk1>
      <a:lt1>
        <a:srgbClr val="FFFFFF"/>
      </a:lt1>
      <a:dk2>
        <a:srgbClr val="0F2A3D"/>
      </a:dk2>
      <a:lt2>
        <a:srgbClr val="EEF3F7"/>
      </a:lt2>
      <a:accent1>
        <a:srgbClr val="2E6FA7"/>
      </a:accent1>
      <a:accent2>
        <a:srgbClr val="C2502A"/>
      </a:accent2>
      <a:accent3>
        <a:srgbClr val="9AA8B6"/>
      </a:accent3>
      <a:accent4>
        <a:srgbClr val="3F8F7A"/>
      </a:accent4>
      <a:accent5>
        <a:srgbClr val="D9A441"/>
      </a:accent5>
      <a:accent6>
        <a:srgbClr val="5B6672"/>
      </a:accent6>
      <a:hlink>
        <a:srgbClr val="2E6FA7"/>
      </a:hlink>
      <a:folHlink>
        <a:srgbClr val="5B6672"/>
      </a:folHlink>
    </a:clrScheme>
    <a:fontScheme name="Rain or Pum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 or Pumps: model review</dc:title>
  <dc:subject>PptxGenJS Presentation</dc:subject>
  <dc:creator>Parth Rainchwar</dc:creator>
  <cp:lastModifiedBy>Parth Rainchwar</cp:lastModifiedBy>
  <cp:revision>1</cp:revision>
  <dcterms:created xsi:type="dcterms:W3CDTF">2026-10-03T06:51:22Z</dcterms:created>
  <dcterms:modified xsi:type="dcterms:W3CDTF">2026-10-03T06:51:22Z</dcterms:modified>
</cp:coreProperties>
</file>