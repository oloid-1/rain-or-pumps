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in one line: separate the effect of rainfall variability from human extraction in explaining district level groundwater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direction of the target. Bigger means deeper means worse. Every rainfall correlation is therefore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a naive merge on latitude and longitude would have matched 3 wells and silently dropped 2,756.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is not causation: the residual design plus validation against CGWB stress categories is what carries the attribution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residual is only read as extraction when it is systematic across several years, never from a single year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single decision needed from the mentor this week: confirm the dataset grain, district season against district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9418320" y="-640080"/>
            <a:ext cx="3108960" cy="3108960"/>
          </a:xfrm>
          <a:prstGeom prst="ellipse">
            <a:avLst/>
          </a:prstGeom>
          <a:solidFill>
            <a:srgbClr val="0B3C49"/>
          </a:solidFill>
          <a:ln w="15875">
            <a:solidFill>
              <a:srgbClr val="1C7293"/>
            </a:solidFill>
            <a:prstDash val="solid"/>
          </a:ln>
        </p:spPr>
      </p:sp>
      <p:sp>
        <p:nvSpPr>
          <p:cNvPr id="3" name="Shape 1"/>
          <p:cNvSpPr/>
          <p:nvPr/>
        </p:nvSpPr>
        <p:spPr>
          <a:xfrm>
            <a:off x="9875520" y="-182880"/>
            <a:ext cx="2194560" cy="2194560"/>
          </a:xfrm>
          <a:prstGeom prst="ellipse">
            <a:avLst/>
          </a:prstGeom>
          <a:solidFill>
            <a:srgbClr val="0B3C49"/>
          </a:solidFill>
          <a:ln w="15875">
            <a:solidFill>
              <a:srgbClr val="1C7293"/>
            </a:solidFill>
            <a:prstDash val="solid"/>
          </a:ln>
        </p:spPr>
      </p:sp>
      <p:sp>
        <p:nvSpPr>
          <p:cNvPr id="4" name="Shape 2"/>
          <p:cNvSpPr/>
          <p:nvPr/>
        </p:nvSpPr>
        <p:spPr>
          <a:xfrm>
            <a:off x="10287000" y="228600"/>
            <a:ext cx="1371600" cy="1371600"/>
          </a:xfrm>
          <a:prstGeom prst="ellipse">
            <a:avLst/>
          </a:prstGeom>
          <a:solidFill>
            <a:srgbClr val="0B3C49"/>
          </a:solidFill>
          <a:ln w="15875">
            <a:solidFill>
              <a:srgbClr val="1C7293"/>
            </a:solidFill>
            <a:prstDash val="solid"/>
          </a:ln>
        </p:spPr>
      </p:sp>
      <p:sp>
        <p:nvSpPr>
          <p:cNvPr id="5" name="Text 3"/>
          <p:cNvSpPr txBox="1"/>
          <p:nvPr/>
        </p:nvSpPr>
        <p:spPr>
          <a:xfrm>
            <a:off x="685800" y="1298448"/>
            <a:ext cx="841248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Rain or Pumps?</a:t>
            </a:r>
            <a:endParaRPr lang="en-US" sz="4800" dirty="0"/>
          </a:p>
        </p:txBody>
      </p:sp>
      <p:sp>
        <p:nvSpPr>
          <p:cNvPr id="6" name="Text 4"/>
          <p:cNvSpPr txBox="1"/>
          <p:nvPr/>
        </p:nvSpPr>
        <p:spPr>
          <a:xfrm>
            <a:off x="685800" y="2157984"/>
            <a:ext cx="8778240" cy="457200"/>
          </a:xfrm>
          <a:prstGeom prst="rect">
            <a:avLst/>
          </a:prstGeom>
          <a:noFill/>
          <a:ln/>
        </p:spPr>
        <p:txBody>
          <a:bodyPr wrap="square" lIns="0" tIns="0" rIns="0" bIns="0" rtlCol="0" anchor="ctr"/>
          <a:lstStyle/>
          <a:p>
            <a:pPr indent="0" marL="0">
              <a:buNone/>
            </a:pPr>
            <a:r>
              <a:rPr lang="en-US" sz="1900" dirty="0">
                <a:solidFill>
                  <a:srgbClr val="9CBBC7"/>
                </a:solidFill>
                <a:latin typeface="Calibri" pitchFamily="34" charset="0"/>
                <a:ea typeface="Calibri" pitchFamily="34" charset="-122"/>
                <a:cs typeface="Calibri" pitchFamily="34" charset="-120"/>
              </a:rPr>
              <a:t>Attributing India's Groundwater Decline District by District</a:t>
            </a:r>
            <a:endParaRPr lang="en-US" sz="1900" dirty="0"/>
          </a:p>
        </p:txBody>
      </p:sp>
      <p:sp>
        <p:nvSpPr>
          <p:cNvPr id="7" name="Shape 5"/>
          <p:cNvSpPr/>
          <p:nvPr/>
        </p:nvSpPr>
        <p:spPr>
          <a:xfrm>
            <a:off x="685800" y="3127248"/>
            <a:ext cx="5074920" cy="1810512"/>
          </a:xfrm>
          <a:prstGeom prst="roundRect">
            <a:avLst>
              <a:gd name="adj" fmla="val 3030"/>
            </a:avLst>
          </a:prstGeom>
          <a:solidFill>
            <a:srgbClr val="124B5A"/>
          </a:solidFill>
          <a:ln w="9525">
            <a:solidFill>
              <a:srgbClr val="1C7293"/>
            </a:solidFill>
            <a:prstDash val="solid"/>
          </a:ln>
        </p:spPr>
      </p:sp>
      <p:sp>
        <p:nvSpPr>
          <p:cNvPr id="8" name="Text 6"/>
          <p:cNvSpPr txBox="1"/>
          <p:nvPr/>
        </p:nvSpPr>
        <p:spPr>
          <a:xfrm>
            <a:off x="960120" y="3310128"/>
            <a:ext cx="2743200" cy="274320"/>
          </a:xfrm>
          <a:prstGeom prst="rect">
            <a:avLst/>
          </a:prstGeom>
          <a:noFill/>
          <a:ln/>
        </p:spPr>
        <p:txBody>
          <a:bodyPr wrap="square" lIns="0" tIns="0" rIns="0" bIns="0" rtlCol="0" anchor="ctr"/>
          <a:lstStyle/>
          <a:p>
            <a:pPr indent="0" marL="0">
              <a:buNone/>
            </a:pPr>
            <a:r>
              <a:rPr lang="en-US" sz="1100" b="1" spc="200" kern="0" dirty="0">
                <a:solidFill>
                  <a:srgbClr val="7FA9B8"/>
                </a:solidFill>
                <a:latin typeface="Calibri" pitchFamily="34" charset="0"/>
                <a:ea typeface="Calibri" pitchFamily="34" charset="-122"/>
                <a:cs typeface="Calibri" pitchFamily="34" charset="-120"/>
              </a:rPr>
              <a:t>TEAM</a:t>
            </a:r>
            <a:endParaRPr lang="en-US" sz="1100" dirty="0"/>
          </a:p>
        </p:txBody>
      </p:sp>
      <p:sp>
        <p:nvSpPr>
          <p:cNvPr id="9" name="Text 7"/>
          <p:cNvSpPr txBox="1"/>
          <p:nvPr/>
        </p:nvSpPr>
        <p:spPr>
          <a:xfrm>
            <a:off x="960120" y="3657600"/>
            <a:ext cx="4480560" cy="1280160"/>
          </a:xfrm>
          <a:prstGeom prst="rect">
            <a:avLst/>
          </a:prstGeom>
          <a:noFill/>
          <a:ln/>
        </p:spPr>
        <p:txBody>
          <a:bodyPr wrap="square" lIns="0" tIns="0" rIns="0" bIns="0" rtlCol="0" anchor="t"/>
          <a:lstStyle/>
          <a:p>
            <a:pPr marL="342900" indent="-342900">
              <a:lnSpc>
                <a:spcPts val="1920"/>
              </a:lnSpc>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Kakara Siva Kumar</a:t>
            </a:r>
            <a:endParaRPr lang="en-US" sz="1500" dirty="0"/>
          </a:p>
          <a:p>
            <a:pPr marL="342900" indent="-342900">
              <a:lnSpc>
                <a:spcPts val="1920"/>
              </a:lnSpc>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Rainchwar Parth</a:t>
            </a:r>
            <a:endParaRPr lang="en-US" sz="1500" dirty="0"/>
          </a:p>
          <a:p>
            <a:pPr marL="342900" indent="-342900">
              <a:lnSpc>
                <a:spcPts val="1920"/>
              </a:lnSpc>
              <a:spcAft>
                <a:spcPts val="700"/>
              </a:spcAft>
              <a:buSzPct val="100000"/>
              <a:buChar char="•"/>
            </a:pPr>
            <a:r>
              <a:rPr lang="en-US" sz="1500" dirty="0">
                <a:solidFill>
                  <a:srgbClr val="FFFFFF"/>
                </a:solidFill>
                <a:latin typeface="Calibri" pitchFamily="34" charset="0"/>
                <a:ea typeface="Calibri" pitchFamily="34" charset="-122"/>
                <a:cs typeface="Calibri" pitchFamily="34" charset="-120"/>
              </a:rPr>
              <a:t>Vipul Aggarwal</a:t>
            </a:r>
            <a:endParaRPr lang="en-US" sz="1500" dirty="0"/>
          </a:p>
        </p:txBody>
      </p:sp>
      <p:sp>
        <p:nvSpPr>
          <p:cNvPr id="10" name="Shape 8"/>
          <p:cNvSpPr/>
          <p:nvPr/>
        </p:nvSpPr>
        <p:spPr>
          <a:xfrm>
            <a:off x="6035040" y="3127248"/>
            <a:ext cx="5440680" cy="1810512"/>
          </a:xfrm>
          <a:prstGeom prst="roundRect">
            <a:avLst>
              <a:gd name="adj" fmla="val 3030"/>
            </a:avLst>
          </a:prstGeom>
          <a:solidFill>
            <a:srgbClr val="124B5A"/>
          </a:solidFill>
          <a:ln w="9525">
            <a:solidFill>
              <a:srgbClr val="1C7293"/>
            </a:solidFill>
            <a:prstDash val="solid"/>
          </a:ln>
        </p:spPr>
      </p:sp>
      <p:sp>
        <p:nvSpPr>
          <p:cNvPr id="11" name="Text 9"/>
          <p:cNvSpPr txBox="1"/>
          <p:nvPr/>
        </p:nvSpPr>
        <p:spPr>
          <a:xfrm>
            <a:off x="6309360" y="3310128"/>
            <a:ext cx="2743200" cy="274320"/>
          </a:xfrm>
          <a:prstGeom prst="rect">
            <a:avLst/>
          </a:prstGeom>
          <a:noFill/>
          <a:ln/>
        </p:spPr>
        <p:txBody>
          <a:bodyPr wrap="square" lIns="0" tIns="0" rIns="0" bIns="0" rtlCol="0" anchor="ctr"/>
          <a:lstStyle/>
          <a:p>
            <a:pPr indent="0" marL="0">
              <a:buNone/>
            </a:pPr>
            <a:r>
              <a:rPr lang="en-US" sz="1100" b="1" spc="200" kern="0" dirty="0">
                <a:solidFill>
                  <a:srgbClr val="7FA9B8"/>
                </a:solidFill>
                <a:latin typeface="Calibri" pitchFamily="34" charset="0"/>
                <a:ea typeface="Calibri" pitchFamily="34" charset="-122"/>
                <a:cs typeface="Calibri" pitchFamily="34" charset="-120"/>
              </a:rPr>
              <a:t>MENTOR</a:t>
            </a:r>
            <a:endParaRPr lang="en-US" sz="1100" dirty="0"/>
          </a:p>
        </p:txBody>
      </p:sp>
      <p:sp>
        <p:nvSpPr>
          <p:cNvPr id="12" name="Text 10"/>
          <p:cNvSpPr txBox="1"/>
          <p:nvPr/>
        </p:nvSpPr>
        <p:spPr>
          <a:xfrm>
            <a:off x="6309360" y="3657600"/>
            <a:ext cx="48463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Sudharshan Deshmukh</a:t>
            </a:r>
            <a:endParaRPr lang="en-US" sz="1500" dirty="0"/>
          </a:p>
        </p:txBody>
      </p:sp>
      <p:sp>
        <p:nvSpPr>
          <p:cNvPr id="13" name="Text 11"/>
          <p:cNvSpPr txBox="1"/>
          <p:nvPr/>
        </p:nvSpPr>
        <p:spPr>
          <a:xfrm>
            <a:off x="6309360" y="4041648"/>
            <a:ext cx="4846320" cy="320040"/>
          </a:xfrm>
          <a:prstGeom prst="rect">
            <a:avLst/>
          </a:prstGeom>
          <a:noFill/>
          <a:ln/>
        </p:spPr>
        <p:txBody>
          <a:bodyPr wrap="square" lIns="0" tIns="0" rIns="0" bIns="0" rtlCol="0" anchor="ctr"/>
          <a:lstStyle/>
          <a:p>
            <a:pPr indent="0" marL="0">
              <a:buNone/>
            </a:pPr>
            <a:r>
              <a:rPr lang="en-US" sz="1150" i="1" dirty="0">
                <a:solidFill>
                  <a:srgbClr val="7FA9B8"/>
                </a:solidFill>
                <a:latin typeface="Calibri" pitchFamily="34" charset="0"/>
                <a:ea typeface="Calibri" pitchFamily="34" charset="-122"/>
                <a:cs typeface="Calibri" pitchFamily="34" charset="-120"/>
              </a:rPr>
              <a:t>Industry mentor, weekly review</a:t>
            </a:r>
            <a:endParaRPr lang="en-US" sz="1150" dirty="0"/>
          </a:p>
        </p:txBody>
      </p:sp>
      <p:sp>
        <p:nvSpPr>
          <p:cNvPr id="14" name="Text 12"/>
          <p:cNvSpPr txBox="1"/>
          <p:nvPr/>
        </p:nvSpPr>
        <p:spPr>
          <a:xfrm>
            <a:off x="685800" y="5779008"/>
            <a:ext cx="10789920" cy="310896"/>
          </a:xfrm>
          <a:prstGeom prst="rect">
            <a:avLst/>
          </a:prstGeom>
          <a:noFill/>
          <a:ln/>
        </p:spPr>
        <p:txBody>
          <a:bodyPr wrap="square" lIns="0" tIns="0" rIns="0" bIns="0" rtlCol="0" anchor="ctr"/>
          <a:lstStyle/>
          <a:p>
            <a:pPr indent="0" marL="0">
              <a:buNone/>
            </a:pPr>
            <a:r>
              <a:rPr lang="en-US" sz="1150" dirty="0">
                <a:solidFill>
                  <a:srgbClr val="6E95A3"/>
                </a:solidFill>
                <a:latin typeface="Calibri" pitchFamily="34" charset="0"/>
                <a:ea typeface="Calibri" pitchFamily="34" charset="-122"/>
                <a:cs typeface="Calibri" pitchFamily="34" charset="-120"/>
              </a:rPr>
              <a:t>BITS Pilani  |  PGCP in AI and Machine Learning  |  Capstone Project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Two datasets, two different shapes</a:t>
            </a:r>
            <a:endParaRPr lang="en-US" sz="3400" dirty="0"/>
          </a:p>
        </p:txBody>
      </p:sp>
      <p:sp>
        <p:nvSpPr>
          <p:cNvPr id="3" name="Text 1"/>
          <p:cNvSpPr txBox="1"/>
          <p:nvPr/>
        </p:nvSpPr>
        <p:spPr>
          <a:xfrm>
            <a:off x="548640" y="941832"/>
            <a:ext cx="11064240" cy="310896"/>
          </a:xfrm>
          <a:prstGeom prst="rect">
            <a:avLst/>
          </a:prstGeom>
          <a:noFill/>
          <a:ln/>
        </p:spPr>
        <p:txBody>
          <a:bodyPr wrap="square" lIns="0" tIns="0" rIns="0" bIns="0" rtlCol="0" anchor="ctr"/>
          <a:lstStyle/>
          <a:p>
            <a:pPr indent="0" marL="0">
              <a:buNone/>
            </a:pPr>
            <a:r>
              <a:rPr lang="en-US" sz="1400" i="1" dirty="0">
                <a:solidFill>
                  <a:srgbClr val="5A737D"/>
                </a:solidFill>
                <a:latin typeface="Calibri" pitchFamily="34" charset="0"/>
                <a:ea typeface="Calibri" pitchFamily="34" charset="-122"/>
                <a:cs typeface="Calibri" pitchFamily="34" charset="-120"/>
              </a:rPr>
              <a:t>Point measurements on one side, a continuous grid on the other</a:t>
            </a:r>
            <a:endParaRPr lang="en-US" sz="1400" dirty="0"/>
          </a:p>
        </p:txBody>
      </p:sp>
      <p:sp>
        <p:nvSpPr>
          <p:cNvPr id="4" name="Shape 2"/>
          <p:cNvSpPr/>
          <p:nvPr/>
        </p:nvSpPr>
        <p:spPr>
          <a:xfrm>
            <a:off x="548640" y="1463040"/>
            <a:ext cx="5394960" cy="3063240"/>
          </a:xfrm>
          <a:prstGeom prst="roundRect">
            <a:avLst>
              <a:gd name="adj" fmla="val 1791"/>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5" name="Shape 3"/>
          <p:cNvSpPr/>
          <p:nvPr/>
        </p:nvSpPr>
        <p:spPr>
          <a:xfrm>
            <a:off x="868680" y="1755648"/>
            <a:ext cx="457200" cy="457200"/>
          </a:xfrm>
          <a:prstGeom prst="ellipse">
            <a:avLst/>
          </a:prstGeom>
          <a:solidFill>
            <a:srgbClr val="1C7293"/>
          </a:solidFill>
          <a:ln w="12700">
            <a:solidFill>
              <a:srgbClr val="1C7293"/>
            </a:solidFill>
            <a:prstDash val="solid"/>
          </a:ln>
        </p:spPr>
      </p:sp>
      <p:sp>
        <p:nvSpPr>
          <p:cNvPr id="6" name="Text 4"/>
          <p:cNvSpPr txBox="1"/>
          <p:nvPr/>
        </p:nvSpPr>
        <p:spPr>
          <a:xfrm>
            <a:off x="868680" y="1819656"/>
            <a:ext cx="45720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463040" y="1801368"/>
            <a:ext cx="4206240" cy="347472"/>
          </a:xfrm>
          <a:prstGeom prst="rect">
            <a:avLst/>
          </a:prstGeom>
          <a:noFill/>
          <a:ln/>
        </p:spPr>
        <p:txBody>
          <a:bodyPr wrap="square" lIns="0" tIns="0" rIns="0" bIns="0" rtlCol="0" anchor="ctr"/>
          <a:lstStyle/>
          <a:p>
            <a:pPr indent="0" marL="0">
              <a:buNone/>
            </a:pPr>
            <a:r>
              <a:rPr lang="en-US" sz="1700" b="1" dirty="0">
                <a:solidFill>
                  <a:srgbClr val="0B3C49"/>
                </a:solidFill>
                <a:latin typeface="Cambria" pitchFamily="34" charset="0"/>
                <a:ea typeface="Cambria" pitchFamily="34" charset="-122"/>
                <a:cs typeface="Cambria" pitchFamily="34" charset="-120"/>
              </a:rPr>
              <a:t>CGWB groundwater levels</a:t>
            </a:r>
            <a:endParaRPr lang="en-US" sz="1700" dirty="0"/>
          </a:p>
        </p:txBody>
      </p:sp>
      <p:sp>
        <p:nvSpPr>
          <p:cNvPr id="8" name="Text 6"/>
          <p:cNvSpPr txBox="1"/>
          <p:nvPr/>
        </p:nvSpPr>
        <p:spPr>
          <a:xfrm>
            <a:off x="1463040" y="2130552"/>
            <a:ext cx="4206240" cy="274320"/>
          </a:xfrm>
          <a:prstGeom prst="rect">
            <a:avLst/>
          </a:prstGeom>
          <a:noFill/>
          <a:ln/>
        </p:spPr>
        <p:txBody>
          <a:bodyPr wrap="square" lIns="0" tIns="0" rIns="0" bIns="0" rtlCol="0" anchor="ctr"/>
          <a:lstStyle/>
          <a:p>
            <a:pPr indent="0" marL="0">
              <a:buNone/>
            </a:pPr>
            <a:r>
              <a:rPr lang="en-US" sz="1100" i="1" dirty="0">
                <a:solidFill>
                  <a:srgbClr val="5A737D"/>
                </a:solidFill>
                <a:latin typeface="Calibri" pitchFamily="34" charset="0"/>
                <a:ea typeface="Calibri" pitchFamily="34" charset="-122"/>
                <a:cs typeface="Calibri" pitchFamily="34" charset="-120"/>
              </a:rPr>
              <a:t>Central Ground Water Board, 2000 to 2022</a:t>
            </a:r>
            <a:endParaRPr lang="en-US" sz="1100" dirty="0"/>
          </a:p>
        </p:txBody>
      </p:sp>
      <p:sp>
        <p:nvSpPr>
          <p:cNvPr id="9" name="Text 7"/>
          <p:cNvSpPr txBox="1"/>
          <p:nvPr/>
        </p:nvSpPr>
        <p:spPr>
          <a:xfrm>
            <a:off x="914400" y="2606040"/>
            <a:ext cx="4709160" cy="1783080"/>
          </a:xfrm>
          <a:prstGeom prst="rect">
            <a:avLst/>
          </a:prstGeom>
          <a:noFill/>
          <a:ln/>
        </p:spPr>
        <p:txBody>
          <a:bodyPr wrap="square" lIns="0" tIns="0" rIns="0" bIns="0" rtlCol="0" anchor="t"/>
          <a:lstStyle/>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2,759 quality controlled monitoring wells</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Four campaigns a year: January, May, August, November</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92 readings per well, one column each in the raw file</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Depth to water plus specific yield per well</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figshare, CC BY 4.0, doi 10.6084/m9.figshare.29293877</a:t>
            </a:r>
            <a:endParaRPr lang="en-US" sz="1200" dirty="0"/>
          </a:p>
        </p:txBody>
      </p:sp>
      <p:sp>
        <p:nvSpPr>
          <p:cNvPr id="10" name="Shape 8"/>
          <p:cNvSpPr/>
          <p:nvPr/>
        </p:nvSpPr>
        <p:spPr>
          <a:xfrm>
            <a:off x="6217920" y="1463040"/>
            <a:ext cx="5394960" cy="3063240"/>
          </a:xfrm>
          <a:prstGeom prst="roundRect">
            <a:avLst>
              <a:gd name="adj" fmla="val 1791"/>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11" name="Shape 9"/>
          <p:cNvSpPr/>
          <p:nvPr/>
        </p:nvSpPr>
        <p:spPr>
          <a:xfrm>
            <a:off x="6537960" y="1755648"/>
            <a:ext cx="457200" cy="457200"/>
          </a:xfrm>
          <a:prstGeom prst="ellipse">
            <a:avLst/>
          </a:prstGeom>
          <a:solidFill>
            <a:srgbClr val="C1553B"/>
          </a:solidFill>
          <a:ln w="12700">
            <a:solidFill>
              <a:srgbClr val="C1553B"/>
            </a:solidFill>
            <a:prstDash val="solid"/>
          </a:ln>
        </p:spPr>
      </p:sp>
      <p:sp>
        <p:nvSpPr>
          <p:cNvPr id="12" name="Text 10"/>
          <p:cNvSpPr txBox="1"/>
          <p:nvPr/>
        </p:nvSpPr>
        <p:spPr>
          <a:xfrm>
            <a:off x="6537960" y="1819656"/>
            <a:ext cx="45720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7132320" y="1801368"/>
            <a:ext cx="4206240" cy="347472"/>
          </a:xfrm>
          <a:prstGeom prst="rect">
            <a:avLst/>
          </a:prstGeom>
          <a:noFill/>
          <a:ln/>
        </p:spPr>
        <p:txBody>
          <a:bodyPr wrap="square" lIns="0" tIns="0" rIns="0" bIns="0" rtlCol="0" anchor="ctr"/>
          <a:lstStyle/>
          <a:p>
            <a:pPr indent="0" marL="0">
              <a:buNone/>
            </a:pPr>
            <a:r>
              <a:rPr lang="en-US" sz="1700" b="1" dirty="0">
                <a:solidFill>
                  <a:srgbClr val="0B3C49"/>
                </a:solidFill>
                <a:latin typeface="Cambria" pitchFamily="34" charset="0"/>
                <a:ea typeface="Cambria" pitchFamily="34" charset="-122"/>
                <a:cs typeface="Cambria" pitchFamily="34" charset="-120"/>
              </a:rPr>
              <a:t>IMD gridded rainfall</a:t>
            </a:r>
            <a:endParaRPr lang="en-US" sz="1700" dirty="0"/>
          </a:p>
        </p:txBody>
      </p:sp>
      <p:sp>
        <p:nvSpPr>
          <p:cNvPr id="14" name="Text 12"/>
          <p:cNvSpPr txBox="1"/>
          <p:nvPr/>
        </p:nvSpPr>
        <p:spPr>
          <a:xfrm>
            <a:off x="7132320" y="2130552"/>
            <a:ext cx="4206240" cy="274320"/>
          </a:xfrm>
          <a:prstGeom prst="rect">
            <a:avLst/>
          </a:prstGeom>
          <a:noFill/>
          <a:ln/>
        </p:spPr>
        <p:txBody>
          <a:bodyPr wrap="square" lIns="0" tIns="0" rIns="0" bIns="0" rtlCol="0" anchor="ctr"/>
          <a:lstStyle/>
          <a:p>
            <a:pPr indent="0" marL="0">
              <a:buNone/>
            </a:pPr>
            <a:r>
              <a:rPr lang="en-US" sz="1100" i="1" dirty="0">
                <a:solidFill>
                  <a:srgbClr val="5A737D"/>
                </a:solidFill>
                <a:latin typeface="Calibri" pitchFamily="34" charset="0"/>
                <a:ea typeface="Calibri" pitchFamily="34" charset="-122"/>
                <a:cs typeface="Calibri" pitchFamily="34" charset="-120"/>
              </a:rPr>
              <a:t>India Meteorological Department, 1998 to 2022</a:t>
            </a:r>
            <a:endParaRPr lang="en-US" sz="1100" dirty="0"/>
          </a:p>
        </p:txBody>
      </p:sp>
      <p:sp>
        <p:nvSpPr>
          <p:cNvPr id="15" name="Text 13"/>
          <p:cNvSpPr txBox="1"/>
          <p:nvPr/>
        </p:nvSpPr>
        <p:spPr>
          <a:xfrm>
            <a:off x="6583680" y="2606040"/>
            <a:ext cx="4709160" cy="1783080"/>
          </a:xfrm>
          <a:prstGeom prst="rect">
            <a:avLst/>
          </a:prstGeom>
          <a:noFill/>
          <a:ln/>
        </p:spPr>
        <p:txBody>
          <a:bodyPr wrap="square" lIns="0" tIns="0" rIns="0" bIns="0" rtlCol="0" anchor="t"/>
          <a:lstStyle/>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0.25 degree grid, 129 by 135 cells, about 27 km per cell</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Daily rainfall, one NetCDF file per year</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25 files downloaded; 1998 and 1999 carry the lag windows</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Gap free, so rainfall features have no missing values</a:t>
            </a:r>
            <a:endParaRPr lang="en-US" sz="1200" dirty="0"/>
          </a:p>
          <a:p>
            <a:pPr marL="342900" indent="-342900">
              <a:lnSpc>
                <a:spcPts val="1536"/>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Open access, imdpune.gov.in</a:t>
            </a:r>
            <a:endParaRPr lang="en-US" sz="1200" dirty="0"/>
          </a:p>
        </p:txBody>
      </p:sp>
      <p:sp>
        <p:nvSpPr>
          <p:cNvPr id="16" name="Shape 14"/>
          <p:cNvSpPr/>
          <p:nvPr/>
        </p:nvSpPr>
        <p:spPr>
          <a:xfrm>
            <a:off x="548640" y="4754880"/>
            <a:ext cx="11064240" cy="1024128"/>
          </a:xfrm>
          <a:prstGeom prst="roundRect">
            <a:avLst>
              <a:gd name="adj" fmla="val 5357"/>
            </a:avLst>
          </a:prstGeom>
          <a:solidFill>
            <a:srgbClr val="F7F4EF"/>
          </a:solidFill>
          <a:ln w="12700">
            <a:solidFill>
              <a:srgbClr val="F7F4EF"/>
            </a:solidFill>
            <a:prstDash val="solid"/>
          </a:ln>
          <a:effectLst>
            <a:outerShdw sx="100000" sy="100000" kx="0" ky="0" algn="bl" rotWithShape="0" blurRad="101600" dist="25400" dir="5400000">
              <a:srgbClr val="9FB3BC">
                <a:alpha val="35000"/>
              </a:srgbClr>
            </a:outerShdw>
          </a:effectLst>
        </p:spPr>
      </p:sp>
      <p:sp>
        <p:nvSpPr>
          <p:cNvPr id="17" name="Text 15"/>
          <p:cNvSpPr txBox="1"/>
          <p:nvPr/>
        </p:nvSpPr>
        <p:spPr>
          <a:xfrm>
            <a:off x="914400" y="4956048"/>
            <a:ext cx="10332720" cy="292608"/>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Target variable   </a:t>
            </a:r>
            <a:pPr indent="0" marL="0">
              <a:buNone/>
            </a:pPr>
            <a:r>
              <a:rPr lang="en-US" sz="1300" b="1" dirty="0">
                <a:solidFill>
                  <a:srgbClr val="C1553B"/>
                </a:solidFill>
                <a:latin typeface="Courier New" pitchFamily="34" charset="0"/>
                <a:ea typeface="Courier New" pitchFamily="34" charset="-122"/>
                <a:cs typeface="Courier New" pitchFamily="34" charset="-120"/>
              </a:rPr>
              <a:t>gwl_mbgl</a:t>
            </a:r>
            <a:pPr indent="0" marL="0">
              <a:buNone/>
            </a:pPr>
            <a:r>
              <a:rPr lang="en-US" sz="1300" dirty="0">
                <a:solidFill>
                  <a:srgbClr val="15272E"/>
                </a:solidFill>
                <a:latin typeface="Calibri" pitchFamily="34" charset="0"/>
                <a:ea typeface="Calibri" pitchFamily="34" charset="-122"/>
                <a:cs typeface="Calibri" pitchFamily="34" charset="-120"/>
              </a:rPr>
              <a:t>   groundwater level in metres below ground level</a:t>
            </a:r>
            <a:endParaRPr lang="en-US" sz="1300" dirty="0"/>
          </a:p>
        </p:txBody>
      </p:sp>
      <p:sp>
        <p:nvSpPr>
          <p:cNvPr id="18" name="Text 16"/>
          <p:cNvSpPr txBox="1"/>
          <p:nvPr/>
        </p:nvSpPr>
        <p:spPr>
          <a:xfrm>
            <a:off x="914400" y="5266944"/>
            <a:ext cx="10332720" cy="310896"/>
          </a:xfrm>
          <a:prstGeom prst="rect">
            <a:avLst/>
          </a:prstGeom>
          <a:noFill/>
          <a:ln/>
        </p:spPr>
        <p:txBody>
          <a:bodyPr wrap="square" lIns="0" tIns="0" rIns="0" bIns="0" rtlCol="0" anchor="ctr"/>
          <a:lstStyle/>
          <a:p>
            <a:pPr indent="0" marL="0">
              <a:buNone/>
            </a:pPr>
            <a:r>
              <a:rPr lang="en-US" sz="1150" dirty="0">
                <a:solidFill>
                  <a:srgbClr val="5A737D"/>
                </a:solidFill>
                <a:latin typeface="Calibri" pitchFamily="34" charset="0"/>
                <a:ea typeface="Calibri" pitchFamily="34" charset="-122"/>
                <a:cs typeface="Calibri" pitchFamily="34" charset="-120"/>
              </a:rPr>
              <a:t>Measured downward from the surface, so a larger number means deeper water. A groundwater decline appears as an increase.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Mapping CGWB wells to IMD rainfall</a:t>
            </a:r>
            <a:endParaRPr lang="en-US" sz="3400" dirty="0"/>
          </a:p>
        </p:txBody>
      </p:sp>
      <p:sp>
        <p:nvSpPr>
          <p:cNvPr id="3" name="Text 1"/>
          <p:cNvSpPr txBox="1"/>
          <p:nvPr/>
        </p:nvSpPr>
        <p:spPr>
          <a:xfrm>
            <a:off x="548640" y="941832"/>
            <a:ext cx="11064240" cy="310896"/>
          </a:xfrm>
          <a:prstGeom prst="rect">
            <a:avLst/>
          </a:prstGeom>
          <a:noFill/>
          <a:ln/>
        </p:spPr>
        <p:txBody>
          <a:bodyPr wrap="square" lIns="0" tIns="0" rIns="0" bIns="0" rtlCol="0" anchor="ctr"/>
          <a:lstStyle/>
          <a:p>
            <a:pPr indent="0" marL="0">
              <a:buNone/>
            </a:pPr>
            <a:r>
              <a:rPr lang="en-US" sz="1400" i="1" dirty="0">
                <a:solidFill>
                  <a:srgbClr val="5A737D"/>
                </a:solidFill>
                <a:latin typeface="Calibri" pitchFamily="34" charset="0"/>
                <a:ea typeface="Calibri" pitchFamily="34" charset="-122"/>
                <a:cs typeface="Calibri" pitchFamily="34" charset="-120"/>
              </a:rPr>
              <a:t>The two files share no key, so the join is built on geography and time</a:t>
            </a:r>
            <a:endParaRPr lang="en-US" sz="1400" dirty="0"/>
          </a:p>
        </p:txBody>
      </p:sp>
      <p:sp>
        <p:nvSpPr>
          <p:cNvPr id="4" name="Shape 2"/>
          <p:cNvSpPr/>
          <p:nvPr/>
        </p:nvSpPr>
        <p:spPr>
          <a:xfrm>
            <a:off x="548640" y="1444752"/>
            <a:ext cx="11064240" cy="713232"/>
          </a:xfrm>
          <a:prstGeom prst="roundRect">
            <a:avLst>
              <a:gd name="adj" fmla="val 7692"/>
            </a:avLst>
          </a:prstGeom>
          <a:solidFill>
            <a:srgbClr val="F7F4EF"/>
          </a:solidFill>
          <a:ln w="12700">
            <a:solidFill>
              <a:srgbClr val="F7F4EF"/>
            </a:solidFill>
            <a:prstDash val="solid"/>
          </a:ln>
          <a:effectLst>
            <a:outerShdw sx="100000" sy="100000" kx="0" ky="0" algn="bl" rotWithShape="0" blurRad="101600" dist="25400" dir="5400000">
              <a:srgbClr val="9FB3BC">
                <a:alpha val="35000"/>
              </a:srgbClr>
            </a:outerShdw>
          </a:effectLst>
        </p:spPr>
      </p:sp>
      <p:sp>
        <p:nvSpPr>
          <p:cNvPr id="5" name="Text 3"/>
          <p:cNvSpPr txBox="1"/>
          <p:nvPr/>
        </p:nvSpPr>
        <p:spPr>
          <a:xfrm>
            <a:off x="914400" y="1636776"/>
            <a:ext cx="10332720" cy="365760"/>
          </a:xfrm>
          <a:prstGeom prst="rect">
            <a:avLst/>
          </a:prstGeom>
          <a:noFill/>
          <a:ln/>
        </p:spPr>
        <p:txBody>
          <a:bodyPr wrap="square" lIns="0" tIns="0" rIns="0" bIns="0" rtlCol="0" anchor="ctr"/>
          <a:lstStyle/>
          <a:p>
            <a:pPr indent="0" marL="0">
              <a:buNone/>
            </a:pPr>
            <a:r>
              <a:rPr lang="en-US" sz="1250" b="1" dirty="0">
                <a:solidFill>
                  <a:srgbClr val="C1553B"/>
                </a:solidFill>
                <a:latin typeface="Calibri" pitchFamily="34" charset="0"/>
                <a:ea typeface="Calibri" pitchFamily="34" charset="-122"/>
                <a:cs typeface="Calibri" pitchFamily="34" charset="-120"/>
              </a:rPr>
              <a:t>The problem:  </a:t>
            </a:r>
            <a:pPr indent="0" marL="0">
              <a:buNone/>
            </a:pPr>
            <a:r>
              <a:rPr lang="en-US" sz="1250" dirty="0">
                <a:solidFill>
                  <a:srgbClr val="15272E"/>
                </a:solidFill>
                <a:latin typeface="Calibri" pitchFamily="34" charset="0"/>
                <a:ea typeface="Calibri" pitchFamily="34" charset="-122"/>
                <a:cs typeface="Calibri" pitchFamily="34" charset="-120"/>
              </a:rPr>
              <a:t>both files carry latitude and longitude, but IMD coordinates are a fixed 0.25 degree lattice while wells sit at arbitrary points. Only 3 of 2,759 wells match an IMD coordinate exactly.</a:t>
            </a:r>
            <a:endParaRPr lang="en-US" sz="1250" dirty="0"/>
          </a:p>
        </p:txBody>
      </p:sp>
      <p:sp>
        <p:nvSpPr>
          <p:cNvPr id="6" name="Shape 4"/>
          <p:cNvSpPr/>
          <p:nvPr/>
        </p:nvSpPr>
        <p:spPr>
          <a:xfrm>
            <a:off x="548640" y="2377440"/>
            <a:ext cx="3529584" cy="2057400"/>
          </a:xfrm>
          <a:prstGeom prst="roundRect">
            <a:avLst>
              <a:gd name="adj" fmla="val 2667"/>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7" name="Shape 5"/>
          <p:cNvSpPr/>
          <p:nvPr/>
        </p:nvSpPr>
        <p:spPr>
          <a:xfrm>
            <a:off x="822960" y="2633472"/>
            <a:ext cx="420624" cy="420624"/>
          </a:xfrm>
          <a:prstGeom prst="ellipse">
            <a:avLst/>
          </a:prstGeom>
          <a:solidFill>
            <a:srgbClr val="0B3C49"/>
          </a:solidFill>
          <a:ln w="12700">
            <a:solidFill>
              <a:srgbClr val="0B3C49"/>
            </a:solidFill>
            <a:prstDash val="solid"/>
          </a:ln>
        </p:spPr>
      </p:sp>
      <p:sp>
        <p:nvSpPr>
          <p:cNvPr id="8" name="Text 6"/>
          <p:cNvSpPr txBox="1"/>
          <p:nvPr/>
        </p:nvSpPr>
        <p:spPr>
          <a:xfrm>
            <a:off x="822960" y="2688336"/>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371600" y="2679192"/>
            <a:ext cx="2560320" cy="329184"/>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Spatial join</a:t>
            </a:r>
            <a:endParaRPr lang="en-US" sz="1600" dirty="0"/>
          </a:p>
        </p:txBody>
      </p:sp>
      <p:sp>
        <p:nvSpPr>
          <p:cNvPr id="10" name="Text 8"/>
          <p:cNvSpPr txBox="1"/>
          <p:nvPr/>
        </p:nvSpPr>
        <p:spPr>
          <a:xfrm>
            <a:off x="822960" y="3145536"/>
            <a:ext cx="2980944" cy="1188720"/>
          </a:xfrm>
          <a:prstGeom prst="rect">
            <a:avLst/>
          </a:prstGeom>
          <a:noFill/>
          <a:ln/>
        </p:spPr>
        <p:txBody>
          <a:bodyPr wrap="square" lIns="0" tIns="0" rIns="0" bIns="0" rtlCol="0" anchor="t"/>
          <a:lstStyle/>
          <a:p>
            <a:pPr indent="0" marL="0">
              <a:lnSpc>
                <a:spcPts val="1500"/>
              </a:lnSpc>
              <a:buNone/>
            </a:pPr>
            <a:r>
              <a:rPr lang="en-US" sz="1150" dirty="0">
                <a:solidFill>
                  <a:srgbClr val="15272E"/>
                </a:solidFill>
                <a:latin typeface="Calibri" pitchFamily="34" charset="0"/>
                <a:ea typeface="Calibri" pitchFamily="34" charset="-122"/>
                <a:cs typeface="Calibri" pitchFamily="34" charset="-120"/>
              </a:rPr>
              <a:t>Each well is snapped to its nearest grid node, giving a cell_id key. 2,759 wells fall into 1,547 cells, an average of 10.2 km from the well to the cell centre.</a:t>
            </a:r>
            <a:endParaRPr lang="en-US" sz="1150" dirty="0"/>
          </a:p>
        </p:txBody>
      </p:sp>
      <p:sp>
        <p:nvSpPr>
          <p:cNvPr id="11" name="Shape 9"/>
          <p:cNvSpPr/>
          <p:nvPr/>
        </p:nvSpPr>
        <p:spPr>
          <a:xfrm>
            <a:off x="4315968" y="2377440"/>
            <a:ext cx="3529584" cy="2057400"/>
          </a:xfrm>
          <a:prstGeom prst="roundRect">
            <a:avLst>
              <a:gd name="adj" fmla="val 2667"/>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12" name="Shape 10"/>
          <p:cNvSpPr/>
          <p:nvPr/>
        </p:nvSpPr>
        <p:spPr>
          <a:xfrm>
            <a:off x="4590288" y="2633472"/>
            <a:ext cx="420624" cy="420624"/>
          </a:xfrm>
          <a:prstGeom prst="ellipse">
            <a:avLst/>
          </a:prstGeom>
          <a:solidFill>
            <a:srgbClr val="0B3C49"/>
          </a:solidFill>
          <a:ln w="12700">
            <a:solidFill>
              <a:srgbClr val="0B3C49"/>
            </a:solidFill>
            <a:prstDash val="solid"/>
          </a:ln>
        </p:spPr>
      </p:sp>
      <p:sp>
        <p:nvSpPr>
          <p:cNvPr id="13" name="Text 11"/>
          <p:cNvSpPr txBox="1"/>
          <p:nvPr/>
        </p:nvSpPr>
        <p:spPr>
          <a:xfrm>
            <a:off x="4590288" y="2688336"/>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138928" y="2679192"/>
            <a:ext cx="2560320" cy="329184"/>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Temporal join</a:t>
            </a:r>
            <a:endParaRPr lang="en-US" sz="1600" dirty="0"/>
          </a:p>
        </p:txBody>
      </p:sp>
      <p:sp>
        <p:nvSpPr>
          <p:cNvPr id="15" name="Text 13"/>
          <p:cNvSpPr txBox="1"/>
          <p:nvPr/>
        </p:nvSpPr>
        <p:spPr>
          <a:xfrm>
            <a:off x="4590288" y="3145536"/>
            <a:ext cx="2980944" cy="1188720"/>
          </a:xfrm>
          <a:prstGeom prst="rect">
            <a:avLst/>
          </a:prstGeom>
          <a:noFill/>
          <a:ln/>
        </p:spPr>
        <p:txBody>
          <a:bodyPr wrap="square" lIns="0" tIns="0" rIns="0" bIns="0" rtlCol="0" anchor="t"/>
          <a:lstStyle/>
          <a:p>
            <a:pPr indent="0" marL="0">
              <a:lnSpc>
                <a:spcPts val="1500"/>
              </a:lnSpc>
              <a:buNone/>
            </a:pPr>
            <a:r>
              <a:rPr lang="en-US" sz="1150" dirty="0">
                <a:solidFill>
                  <a:srgbClr val="15272E"/>
                </a:solidFill>
                <a:latin typeface="Calibri" pitchFamily="34" charset="0"/>
                <a:ea typeface="Calibri" pitchFamily="34" charset="-122"/>
                <a:cs typeface="Calibri" pitchFamily="34" charset="-120"/>
              </a:rPr>
              <a:t>Daily rainfall is aggregated to monthly totals and rainy day counts, then joined on cell and the month of the reading. Only trailing history is attached.</a:t>
            </a:r>
            <a:endParaRPr lang="en-US" sz="1150" dirty="0"/>
          </a:p>
        </p:txBody>
      </p:sp>
      <p:sp>
        <p:nvSpPr>
          <p:cNvPr id="16" name="Shape 14"/>
          <p:cNvSpPr/>
          <p:nvPr/>
        </p:nvSpPr>
        <p:spPr>
          <a:xfrm>
            <a:off x="8083296" y="2377440"/>
            <a:ext cx="3529584" cy="2057400"/>
          </a:xfrm>
          <a:prstGeom prst="roundRect">
            <a:avLst>
              <a:gd name="adj" fmla="val 2667"/>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17" name="Shape 15"/>
          <p:cNvSpPr/>
          <p:nvPr/>
        </p:nvSpPr>
        <p:spPr>
          <a:xfrm>
            <a:off x="8357616" y="2633472"/>
            <a:ext cx="420624" cy="420624"/>
          </a:xfrm>
          <a:prstGeom prst="ellipse">
            <a:avLst/>
          </a:prstGeom>
          <a:solidFill>
            <a:srgbClr val="0B3C49"/>
          </a:solidFill>
          <a:ln w="12700">
            <a:solidFill>
              <a:srgbClr val="0B3C49"/>
            </a:solidFill>
            <a:prstDash val="solid"/>
          </a:ln>
        </p:spPr>
      </p:sp>
      <p:sp>
        <p:nvSpPr>
          <p:cNvPr id="18" name="Text 16"/>
          <p:cNvSpPr txBox="1"/>
          <p:nvPr/>
        </p:nvSpPr>
        <p:spPr>
          <a:xfrm>
            <a:off x="8357616" y="2688336"/>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8906256" y="2679192"/>
            <a:ext cx="2560320" cy="329184"/>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District roll up</a:t>
            </a:r>
            <a:endParaRPr lang="en-US" sz="1600" dirty="0"/>
          </a:p>
        </p:txBody>
      </p:sp>
      <p:sp>
        <p:nvSpPr>
          <p:cNvPr id="20" name="Text 18"/>
          <p:cNvSpPr txBox="1"/>
          <p:nvPr/>
        </p:nvSpPr>
        <p:spPr>
          <a:xfrm>
            <a:off x="8357616" y="3145536"/>
            <a:ext cx="2980944" cy="1188720"/>
          </a:xfrm>
          <a:prstGeom prst="rect">
            <a:avLst/>
          </a:prstGeom>
          <a:noFill/>
          <a:ln/>
        </p:spPr>
        <p:txBody>
          <a:bodyPr wrap="square" lIns="0" tIns="0" rIns="0" bIns="0" rtlCol="0" anchor="t"/>
          <a:lstStyle/>
          <a:p>
            <a:pPr indent="0" marL="0">
              <a:lnSpc>
                <a:spcPts val="1500"/>
              </a:lnSpc>
              <a:buNone/>
            </a:pPr>
            <a:r>
              <a:rPr lang="en-US" sz="1150" dirty="0">
                <a:solidFill>
                  <a:srgbClr val="15272E"/>
                </a:solidFill>
                <a:latin typeface="Calibri" pitchFamily="34" charset="0"/>
                <a:ea typeface="Calibri" pitchFamily="34" charset="-122"/>
                <a:cs typeface="Calibri" pitchFamily="34" charset="-120"/>
              </a:rPr>
              <a:t>Wells aggregate using CGWB's own district column, so no district name is ever matched across datasets and boundary changes cannot corrupt the join.</a:t>
            </a:r>
            <a:endParaRPr lang="en-US" sz="1150" dirty="0"/>
          </a:p>
        </p:txBody>
      </p:sp>
      <p:sp>
        <p:nvSpPr>
          <p:cNvPr id="21" name="Shape 19"/>
          <p:cNvSpPr/>
          <p:nvPr/>
        </p:nvSpPr>
        <p:spPr>
          <a:xfrm>
            <a:off x="548640" y="4700016"/>
            <a:ext cx="11064240" cy="1097280"/>
          </a:xfrm>
          <a:prstGeom prst="roundRect">
            <a:avLst>
              <a:gd name="adj" fmla="val 5000"/>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22" name="Text 20"/>
          <p:cNvSpPr txBox="1"/>
          <p:nvPr/>
        </p:nvSpPr>
        <p:spPr>
          <a:xfrm>
            <a:off x="822960" y="4901184"/>
            <a:ext cx="2377440" cy="475488"/>
          </a:xfrm>
          <a:prstGeom prst="rect">
            <a:avLst/>
          </a:prstGeom>
          <a:noFill/>
          <a:ln/>
        </p:spPr>
        <p:txBody>
          <a:bodyPr wrap="square" lIns="0" tIns="0" rIns="0" bIns="0" rtlCol="0" anchor="ctr"/>
          <a:lstStyle/>
          <a:p>
            <a:pPr algn="ctr" indent="0" marL="0">
              <a:buNone/>
            </a:pPr>
            <a:r>
              <a:rPr lang="en-US" sz="2800" b="1" dirty="0">
                <a:solidFill>
                  <a:srgbClr val="1C7293"/>
                </a:solidFill>
                <a:latin typeface="Cambria" pitchFamily="34" charset="0"/>
                <a:ea typeface="Cambria" pitchFamily="34" charset="-122"/>
                <a:cs typeface="Cambria" pitchFamily="34" charset="-120"/>
              </a:rPr>
              <a:t>464,100</a:t>
            </a:r>
            <a:endParaRPr lang="en-US" sz="2800" dirty="0"/>
          </a:p>
        </p:txBody>
      </p:sp>
      <p:sp>
        <p:nvSpPr>
          <p:cNvPr id="23" name="Text 21"/>
          <p:cNvSpPr txBox="1"/>
          <p:nvPr/>
        </p:nvSpPr>
        <p:spPr>
          <a:xfrm>
            <a:off x="822960" y="5358384"/>
            <a:ext cx="2377440" cy="274320"/>
          </a:xfrm>
          <a:prstGeom prst="rect">
            <a:avLst/>
          </a:prstGeom>
          <a:noFill/>
          <a:ln/>
        </p:spPr>
        <p:txBody>
          <a:bodyPr wrap="square" lIns="0" tIns="0" rIns="0" bIns="0" rtlCol="0" anchor="ctr"/>
          <a:lstStyle/>
          <a:p>
            <a:pPr algn="ctr" indent="0" marL="0">
              <a:buNone/>
            </a:pPr>
            <a:r>
              <a:rPr lang="en-US" sz="1050" dirty="0">
                <a:solidFill>
                  <a:srgbClr val="5A737D"/>
                </a:solidFill>
                <a:latin typeface="Calibri" pitchFamily="34" charset="0"/>
                <a:ea typeface="Calibri" pitchFamily="34" charset="-122"/>
                <a:cs typeface="Calibri" pitchFamily="34" charset="-120"/>
              </a:rPr>
              <a:t>cell months of rainfall</a:t>
            </a:r>
            <a:endParaRPr lang="en-US" sz="1050" dirty="0"/>
          </a:p>
        </p:txBody>
      </p:sp>
      <p:sp>
        <p:nvSpPr>
          <p:cNvPr id="24" name="Text 22"/>
          <p:cNvSpPr txBox="1"/>
          <p:nvPr/>
        </p:nvSpPr>
        <p:spPr>
          <a:xfrm>
            <a:off x="3566160" y="4901184"/>
            <a:ext cx="2377440" cy="475488"/>
          </a:xfrm>
          <a:prstGeom prst="rect">
            <a:avLst/>
          </a:prstGeom>
          <a:noFill/>
          <a:ln/>
        </p:spPr>
        <p:txBody>
          <a:bodyPr wrap="square" lIns="0" tIns="0" rIns="0" bIns="0" rtlCol="0" anchor="ctr"/>
          <a:lstStyle/>
          <a:p>
            <a:pPr algn="ctr" indent="0" marL="0">
              <a:buNone/>
            </a:pPr>
            <a:r>
              <a:rPr lang="en-US" sz="2800" b="1" dirty="0">
                <a:solidFill>
                  <a:srgbClr val="1C7293"/>
                </a:solidFill>
                <a:latin typeface="Cambria" pitchFamily="34" charset="0"/>
                <a:ea typeface="Cambria" pitchFamily="34" charset="-122"/>
                <a:cs typeface="Cambria" pitchFamily="34" charset="-120"/>
              </a:rPr>
              <a:t>253,828</a:t>
            </a:r>
            <a:endParaRPr lang="en-US" sz="2800" dirty="0"/>
          </a:p>
        </p:txBody>
      </p:sp>
      <p:sp>
        <p:nvSpPr>
          <p:cNvPr id="25" name="Text 23"/>
          <p:cNvSpPr txBox="1"/>
          <p:nvPr/>
        </p:nvSpPr>
        <p:spPr>
          <a:xfrm>
            <a:off x="3566160" y="5358384"/>
            <a:ext cx="2377440" cy="274320"/>
          </a:xfrm>
          <a:prstGeom prst="rect">
            <a:avLst/>
          </a:prstGeom>
          <a:noFill/>
          <a:ln/>
        </p:spPr>
        <p:txBody>
          <a:bodyPr wrap="square" lIns="0" tIns="0" rIns="0" bIns="0" rtlCol="0" anchor="ctr"/>
          <a:lstStyle/>
          <a:p>
            <a:pPr algn="ctr" indent="0" marL="0">
              <a:buNone/>
            </a:pPr>
            <a:r>
              <a:rPr lang="en-US" sz="1050" dirty="0">
                <a:solidFill>
                  <a:srgbClr val="5A737D"/>
                </a:solidFill>
                <a:latin typeface="Calibri" pitchFamily="34" charset="0"/>
                <a:ea typeface="Calibri" pitchFamily="34" charset="-122"/>
                <a:cs typeface="Calibri" pitchFamily="34" charset="-120"/>
              </a:rPr>
              <a:t>well season observations</a:t>
            </a:r>
            <a:endParaRPr lang="en-US" sz="1050" dirty="0"/>
          </a:p>
        </p:txBody>
      </p:sp>
      <p:sp>
        <p:nvSpPr>
          <p:cNvPr id="26" name="Text 24"/>
          <p:cNvSpPr txBox="1"/>
          <p:nvPr/>
        </p:nvSpPr>
        <p:spPr>
          <a:xfrm>
            <a:off x="6309360" y="4901184"/>
            <a:ext cx="2377440" cy="475488"/>
          </a:xfrm>
          <a:prstGeom prst="rect">
            <a:avLst/>
          </a:prstGeom>
          <a:noFill/>
          <a:ln/>
        </p:spPr>
        <p:txBody>
          <a:bodyPr wrap="square" lIns="0" tIns="0" rIns="0" bIns="0" rtlCol="0" anchor="ctr"/>
          <a:lstStyle/>
          <a:p>
            <a:pPr algn="ctr" indent="0" marL="0">
              <a:buNone/>
            </a:pPr>
            <a:r>
              <a:rPr lang="en-US" sz="2800" b="1" dirty="0">
                <a:solidFill>
                  <a:srgbClr val="1C7293"/>
                </a:solidFill>
                <a:latin typeface="Cambria" pitchFamily="34" charset="0"/>
                <a:ea typeface="Cambria" pitchFamily="34" charset="-122"/>
                <a:cs typeface="Cambria" pitchFamily="34" charset="-120"/>
              </a:rPr>
              <a:t>22,715</a:t>
            </a:r>
            <a:endParaRPr lang="en-US" sz="2800" dirty="0"/>
          </a:p>
        </p:txBody>
      </p:sp>
      <p:sp>
        <p:nvSpPr>
          <p:cNvPr id="27" name="Text 25"/>
          <p:cNvSpPr txBox="1"/>
          <p:nvPr/>
        </p:nvSpPr>
        <p:spPr>
          <a:xfrm>
            <a:off x="6309360" y="5358384"/>
            <a:ext cx="2377440" cy="274320"/>
          </a:xfrm>
          <a:prstGeom prst="rect">
            <a:avLst/>
          </a:prstGeom>
          <a:noFill/>
          <a:ln/>
        </p:spPr>
        <p:txBody>
          <a:bodyPr wrap="square" lIns="0" tIns="0" rIns="0" bIns="0" rtlCol="0" anchor="ctr"/>
          <a:lstStyle/>
          <a:p>
            <a:pPr algn="ctr" indent="0" marL="0">
              <a:buNone/>
            </a:pPr>
            <a:r>
              <a:rPr lang="en-US" sz="1050" dirty="0">
                <a:solidFill>
                  <a:srgbClr val="5A737D"/>
                </a:solidFill>
                <a:latin typeface="Calibri" pitchFamily="34" charset="0"/>
                <a:ea typeface="Calibri" pitchFamily="34" charset="-122"/>
                <a:cs typeface="Calibri" pitchFamily="34" charset="-120"/>
              </a:rPr>
              <a:t>rows in the final data set</a:t>
            </a:r>
            <a:endParaRPr lang="en-US" sz="1050" dirty="0"/>
          </a:p>
        </p:txBody>
      </p:sp>
      <p:sp>
        <p:nvSpPr>
          <p:cNvPr id="28" name="Text 26"/>
          <p:cNvSpPr txBox="1"/>
          <p:nvPr/>
        </p:nvSpPr>
        <p:spPr>
          <a:xfrm>
            <a:off x="9052560" y="4901184"/>
            <a:ext cx="2286000" cy="475488"/>
          </a:xfrm>
          <a:prstGeom prst="rect">
            <a:avLst/>
          </a:prstGeom>
          <a:noFill/>
          <a:ln/>
        </p:spPr>
        <p:txBody>
          <a:bodyPr wrap="square" lIns="0" tIns="0" rIns="0" bIns="0" rtlCol="0" anchor="ctr"/>
          <a:lstStyle/>
          <a:p>
            <a:pPr algn="ctr" indent="0" marL="0">
              <a:buNone/>
            </a:pPr>
            <a:r>
              <a:rPr lang="en-US" sz="2800" b="1" dirty="0">
                <a:solidFill>
                  <a:srgbClr val="C1553B"/>
                </a:solidFill>
                <a:latin typeface="Cambria" pitchFamily="34" charset="0"/>
                <a:ea typeface="Cambria" pitchFamily="34" charset="-122"/>
                <a:cs typeface="Cambria" pitchFamily="34" charset="-120"/>
              </a:rPr>
              <a:t>272</a:t>
            </a:r>
            <a:endParaRPr lang="en-US" sz="2800" dirty="0"/>
          </a:p>
        </p:txBody>
      </p:sp>
      <p:sp>
        <p:nvSpPr>
          <p:cNvPr id="29" name="Text 27"/>
          <p:cNvSpPr txBox="1"/>
          <p:nvPr/>
        </p:nvSpPr>
        <p:spPr>
          <a:xfrm>
            <a:off x="9052560" y="5358384"/>
            <a:ext cx="2286000" cy="274320"/>
          </a:xfrm>
          <a:prstGeom prst="rect">
            <a:avLst/>
          </a:prstGeom>
          <a:noFill/>
          <a:ln/>
        </p:spPr>
        <p:txBody>
          <a:bodyPr wrap="square" lIns="0" tIns="0" rIns="0" bIns="0" rtlCol="0" anchor="ctr"/>
          <a:lstStyle/>
          <a:p>
            <a:pPr algn="ctr" indent="0" marL="0">
              <a:buNone/>
            </a:pPr>
            <a:r>
              <a:rPr lang="en-US" sz="1050" dirty="0">
                <a:solidFill>
                  <a:srgbClr val="5A737D"/>
                </a:solidFill>
                <a:latin typeface="Calibri" pitchFamily="34" charset="0"/>
                <a:ea typeface="Calibri" pitchFamily="34" charset="-122"/>
                <a:cs typeface="Calibri" pitchFamily="34" charset="-120"/>
              </a:rPr>
              <a:t>districts retained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Cleanup, feature engineering, correlation</a:t>
            </a:r>
            <a:endParaRPr lang="en-US" sz="3400" dirty="0"/>
          </a:p>
        </p:txBody>
      </p:sp>
      <p:sp>
        <p:nvSpPr>
          <p:cNvPr id="3" name="Text 1"/>
          <p:cNvSpPr txBox="1"/>
          <p:nvPr/>
        </p:nvSpPr>
        <p:spPr>
          <a:xfrm>
            <a:off x="548640" y="941832"/>
            <a:ext cx="11064240" cy="310896"/>
          </a:xfrm>
          <a:prstGeom prst="rect">
            <a:avLst/>
          </a:prstGeom>
          <a:noFill/>
          <a:ln/>
        </p:spPr>
        <p:txBody>
          <a:bodyPr wrap="square" lIns="0" tIns="0" rIns="0" bIns="0" rtlCol="0" anchor="ctr"/>
          <a:lstStyle/>
          <a:p>
            <a:pPr indent="0" marL="0">
              <a:buNone/>
            </a:pPr>
            <a:r>
              <a:rPr lang="en-US" sz="1400" i="1" dirty="0">
                <a:solidFill>
                  <a:srgbClr val="5A737D"/>
                </a:solidFill>
                <a:latin typeface="Calibri" pitchFamily="34" charset="0"/>
                <a:ea typeface="Calibri" pitchFamily="34" charset="-122"/>
                <a:cs typeface="Calibri" pitchFamily="34" charset="-120"/>
              </a:rPr>
              <a:t>Everything between the raw files and a modelling table</a:t>
            </a:r>
            <a:endParaRPr lang="en-US" sz="1400" dirty="0"/>
          </a:p>
        </p:txBody>
      </p:sp>
      <p:sp>
        <p:nvSpPr>
          <p:cNvPr id="4" name="Shape 2"/>
          <p:cNvSpPr/>
          <p:nvPr/>
        </p:nvSpPr>
        <p:spPr>
          <a:xfrm>
            <a:off x="548640" y="1417320"/>
            <a:ext cx="3529584" cy="4526280"/>
          </a:xfrm>
          <a:prstGeom prst="roundRect">
            <a:avLst>
              <a:gd name="adj" fmla="val 1554"/>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5" name="Shape 3"/>
          <p:cNvSpPr/>
          <p:nvPr/>
        </p:nvSpPr>
        <p:spPr>
          <a:xfrm>
            <a:off x="822960" y="1673352"/>
            <a:ext cx="384048" cy="384048"/>
          </a:xfrm>
          <a:prstGeom prst="ellipse">
            <a:avLst/>
          </a:prstGeom>
          <a:solidFill>
            <a:srgbClr val="C1553B"/>
          </a:solidFill>
          <a:ln w="12700">
            <a:solidFill>
              <a:srgbClr val="C1553B"/>
            </a:solidFill>
            <a:prstDash val="solid"/>
          </a:ln>
        </p:spPr>
      </p:sp>
      <p:sp>
        <p:nvSpPr>
          <p:cNvPr id="6" name="Text 4"/>
          <p:cNvSpPr txBox="1"/>
          <p:nvPr/>
        </p:nvSpPr>
        <p:spPr>
          <a:xfrm>
            <a:off x="1325880" y="1682496"/>
            <a:ext cx="2651760" cy="365760"/>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Data cleanup</a:t>
            </a:r>
            <a:endParaRPr lang="en-US" sz="1600" dirty="0"/>
          </a:p>
        </p:txBody>
      </p:sp>
      <p:sp>
        <p:nvSpPr>
          <p:cNvPr id="7" name="Text 5"/>
          <p:cNvSpPr txBox="1"/>
          <p:nvPr/>
        </p:nvSpPr>
        <p:spPr>
          <a:xfrm>
            <a:off x="822960" y="2212848"/>
            <a:ext cx="2980944" cy="3566160"/>
          </a:xfrm>
          <a:prstGeom prst="rect">
            <a:avLst/>
          </a:prstGeom>
          <a:noFill/>
          <a:ln/>
        </p:spPr>
        <p:txBody>
          <a:bodyPr wrap="square" lIns="0" tIns="0" rIns="0" bIns="0" rtlCol="0" anchor="t"/>
          <a:lstStyle/>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Station Code is corrupted by scientific notation, only 182 unique codes for 2,759 wells, so a minted well_id replaces it</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13.6 percent of readings missing, concentrated in May at about 30 percent because dug wells run dry before the monsoon</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The target is never imputed. Imputing levels would fabricate the signal later read as extraction</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Districts need at least three wells, keeping 272 of 365</a:t>
            </a:r>
            <a:endParaRPr lang="en-US" sz="1050" dirty="0"/>
          </a:p>
        </p:txBody>
      </p:sp>
      <p:sp>
        <p:nvSpPr>
          <p:cNvPr id="8" name="Shape 6"/>
          <p:cNvSpPr/>
          <p:nvPr/>
        </p:nvSpPr>
        <p:spPr>
          <a:xfrm>
            <a:off x="4315968" y="1417320"/>
            <a:ext cx="3529584" cy="4526280"/>
          </a:xfrm>
          <a:prstGeom prst="roundRect">
            <a:avLst>
              <a:gd name="adj" fmla="val 1554"/>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9" name="Shape 7"/>
          <p:cNvSpPr/>
          <p:nvPr/>
        </p:nvSpPr>
        <p:spPr>
          <a:xfrm>
            <a:off x="4590288" y="1673352"/>
            <a:ext cx="384048" cy="384048"/>
          </a:xfrm>
          <a:prstGeom prst="ellipse">
            <a:avLst/>
          </a:prstGeom>
          <a:solidFill>
            <a:srgbClr val="1C7293"/>
          </a:solidFill>
          <a:ln w="12700">
            <a:solidFill>
              <a:srgbClr val="1C7293"/>
            </a:solidFill>
            <a:prstDash val="solid"/>
          </a:ln>
        </p:spPr>
      </p:sp>
      <p:sp>
        <p:nvSpPr>
          <p:cNvPr id="10" name="Text 8"/>
          <p:cNvSpPr txBox="1"/>
          <p:nvPr/>
        </p:nvSpPr>
        <p:spPr>
          <a:xfrm>
            <a:off x="5093208" y="1682496"/>
            <a:ext cx="2651760" cy="365760"/>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Feature engineering</a:t>
            </a:r>
            <a:endParaRPr lang="en-US" sz="1600" dirty="0"/>
          </a:p>
        </p:txBody>
      </p:sp>
      <p:sp>
        <p:nvSpPr>
          <p:cNvPr id="11" name="Text 9"/>
          <p:cNvSpPr txBox="1"/>
          <p:nvPr/>
        </p:nvSpPr>
        <p:spPr>
          <a:xfrm>
            <a:off x="4590288" y="2212848"/>
            <a:ext cx="2980944" cy="3566160"/>
          </a:xfrm>
          <a:prstGeom prst="rect">
            <a:avLst/>
          </a:prstGeom>
          <a:noFill/>
          <a:ln/>
        </p:spPr>
        <p:txBody>
          <a:bodyPr wrap="square" lIns="0" tIns="0" rIns="0" bIns="0" rtlCol="0" anchor="t"/>
          <a:lstStyle/>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Ground rule: nothing the model could not have known on the day of the reading</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How much rain fell recently, as totals over the last 3, 6, 12, 24 and 36 months. Shallow wells react within months, while deep storage takes years</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How the rain arrived, as a count of rainy days, because many light showers soak in while one cloudburst mostly runs off</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A dry year or simply a dry place, by measuring rainfall against that location own normal so an arid district is not judged by a wet district standard</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Last year level at the same well, because an aquifer remembers where it started</a:t>
            </a:r>
            <a:endParaRPr lang="en-US" sz="1050" dirty="0"/>
          </a:p>
        </p:txBody>
      </p:sp>
      <p:sp>
        <p:nvSpPr>
          <p:cNvPr id="12" name="Shape 10"/>
          <p:cNvSpPr/>
          <p:nvPr/>
        </p:nvSpPr>
        <p:spPr>
          <a:xfrm>
            <a:off x="8083296" y="1417320"/>
            <a:ext cx="3529584" cy="4526280"/>
          </a:xfrm>
          <a:prstGeom prst="roundRect">
            <a:avLst>
              <a:gd name="adj" fmla="val 1554"/>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13" name="Shape 11"/>
          <p:cNvSpPr/>
          <p:nvPr/>
        </p:nvSpPr>
        <p:spPr>
          <a:xfrm>
            <a:off x="8357616" y="1673352"/>
            <a:ext cx="384048" cy="384048"/>
          </a:xfrm>
          <a:prstGeom prst="ellipse">
            <a:avLst/>
          </a:prstGeom>
          <a:solidFill>
            <a:srgbClr val="0B3C49"/>
          </a:solidFill>
          <a:ln w="12700">
            <a:solidFill>
              <a:srgbClr val="0B3C49"/>
            </a:solidFill>
            <a:prstDash val="solid"/>
          </a:ln>
        </p:spPr>
      </p:sp>
      <p:sp>
        <p:nvSpPr>
          <p:cNvPr id="14" name="Text 12"/>
          <p:cNvSpPr txBox="1"/>
          <p:nvPr/>
        </p:nvSpPr>
        <p:spPr>
          <a:xfrm>
            <a:off x="8860536" y="1682496"/>
            <a:ext cx="2651760" cy="365760"/>
          </a:xfrm>
          <a:prstGeom prst="rect">
            <a:avLst/>
          </a:prstGeom>
          <a:noFill/>
          <a:ln/>
        </p:spPr>
        <p:txBody>
          <a:bodyPr wrap="square" lIns="0" tIns="0" rIns="0" bIns="0" rtlCol="0" anchor="ctr"/>
          <a:lstStyle/>
          <a:p>
            <a:pPr indent="0" marL="0">
              <a:buNone/>
            </a:pPr>
            <a:r>
              <a:rPr lang="en-US" sz="1600" b="1" dirty="0">
                <a:solidFill>
                  <a:srgbClr val="0B3C49"/>
                </a:solidFill>
                <a:latin typeface="Cambria" pitchFamily="34" charset="0"/>
                <a:ea typeface="Cambria" pitchFamily="34" charset="-122"/>
                <a:cs typeface="Cambria" pitchFamily="34" charset="-120"/>
              </a:rPr>
              <a:t>Correlation</a:t>
            </a:r>
            <a:endParaRPr lang="en-US" sz="1600" dirty="0"/>
          </a:p>
        </p:txBody>
      </p:sp>
      <p:sp>
        <p:nvSpPr>
          <p:cNvPr id="15" name="Text 13"/>
          <p:cNvSpPr txBox="1"/>
          <p:nvPr/>
        </p:nvSpPr>
        <p:spPr>
          <a:xfrm>
            <a:off x="8357616" y="2212848"/>
            <a:ext cx="2980944" cy="3566160"/>
          </a:xfrm>
          <a:prstGeom prst="rect">
            <a:avLst/>
          </a:prstGeom>
          <a:noFill/>
          <a:ln/>
        </p:spPr>
        <p:txBody>
          <a:bodyPr wrap="square" lIns="0" tIns="0" rIns="0" bIns="0" rtlCol="0" anchor="t"/>
          <a:lstStyle/>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More rain means a shallower water table. Since the target is a depth, that shows up as a negative correlation, strongest over the last three to six months</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Comparing districts with each other mixes two stories: wet regions simply have shallower water, and wet years lift the water. Looking inside each district separates them, and 96 percent then behave as the physics predicts</a:t>
            </a:r>
            <a:endParaRPr lang="en-US" sz="1050" dirty="0"/>
          </a:p>
          <a:p>
            <a:pPr marL="342900" indent="-342900">
              <a:lnSpc>
                <a:spcPts val="1344"/>
              </a:lnSpc>
              <a:spcAft>
                <a:spcPts val="700"/>
              </a:spcAft>
              <a:buSzPct val="100000"/>
              <a:buChar char="•"/>
            </a:pPr>
            <a:r>
              <a:rPr lang="en-US" sz="1050" dirty="0">
                <a:solidFill>
                  <a:srgbClr val="15272E"/>
                </a:solidFill>
                <a:latin typeface="Calibri" pitchFamily="34" charset="0"/>
                <a:ea typeface="Calibri" pitchFamily="34" charset="-122"/>
                <a:cs typeface="Calibri" pitchFamily="34" charset="-120"/>
              </a:rPr>
              <a:t>Last year level predicts this year almost perfectly, but it already carries last year pumping inside it. Using it would hide the very thing we are trying to measure, so it stays out of the attribution model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Early baseline regression strategy</a:t>
            </a:r>
            <a:endParaRPr lang="en-US" sz="3400" dirty="0"/>
          </a:p>
        </p:txBody>
      </p:sp>
      <p:sp>
        <p:nvSpPr>
          <p:cNvPr id="3" name="Text 1"/>
          <p:cNvSpPr txBox="1"/>
          <p:nvPr/>
        </p:nvSpPr>
        <p:spPr>
          <a:xfrm>
            <a:off x="548640" y="941832"/>
            <a:ext cx="11064240" cy="310896"/>
          </a:xfrm>
          <a:prstGeom prst="rect">
            <a:avLst/>
          </a:prstGeom>
          <a:noFill/>
          <a:ln/>
        </p:spPr>
        <p:txBody>
          <a:bodyPr wrap="square" lIns="0" tIns="0" rIns="0" bIns="0" rtlCol="0" anchor="ctr"/>
          <a:lstStyle/>
          <a:p>
            <a:pPr indent="0" marL="0">
              <a:buNone/>
            </a:pPr>
            <a:r>
              <a:rPr lang="en-US" sz="1400" i="1" dirty="0">
                <a:solidFill>
                  <a:srgbClr val="5A737D"/>
                </a:solidFill>
                <a:latin typeface="Calibri" pitchFamily="34" charset="0"/>
                <a:ea typeface="Calibri" pitchFamily="34" charset="-122"/>
                <a:cs typeface="Calibri" pitchFamily="34" charset="-120"/>
              </a:rPr>
              <a:t>Model the rainfall expected level, then read what rainfall cannot explain</a:t>
            </a:r>
            <a:endParaRPr lang="en-US" sz="1400" dirty="0"/>
          </a:p>
        </p:txBody>
      </p:sp>
      <p:sp>
        <p:nvSpPr>
          <p:cNvPr id="4" name="Shape 2"/>
          <p:cNvSpPr/>
          <p:nvPr/>
        </p:nvSpPr>
        <p:spPr>
          <a:xfrm>
            <a:off x="548640" y="1517904"/>
            <a:ext cx="4572000" cy="749808"/>
          </a:xfrm>
          <a:prstGeom prst="roundRect">
            <a:avLst>
              <a:gd name="adj" fmla="val 7317"/>
            </a:avLst>
          </a:prstGeom>
          <a:solidFill>
            <a:srgbClr val="EDF3F6"/>
          </a:solidFill>
          <a:ln w="12700">
            <a:solidFill>
              <a:srgbClr val="1C7293"/>
            </a:solidFill>
            <a:prstDash val="solid"/>
          </a:ln>
          <a:effectLst>
            <a:outerShdw sx="100000" sy="100000" kx="0" ky="0" algn="bl" rotWithShape="0" blurRad="101600" dist="25400" dir="5400000">
              <a:srgbClr val="9FB3BC">
                <a:alpha val="35000"/>
              </a:srgbClr>
            </a:outerShdw>
          </a:effectLst>
        </p:spPr>
      </p:sp>
      <p:sp>
        <p:nvSpPr>
          <p:cNvPr id="5" name="Text 3"/>
          <p:cNvSpPr txBox="1"/>
          <p:nvPr/>
        </p:nvSpPr>
        <p:spPr>
          <a:xfrm>
            <a:off x="777240" y="1691640"/>
            <a:ext cx="4114800" cy="402336"/>
          </a:xfrm>
          <a:prstGeom prst="rect">
            <a:avLst/>
          </a:prstGeom>
          <a:noFill/>
          <a:ln/>
        </p:spPr>
        <p:txBody>
          <a:bodyPr wrap="square" lIns="0" tIns="0" rIns="0" bIns="0" rtlCol="0" anchor="ctr"/>
          <a:lstStyle/>
          <a:p>
            <a:pPr indent="0" marL="0">
              <a:buNone/>
            </a:pPr>
            <a:r>
              <a:rPr lang="en-US" sz="1400" dirty="0">
                <a:solidFill>
                  <a:srgbClr val="15272E"/>
                </a:solidFill>
                <a:latin typeface="Calibri" pitchFamily="34" charset="0"/>
                <a:ea typeface="Calibri" pitchFamily="34" charset="-122"/>
                <a:cs typeface="Calibri" pitchFamily="34" charset="-120"/>
              </a:rPr>
              <a:t>Rainfall history</a:t>
            </a:r>
            <a:endParaRPr lang="en-US" sz="1400" dirty="0"/>
          </a:p>
        </p:txBody>
      </p:sp>
      <p:sp>
        <p:nvSpPr>
          <p:cNvPr id="6" name="Shape 4"/>
          <p:cNvSpPr/>
          <p:nvPr/>
        </p:nvSpPr>
        <p:spPr>
          <a:xfrm>
            <a:off x="2752344" y="2304288"/>
            <a:ext cx="164592" cy="219456"/>
          </a:xfrm>
          <a:prstGeom prst="downArrow">
            <a:avLst/>
          </a:prstGeom>
          <a:solidFill>
            <a:srgbClr val="A8BFC8"/>
          </a:solidFill>
          <a:ln w="12700">
            <a:solidFill>
              <a:srgbClr val="A8BFC8"/>
            </a:solidFill>
            <a:prstDash val="solid"/>
          </a:ln>
        </p:spPr>
      </p:sp>
      <p:sp>
        <p:nvSpPr>
          <p:cNvPr id="7" name="Shape 5"/>
          <p:cNvSpPr/>
          <p:nvPr/>
        </p:nvSpPr>
        <p:spPr>
          <a:xfrm>
            <a:off x="548640" y="2578608"/>
            <a:ext cx="4572000" cy="749808"/>
          </a:xfrm>
          <a:prstGeom prst="roundRect">
            <a:avLst>
              <a:gd name="adj" fmla="val 7317"/>
            </a:avLst>
          </a:prstGeom>
          <a:solidFill>
            <a:srgbClr val="EDF3F6"/>
          </a:solidFill>
          <a:ln w="12700">
            <a:solidFill>
              <a:srgbClr val="1C7293"/>
            </a:solidFill>
            <a:prstDash val="solid"/>
          </a:ln>
          <a:effectLst>
            <a:outerShdw sx="100000" sy="100000" kx="0" ky="0" algn="bl" rotWithShape="0" blurRad="101600" dist="25400" dir="5400000">
              <a:srgbClr val="9FB3BC">
                <a:alpha val="35000"/>
              </a:srgbClr>
            </a:outerShdw>
          </a:effectLst>
        </p:spPr>
      </p:sp>
      <p:sp>
        <p:nvSpPr>
          <p:cNvPr id="8" name="Text 6"/>
          <p:cNvSpPr txBox="1"/>
          <p:nvPr/>
        </p:nvSpPr>
        <p:spPr>
          <a:xfrm>
            <a:off x="777240" y="2752344"/>
            <a:ext cx="4114800" cy="402336"/>
          </a:xfrm>
          <a:prstGeom prst="rect">
            <a:avLst/>
          </a:prstGeom>
          <a:noFill/>
          <a:ln/>
        </p:spPr>
        <p:txBody>
          <a:bodyPr wrap="square" lIns="0" tIns="0" rIns="0" bIns="0" rtlCol="0" anchor="ctr"/>
          <a:lstStyle/>
          <a:p>
            <a:pPr indent="0" marL="0">
              <a:buNone/>
            </a:pPr>
            <a:r>
              <a:rPr lang="en-US" sz="1400" dirty="0">
                <a:solidFill>
                  <a:srgbClr val="15272E"/>
                </a:solidFill>
                <a:latin typeface="Calibri" pitchFamily="34" charset="0"/>
                <a:ea typeface="Calibri" pitchFamily="34" charset="-122"/>
                <a:cs typeface="Calibri" pitchFamily="34" charset="-120"/>
              </a:rPr>
              <a:t>Rainfall expected level</a:t>
            </a:r>
            <a:endParaRPr lang="en-US" sz="1400" dirty="0"/>
          </a:p>
        </p:txBody>
      </p:sp>
      <p:sp>
        <p:nvSpPr>
          <p:cNvPr id="9" name="Shape 7"/>
          <p:cNvSpPr/>
          <p:nvPr/>
        </p:nvSpPr>
        <p:spPr>
          <a:xfrm>
            <a:off x="2752344" y="3364992"/>
            <a:ext cx="164592" cy="219456"/>
          </a:xfrm>
          <a:prstGeom prst="downArrow">
            <a:avLst/>
          </a:prstGeom>
          <a:solidFill>
            <a:srgbClr val="A8BFC8"/>
          </a:solidFill>
          <a:ln w="12700">
            <a:solidFill>
              <a:srgbClr val="A8BFC8"/>
            </a:solidFill>
            <a:prstDash val="solid"/>
          </a:ln>
        </p:spPr>
      </p:sp>
      <p:sp>
        <p:nvSpPr>
          <p:cNvPr id="10" name="Shape 8"/>
          <p:cNvSpPr/>
          <p:nvPr/>
        </p:nvSpPr>
        <p:spPr>
          <a:xfrm>
            <a:off x="548640" y="3639312"/>
            <a:ext cx="4572000" cy="749808"/>
          </a:xfrm>
          <a:prstGeom prst="roundRect">
            <a:avLst>
              <a:gd name="adj" fmla="val 7317"/>
            </a:avLst>
          </a:prstGeom>
          <a:solidFill>
            <a:srgbClr val="EDF3F6"/>
          </a:solidFill>
          <a:ln w="12700">
            <a:solidFill>
              <a:srgbClr val="0B3C49"/>
            </a:solidFill>
            <a:prstDash val="solid"/>
          </a:ln>
          <a:effectLst>
            <a:outerShdw sx="100000" sy="100000" kx="0" ky="0" algn="bl" rotWithShape="0" blurRad="101600" dist="25400" dir="5400000">
              <a:srgbClr val="9FB3BC">
                <a:alpha val="35000"/>
              </a:srgbClr>
            </a:outerShdw>
          </a:effectLst>
        </p:spPr>
      </p:sp>
      <p:sp>
        <p:nvSpPr>
          <p:cNvPr id="11" name="Text 9"/>
          <p:cNvSpPr txBox="1"/>
          <p:nvPr/>
        </p:nvSpPr>
        <p:spPr>
          <a:xfrm>
            <a:off x="777240" y="3813048"/>
            <a:ext cx="4114800" cy="402336"/>
          </a:xfrm>
          <a:prstGeom prst="rect">
            <a:avLst/>
          </a:prstGeom>
          <a:noFill/>
          <a:ln/>
        </p:spPr>
        <p:txBody>
          <a:bodyPr wrap="square" lIns="0" tIns="0" rIns="0" bIns="0" rtlCol="0" anchor="ctr"/>
          <a:lstStyle/>
          <a:p>
            <a:pPr indent="0" marL="0">
              <a:buNone/>
            </a:pPr>
            <a:r>
              <a:rPr lang="en-US" sz="1400" dirty="0">
                <a:solidFill>
                  <a:srgbClr val="15272E"/>
                </a:solidFill>
                <a:latin typeface="Calibri" pitchFamily="34" charset="0"/>
                <a:ea typeface="Calibri" pitchFamily="34" charset="-122"/>
                <a:cs typeface="Calibri" pitchFamily="34" charset="-120"/>
              </a:rPr>
              <a:t>Observed minus expected</a:t>
            </a:r>
            <a:endParaRPr lang="en-US" sz="1400" dirty="0"/>
          </a:p>
        </p:txBody>
      </p:sp>
      <p:sp>
        <p:nvSpPr>
          <p:cNvPr id="12" name="Shape 10"/>
          <p:cNvSpPr/>
          <p:nvPr/>
        </p:nvSpPr>
        <p:spPr>
          <a:xfrm>
            <a:off x="2752344" y="4425696"/>
            <a:ext cx="164592" cy="219456"/>
          </a:xfrm>
          <a:prstGeom prst="downArrow">
            <a:avLst/>
          </a:prstGeom>
          <a:solidFill>
            <a:srgbClr val="A8BFC8"/>
          </a:solidFill>
          <a:ln w="12700">
            <a:solidFill>
              <a:srgbClr val="A8BFC8"/>
            </a:solidFill>
            <a:prstDash val="solid"/>
          </a:ln>
        </p:spPr>
      </p:sp>
      <p:sp>
        <p:nvSpPr>
          <p:cNvPr id="13" name="Shape 11"/>
          <p:cNvSpPr/>
          <p:nvPr/>
        </p:nvSpPr>
        <p:spPr>
          <a:xfrm>
            <a:off x="548640" y="4700016"/>
            <a:ext cx="4572000" cy="749808"/>
          </a:xfrm>
          <a:prstGeom prst="roundRect">
            <a:avLst>
              <a:gd name="adj" fmla="val 7317"/>
            </a:avLst>
          </a:prstGeom>
          <a:solidFill>
            <a:srgbClr val="F6E7E2"/>
          </a:solidFill>
          <a:ln w="15875">
            <a:solidFill>
              <a:srgbClr val="C1553B"/>
            </a:solidFill>
            <a:prstDash val="solid"/>
          </a:ln>
          <a:effectLst>
            <a:outerShdw sx="100000" sy="100000" kx="0" ky="0" algn="bl" rotWithShape="0" blurRad="101600" dist="25400" dir="5400000">
              <a:srgbClr val="9FB3BC">
                <a:alpha val="35000"/>
              </a:srgbClr>
            </a:outerShdw>
          </a:effectLst>
        </p:spPr>
      </p:sp>
      <p:sp>
        <p:nvSpPr>
          <p:cNvPr id="14" name="Text 12"/>
          <p:cNvSpPr txBox="1"/>
          <p:nvPr/>
        </p:nvSpPr>
        <p:spPr>
          <a:xfrm>
            <a:off x="777240" y="4873752"/>
            <a:ext cx="4114800" cy="402336"/>
          </a:xfrm>
          <a:prstGeom prst="rect">
            <a:avLst/>
          </a:prstGeom>
          <a:noFill/>
          <a:ln/>
        </p:spPr>
        <p:txBody>
          <a:bodyPr wrap="square" lIns="0" tIns="0" rIns="0" bIns="0" rtlCol="0" anchor="ctr"/>
          <a:lstStyle/>
          <a:p>
            <a:pPr indent="0" marL="0">
              <a:buNone/>
            </a:pPr>
            <a:r>
              <a:rPr lang="en-US" sz="1400" b="1" dirty="0">
                <a:solidFill>
                  <a:srgbClr val="C1553B"/>
                </a:solidFill>
                <a:latin typeface="Calibri" pitchFamily="34" charset="0"/>
                <a:ea typeface="Calibri" pitchFamily="34" charset="-122"/>
                <a:cs typeface="Calibri" pitchFamily="34" charset="-120"/>
              </a:rPr>
              <a:t>Persistent gap = extraction pressure</a:t>
            </a:r>
            <a:endParaRPr lang="en-US" sz="1400" dirty="0"/>
          </a:p>
        </p:txBody>
      </p:sp>
      <p:sp>
        <p:nvSpPr>
          <p:cNvPr id="15" name="Shape 13"/>
          <p:cNvSpPr/>
          <p:nvPr/>
        </p:nvSpPr>
        <p:spPr>
          <a:xfrm>
            <a:off x="5486400" y="1444752"/>
            <a:ext cx="6126480" cy="4480560"/>
          </a:xfrm>
          <a:prstGeom prst="roundRect">
            <a:avLst>
              <a:gd name="adj" fmla="val 1224"/>
            </a:avLst>
          </a:prstGeom>
          <a:solidFill>
            <a:srgbClr val="EDF3F6"/>
          </a:solidFill>
          <a:ln w="12700">
            <a:solidFill>
              <a:srgbClr val="EDF3F6"/>
            </a:solidFill>
            <a:prstDash val="solid"/>
          </a:ln>
          <a:effectLst>
            <a:outerShdw sx="100000" sy="100000" kx="0" ky="0" algn="bl" rotWithShape="0" blurRad="101600" dist="25400" dir="5400000">
              <a:srgbClr val="9FB3BC">
                <a:alpha val="35000"/>
              </a:srgbClr>
            </a:outerShdw>
          </a:effectLst>
        </p:spPr>
      </p:sp>
      <p:sp>
        <p:nvSpPr>
          <p:cNvPr id="16" name="Text 14"/>
          <p:cNvSpPr txBox="1"/>
          <p:nvPr/>
        </p:nvSpPr>
        <p:spPr>
          <a:xfrm>
            <a:off x="5806440" y="1682496"/>
            <a:ext cx="5486400" cy="347472"/>
          </a:xfrm>
          <a:prstGeom prst="rect">
            <a:avLst/>
          </a:prstGeom>
          <a:noFill/>
          <a:ln/>
        </p:spPr>
        <p:txBody>
          <a:bodyPr wrap="square" lIns="0" tIns="0" rIns="0" bIns="0" rtlCol="0" anchor="ctr"/>
          <a:lstStyle/>
          <a:p>
            <a:pPr indent="0" marL="0">
              <a:buNone/>
            </a:pPr>
            <a:r>
              <a:rPr lang="en-US" sz="1700" b="1" dirty="0">
                <a:solidFill>
                  <a:srgbClr val="0B3C49"/>
                </a:solidFill>
                <a:latin typeface="Cambria" pitchFamily="34" charset="0"/>
                <a:ea typeface="Cambria" pitchFamily="34" charset="-122"/>
                <a:cs typeface="Cambria" pitchFamily="34" charset="-120"/>
              </a:rPr>
              <a:t>Models and validation</a:t>
            </a:r>
            <a:endParaRPr lang="en-US" sz="1700" dirty="0"/>
          </a:p>
        </p:txBody>
      </p:sp>
      <p:sp>
        <p:nvSpPr>
          <p:cNvPr id="17" name="Text 15"/>
          <p:cNvSpPr txBox="1"/>
          <p:nvPr/>
        </p:nvSpPr>
        <p:spPr>
          <a:xfrm>
            <a:off x="5806440" y="2212848"/>
            <a:ext cx="5486400" cy="34747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Model 1: regularised linear regression, Ridge or ElasticNet, on rainfall features only. This is the counterfactual and it stays interpretable in metres</a:t>
            </a:r>
            <a:endParaRPr lang="en-US" sz="1200" dirty="0"/>
          </a:p>
          <a:p>
            <a:pPr marL="342900" indent="-342900">
              <a:lnSpc>
                <a:spcPts val="1700"/>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Model 2: gradient boosting, XGBoost or LightGBM, for the non linear rainfall to level response</a:t>
            </a:r>
            <a:endParaRPr lang="en-US" sz="1200" dirty="0"/>
          </a:p>
          <a:p>
            <a:pPr marL="342900" indent="-342900">
              <a:lnSpc>
                <a:spcPts val="1700"/>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Two variants answer two questions. Rainfall only is for attribution, plus lagged level is for forecasting, and the two are never mixed</a:t>
            </a:r>
            <a:endParaRPr lang="en-US" sz="1200" dirty="0"/>
          </a:p>
          <a:p>
            <a:pPr marL="342900" indent="-342900">
              <a:lnSpc>
                <a:spcPts val="1700"/>
              </a:lnSpc>
              <a:spcAft>
                <a:spcPts val="700"/>
              </a:spcAft>
              <a:buSzPct val="100000"/>
              <a:buChar char="•"/>
            </a:pPr>
            <a:r>
              <a:rPr lang="en-US" sz="1200" dirty="0">
                <a:solidFill>
                  <a:srgbClr val="15272E"/>
                </a:solidFill>
                <a:latin typeface="Calibri" pitchFamily="34" charset="0"/>
                <a:ea typeface="Calibri" pitchFamily="34" charset="-122"/>
                <a:cs typeface="Calibri" pitchFamily="34" charset="-120"/>
              </a:rPr>
              <a:t>Validation: GroupKFold by district for spatial generalisation and blocked by year for temporal, with RMSE, MAE and R squared reported per season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Future scope</a:t>
            </a:r>
            <a:endParaRPr lang="en-US" sz="3400" dirty="0"/>
          </a:p>
        </p:txBody>
      </p:sp>
      <p:sp>
        <p:nvSpPr>
          <p:cNvPr id="3" name="Text 1"/>
          <p:cNvSpPr txBox="1"/>
          <p:nvPr/>
        </p:nvSpPr>
        <p:spPr>
          <a:xfrm>
            <a:off x="548640" y="941832"/>
            <a:ext cx="11064240" cy="310896"/>
          </a:xfrm>
          <a:prstGeom prst="rect">
            <a:avLst/>
          </a:prstGeom>
          <a:noFill/>
          <a:ln/>
        </p:spPr>
        <p:txBody>
          <a:bodyPr wrap="square" lIns="0" tIns="0" rIns="0" bIns="0" rtlCol="0" anchor="ctr"/>
          <a:lstStyle/>
          <a:p>
            <a:pPr indent="0" marL="0">
              <a:buNone/>
            </a:pPr>
            <a:r>
              <a:rPr lang="en-US" sz="1400" i="1" dirty="0">
                <a:solidFill>
                  <a:srgbClr val="9CBBC7"/>
                </a:solidFill>
                <a:latin typeface="Calibri" pitchFamily="34" charset="0"/>
                <a:ea typeface="Calibri" pitchFamily="34" charset="-122"/>
                <a:cs typeface="Calibri" pitchFamily="34" charset="-120"/>
              </a:rPr>
              <a:t>Where the remaining weeks extend the baseline</a:t>
            </a:r>
            <a:endParaRPr lang="en-US" sz="1400" dirty="0"/>
          </a:p>
        </p:txBody>
      </p:sp>
      <p:sp>
        <p:nvSpPr>
          <p:cNvPr id="4" name="Shape 2"/>
          <p:cNvSpPr/>
          <p:nvPr/>
        </p:nvSpPr>
        <p:spPr>
          <a:xfrm>
            <a:off x="548640" y="1481328"/>
            <a:ext cx="3529584" cy="1865376"/>
          </a:xfrm>
          <a:prstGeom prst="roundRect">
            <a:avLst>
              <a:gd name="adj" fmla="val 2941"/>
            </a:avLst>
          </a:prstGeom>
          <a:solidFill>
            <a:srgbClr val="124B5A"/>
          </a:solidFill>
          <a:ln w="9525">
            <a:solidFill>
              <a:srgbClr val="1C7293"/>
            </a:solidFill>
            <a:prstDash val="solid"/>
          </a:ln>
        </p:spPr>
      </p:sp>
      <p:sp>
        <p:nvSpPr>
          <p:cNvPr id="5" name="Text 3"/>
          <p:cNvSpPr txBox="1"/>
          <p:nvPr/>
        </p:nvSpPr>
        <p:spPr>
          <a:xfrm>
            <a:off x="804672" y="1664208"/>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Classification layer</a:t>
            </a:r>
            <a:endParaRPr lang="en-US" sz="1450" dirty="0"/>
          </a:p>
        </p:txBody>
      </p:sp>
      <p:sp>
        <p:nvSpPr>
          <p:cNvPr id="6" name="Text 4"/>
          <p:cNvSpPr txBox="1"/>
          <p:nvPr/>
        </p:nvSpPr>
        <p:spPr>
          <a:xfrm>
            <a:off x="804672" y="2084832"/>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Predict the CGWB safe, semi critical, critical and over exploited categories to validate the ranking. Class weights compared against SMOTE, scored on PR AUC rather than accuracy.</a:t>
            </a:r>
            <a:endParaRPr lang="en-US" sz="1050" dirty="0"/>
          </a:p>
        </p:txBody>
      </p:sp>
      <p:sp>
        <p:nvSpPr>
          <p:cNvPr id="7" name="Shape 5"/>
          <p:cNvSpPr/>
          <p:nvPr/>
        </p:nvSpPr>
        <p:spPr>
          <a:xfrm>
            <a:off x="4315968" y="1481328"/>
            <a:ext cx="3529584" cy="1865376"/>
          </a:xfrm>
          <a:prstGeom prst="roundRect">
            <a:avLst>
              <a:gd name="adj" fmla="val 2941"/>
            </a:avLst>
          </a:prstGeom>
          <a:solidFill>
            <a:srgbClr val="124B5A"/>
          </a:solidFill>
          <a:ln w="9525">
            <a:solidFill>
              <a:srgbClr val="1C7293"/>
            </a:solidFill>
            <a:prstDash val="solid"/>
          </a:ln>
        </p:spPr>
      </p:sp>
      <p:sp>
        <p:nvSpPr>
          <p:cNvPr id="8" name="Text 6"/>
          <p:cNvSpPr txBox="1"/>
          <p:nvPr/>
        </p:nvSpPr>
        <p:spPr>
          <a:xfrm>
            <a:off x="4572000" y="1664208"/>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Unsupervised learning</a:t>
            </a:r>
            <a:endParaRPr lang="en-US" sz="1450" dirty="0"/>
          </a:p>
        </p:txBody>
      </p:sp>
      <p:sp>
        <p:nvSpPr>
          <p:cNvPr id="9" name="Text 7"/>
          <p:cNvSpPr txBox="1"/>
          <p:nvPr/>
        </p:nvSpPr>
        <p:spPr>
          <a:xfrm>
            <a:off x="4572000" y="2084832"/>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Cluster districts by their rainfall response signature using K Means and PCA, separating structural decline from recoverable decline.</a:t>
            </a:r>
            <a:endParaRPr lang="en-US" sz="1050" dirty="0"/>
          </a:p>
        </p:txBody>
      </p:sp>
      <p:sp>
        <p:nvSpPr>
          <p:cNvPr id="10" name="Shape 8"/>
          <p:cNvSpPr/>
          <p:nvPr/>
        </p:nvSpPr>
        <p:spPr>
          <a:xfrm>
            <a:off x="8083296" y="1481328"/>
            <a:ext cx="3529584" cy="1865376"/>
          </a:xfrm>
          <a:prstGeom prst="roundRect">
            <a:avLst>
              <a:gd name="adj" fmla="val 2941"/>
            </a:avLst>
          </a:prstGeom>
          <a:solidFill>
            <a:srgbClr val="124B5A"/>
          </a:solidFill>
          <a:ln w="9525">
            <a:solidFill>
              <a:srgbClr val="1C7293"/>
            </a:solidFill>
            <a:prstDash val="solid"/>
          </a:ln>
        </p:spPr>
      </p:sp>
      <p:sp>
        <p:nvSpPr>
          <p:cNvPr id="11" name="Text 9"/>
          <p:cNvSpPr txBox="1"/>
          <p:nvPr/>
        </p:nvSpPr>
        <p:spPr>
          <a:xfrm>
            <a:off x="8339328" y="1664208"/>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Deep learning</a:t>
            </a:r>
            <a:endParaRPr lang="en-US" sz="1450" dirty="0"/>
          </a:p>
        </p:txBody>
      </p:sp>
      <p:sp>
        <p:nvSpPr>
          <p:cNvPr id="12" name="Text 10"/>
          <p:cNvSpPr txBox="1"/>
          <p:nvPr/>
        </p:nvSpPr>
        <p:spPr>
          <a:xfrm>
            <a:off x="8339328" y="2084832"/>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A multi layer perceptron benchmarked against gradient boosting on identical splits, and a sequence model over the level history if time allows.</a:t>
            </a:r>
            <a:endParaRPr lang="en-US" sz="1050" dirty="0"/>
          </a:p>
        </p:txBody>
      </p:sp>
      <p:sp>
        <p:nvSpPr>
          <p:cNvPr id="13" name="Shape 11"/>
          <p:cNvSpPr/>
          <p:nvPr/>
        </p:nvSpPr>
        <p:spPr>
          <a:xfrm>
            <a:off x="548640" y="3547872"/>
            <a:ext cx="3529584" cy="1865376"/>
          </a:xfrm>
          <a:prstGeom prst="roundRect">
            <a:avLst>
              <a:gd name="adj" fmla="val 2941"/>
            </a:avLst>
          </a:prstGeom>
          <a:solidFill>
            <a:srgbClr val="124B5A"/>
          </a:solidFill>
          <a:ln w="9525">
            <a:solidFill>
              <a:srgbClr val="1C7293"/>
            </a:solidFill>
            <a:prstDash val="solid"/>
          </a:ln>
        </p:spPr>
      </p:sp>
      <p:sp>
        <p:nvSpPr>
          <p:cNvPr id="14" name="Text 12"/>
          <p:cNvSpPr txBox="1"/>
          <p:nvPr/>
        </p:nvSpPr>
        <p:spPr>
          <a:xfrm>
            <a:off x="804672" y="3730752"/>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Exogenous rainfall drivers</a:t>
            </a:r>
            <a:endParaRPr lang="en-US" sz="1450" dirty="0"/>
          </a:p>
        </p:txBody>
      </p:sp>
      <p:sp>
        <p:nvSpPr>
          <p:cNvPr id="15" name="Text 13"/>
          <p:cNvSpPr txBox="1"/>
          <p:nvPr/>
        </p:nvSpPr>
        <p:spPr>
          <a:xfrm>
            <a:off x="804672" y="4151376"/>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SARIMAX with ENSO and Indian Ocean Dipole indices, the only route to genuine monsoon forecast skill beyond climatology.</a:t>
            </a:r>
            <a:endParaRPr lang="en-US" sz="1050" dirty="0"/>
          </a:p>
        </p:txBody>
      </p:sp>
      <p:sp>
        <p:nvSpPr>
          <p:cNvPr id="16" name="Shape 14"/>
          <p:cNvSpPr/>
          <p:nvPr/>
        </p:nvSpPr>
        <p:spPr>
          <a:xfrm>
            <a:off x="4315968" y="3547872"/>
            <a:ext cx="3529584" cy="1865376"/>
          </a:xfrm>
          <a:prstGeom prst="roundRect">
            <a:avLst>
              <a:gd name="adj" fmla="val 2941"/>
            </a:avLst>
          </a:prstGeom>
          <a:solidFill>
            <a:srgbClr val="124B5A"/>
          </a:solidFill>
          <a:ln w="9525">
            <a:solidFill>
              <a:srgbClr val="1C7293"/>
            </a:solidFill>
            <a:prstDash val="solid"/>
          </a:ln>
        </p:spPr>
      </p:sp>
      <p:sp>
        <p:nvSpPr>
          <p:cNvPr id="17" name="Text 15"/>
          <p:cNvSpPr txBox="1"/>
          <p:nvPr/>
        </p:nvSpPr>
        <p:spPr>
          <a:xfrm>
            <a:off x="4572000" y="3730752"/>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Serving layer</a:t>
            </a:r>
            <a:endParaRPr lang="en-US" sz="1450" dirty="0"/>
          </a:p>
        </p:txBody>
      </p:sp>
      <p:sp>
        <p:nvSpPr>
          <p:cNvPr id="18" name="Text 16"/>
          <p:cNvSpPr txBox="1"/>
          <p:nvPr/>
        </p:nvSpPr>
        <p:spPr>
          <a:xfrm>
            <a:off x="4572000" y="4151376"/>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FastAPI endpoints for prediction, what if rainfall scenarios and district ranking, so the models are callable rather than notebook bound.</a:t>
            </a:r>
            <a:endParaRPr lang="en-US" sz="1050" dirty="0"/>
          </a:p>
        </p:txBody>
      </p:sp>
      <p:sp>
        <p:nvSpPr>
          <p:cNvPr id="19" name="Shape 17"/>
          <p:cNvSpPr/>
          <p:nvPr/>
        </p:nvSpPr>
        <p:spPr>
          <a:xfrm>
            <a:off x="8083296" y="3547872"/>
            <a:ext cx="3529584" cy="1865376"/>
          </a:xfrm>
          <a:prstGeom prst="roundRect">
            <a:avLst>
              <a:gd name="adj" fmla="val 2941"/>
            </a:avLst>
          </a:prstGeom>
          <a:solidFill>
            <a:srgbClr val="124B5A"/>
          </a:solidFill>
          <a:ln w="9525">
            <a:solidFill>
              <a:srgbClr val="1C7293"/>
            </a:solidFill>
            <a:prstDash val="solid"/>
          </a:ln>
        </p:spPr>
      </p:sp>
      <p:sp>
        <p:nvSpPr>
          <p:cNvPr id="20" name="Text 18"/>
          <p:cNvSpPr txBox="1"/>
          <p:nvPr/>
        </p:nvSpPr>
        <p:spPr>
          <a:xfrm>
            <a:off x="8339328" y="3730752"/>
            <a:ext cx="30175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LLM interface</a:t>
            </a:r>
            <a:endParaRPr lang="en-US" sz="1450" dirty="0"/>
          </a:p>
        </p:txBody>
      </p:sp>
      <p:sp>
        <p:nvSpPr>
          <p:cNvPr id="21" name="Text 19"/>
          <p:cNvSpPr txBox="1"/>
          <p:nvPr/>
        </p:nvSpPr>
        <p:spPr>
          <a:xfrm>
            <a:off x="8339328" y="4151376"/>
            <a:ext cx="3017520" cy="1115568"/>
          </a:xfrm>
          <a:prstGeom prst="rect">
            <a:avLst/>
          </a:prstGeom>
          <a:noFill/>
          <a:ln/>
        </p:spPr>
        <p:txBody>
          <a:bodyPr wrap="square" lIns="0" tIns="0" rIns="0" bIns="0" rtlCol="0" anchor="t"/>
          <a:lstStyle/>
          <a:p>
            <a:pPr indent="0" marL="0">
              <a:lnSpc>
                <a:spcPts val="1300"/>
              </a:lnSpc>
              <a:buNone/>
            </a:pPr>
            <a:r>
              <a:rPr lang="en-US" sz="1050" dirty="0">
                <a:solidFill>
                  <a:srgbClr val="BFD6E0"/>
                </a:solidFill>
                <a:latin typeface="Calibri" pitchFamily="34" charset="0"/>
                <a:ea typeface="Calibri" pitchFamily="34" charset="-122"/>
                <a:cs typeface="Calibri" pitchFamily="34" charset="-120"/>
              </a:rPr>
              <a:t>A LangGraph agent calling those endpoints, with retrieval over CGWB assessment reports, producing grounded district briefs. This carries the text mining component.</a:t>
            </a:r>
            <a:endParaRPr lang="en-US" sz="1050" dirty="0"/>
          </a:p>
        </p:txBody>
      </p:sp>
      <p:sp>
        <p:nvSpPr>
          <p:cNvPr id="22" name="Text 20"/>
          <p:cNvSpPr txBox="1"/>
          <p:nvPr/>
        </p:nvSpPr>
        <p:spPr>
          <a:xfrm>
            <a:off x="548640" y="5870448"/>
            <a:ext cx="11064240" cy="329184"/>
          </a:xfrm>
          <a:prstGeom prst="rect">
            <a:avLst/>
          </a:prstGeom>
          <a:noFill/>
          <a:ln/>
        </p:spPr>
        <p:txBody>
          <a:bodyPr wrap="square" lIns="0" tIns="0" rIns="0" bIns="0" rtlCol="0" anchor="ctr"/>
          <a:lstStyle/>
          <a:p>
            <a:pPr indent="0" marL="0">
              <a:buNone/>
            </a:pPr>
            <a:r>
              <a:rPr lang="en-US" sz="1100" i="1" dirty="0">
                <a:solidFill>
                  <a:srgbClr val="7FA9B8"/>
                </a:solidFill>
                <a:latin typeface="Calibri" pitchFamily="34" charset="0"/>
                <a:ea typeface="Calibri" pitchFamily="34" charset="-122"/>
                <a:cs typeface="Calibri" pitchFamily="34" charset="-120"/>
              </a:rPr>
              <a:t>Known limitation being addressed: a district mean shifts as wells drop in and out of reporting, so well level models with well effects are the planned cross check.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 or Pumps? Attributing India Groundwater Decline</dc:title>
  <dc:subject>PptxGenJS Presentation</dc:subject>
  <dc:creator>Kakara Siva Kumar</dc:creator>
  <cp:lastModifiedBy>Kakara Siva Kumar</cp:lastModifiedBy>
  <cp:revision>1</cp:revision>
  <dcterms:created xsi:type="dcterms:W3CDTF">2026-09-12T07:54:06Z</dcterms:created>
  <dcterms:modified xsi:type="dcterms:W3CDTF">2026-09-12T07:54:06Z</dcterms:modified>
</cp:coreProperties>
</file>