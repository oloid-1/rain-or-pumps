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13E"/>
                </a:solidFill>
                <a:latin typeface="+mn-lt"/>
              </a:defRPr>
            </a:pPr>
            <a:r>
              <a:rPr sz="1300" b="0" i="0" u="none" strike="noStrike">
                <a:solidFill>
                  <a:srgbClr val="16213E"/>
                </a:solidFill>
                <a:latin typeface="+mn-lt"/>
              </a:rPr>
              <a:t>Validation 2015-2017, R² (higher is better)</a:t>
            </a:r>
          </a:p>
        </c:rich>
      </c:tx>
      <c:layout/>
      <c:overlay val="0"/>
    </c:title>
    <c:autoTitleDeleted val="0"/>
    <c:plotArea>
      <c:layout/>
      <c:barChart>
        <c:barDir val="bar"/>
        <c:grouping val="clustered"/>
        <c:varyColors val="0"/>
        <c:ser>
          <c:idx val="0"/>
          <c:order val="0"/>
          <c:tx>
            <c:strRef>
              <c:f>Sheet1!$B$1</c:f>
              <c:strCache>
                <c:ptCount val="1"/>
                <c:pt idx="0">
                  <c:v>Validation R²</c:v>
                </c:pt>
              </c:strCache>
            </c:strRef>
          </c:tx>
          <c:spPr>
            <a:solidFill>
              <a:srgbClr val="9AB8C9"/>
            </a:solidFill>
            <a:effectLst/>
          </c:spPr>
          <c:invertIfNegative val="0"/>
          <c:dLbls>
            <c:numFmt formatCode="0.000" sourceLinked="0"/>
            <c:txPr>
              <a:bodyPr/>
              <a:lstStyle/>
              <a:p>
                <a:pPr>
                  <a:defRPr b="0" i="0" strike="noStrike" sz="1100" u="none">
                    <a:solidFill>
                      <a:srgbClr val="16213E"/>
                    </a:solidFill>
                    <a:latin typeface="+mn-lt"/>
                  </a:defRPr>
                </a:pPr>
              </a:p>
            </c:txPr>
            <c:showLegendKey val="0"/>
            <c:showVal val="1"/>
            <c:showCatName val="0"/>
            <c:showSerName val="0"/>
            <c:showPercent val="0"/>
            <c:showBubbleSize val="0"/>
            <c:showLeaderLines val="0"/>
          </c:dLbls>
          <c:dPt>
            <c:idx val="0"/>
            <c:invertIfNegative val="0"/>
            <c:bubble3D val="0"/>
            <c:spPr>
              <a:solidFill>
                <a:srgbClr val="9AB8C9"/>
              </a:solidFill>
              <a:effectLst/>
            </c:spPr>
          </c:dPt>
          <c:dPt>
            <c:idx val="1"/>
            <c:invertIfNegative val="0"/>
            <c:bubble3D val="0"/>
            <c:spPr>
              <a:solidFill>
                <a:srgbClr val="9AB8C9"/>
              </a:solidFill>
              <a:effectLst/>
            </c:spPr>
          </c:dPt>
          <c:dPt>
            <c:idx val="2"/>
            <c:invertIfNegative val="0"/>
            <c:bubble3D val="0"/>
            <c:spPr>
              <a:solidFill>
                <a:srgbClr val="9AB8C9"/>
              </a:solidFill>
              <a:effectLst/>
            </c:spPr>
          </c:dPt>
          <c:dPt>
            <c:idx val="3"/>
            <c:invertIfNegative val="0"/>
            <c:bubble3D val="0"/>
            <c:spPr>
              <a:solidFill>
                <a:srgbClr val="065A82"/>
              </a:solidFill>
              <a:effectLst/>
            </c:spPr>
          </c:dPt>
          <c:dPt>
            <c:idx val="4"/>
            <c:invertIfNegative val="0"/>
            <c:bubble3D val="0"/>
            <c:spPr>
              <a:solidFill>
                <a:srgbClr val="1C7293"/>
              </a:solidFill>
              <a:effectLst/>
            </c:spPr>
          </c:dPt>
          <c:dPt>
            <c:idx val="5"/>
            <c:invertIfNegative val="0"/>
            <c:bubble3D val="0"/>
            <c:spPr>
              <a:solidFill>
                <a:srgbClr val="4F6272"/>
              </a:solidFill>
              <a:effectLst/>
            </c:spPr>
          </c:dPt>
          <c:cat>
            <c:multiLvlStrRef>
              <c:f>Sheet1!$A$2:$A$7</c:f>
              <c:multiLvlStrCache>
                <c:ptCount val="6"/>
                <c:lvl>
                  <c:pt idx="0">
                    <c:v>Predict zero</c:v>
                  </c:pt>
                  <c:pt idx="1">
                    <c:v>Ridge</c:v>
                  </c:pt>
                  <c:pt idx="2">
                    <c:v>Season mean</c:v>
                  </c:pt>
                  <c:pt idx="3">
                    <c:v>Transformer</c:v>
                  </c:pt>
                  <c:pt idx="4">
                    <c:v>BiLSTM</c:v>
                  </c:pt>
                  <c:pt idx="5">
                    <c:v>LightGBM</c:v>
                  </c:pt>
                </c:lvl>
              </c:multiLvlStrCache>
            </c:multiLvlStrRef>
          </c:cat>
          <c:val>
            <c:numRef>
              <c:f>Sheet1!$B$2:$B$7</c:f>
              <c:numCache>
                <c:formatCode>General</c:formatCode>
                <c:ptCount val="6"/>
                <c:pt idx="0">
                  <c:v>0</c:v>
                </c:pt>
                <c:pt idx="1">
                  <c:v>0.209</c:v>
                </c:pt>
                <c:pt idx="2">
                  <c:v>0.271</c:v>
                </c:pt>
                <c:pt idx="3">
                  <c:v>0.418</c:v>
                </c:pt>
                <c:pt idx="4">
                  <c:v>0.419</c:v>
                </c:pt>
                <c:pt idx="5">
                  <c:v>0.435</c:v>
                </c:pt>
              </c:numCache>
            </c:numRef>
          </c:val>
        </c:ser>
        <c:dLbls>
          <c:numFmt formatCode="0.000" sourceLinked="0"/>
          <c:txPr>
            <a:bodyPr/>
            <a:lstStyle/>
            <a:p>
              <a:pPr>
                <a:defRPr b="0" i="0" strike="noStrike" sz="1100" u="none">
                  <a:solidFill>
                    <a:srgbClr val="16213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213E"/>
                </a:solidFill>
                <a:latin typeface="+mn-lt"/>
              </a:defRPr>
            </a:pPr>
            <a:endParaRPr lang="en-US"/>
          </a:p>
        </c:txPr>
        <c:crossAx val="2094734552"/>
        <c:crosses val="autoZero"/>
        <c:auto val="1"/>
        <c:lblAlgn val="ctr"/>
        <c:noMultiLvlLbl val="1"/>
      </c:catAx>
      <c:valAx>
        <c:axId val="2094734552"/>
        <c:scaling>
          <c:orientation val="minMax"/>
          <c:max val="0.58"/>
          <c:min val="0"/>
        </c:scaling>
        <c:delete val="0"/>
        <c:axPos val="b"/>
        <c:majorGridlines>
          <c:spPr>
            <a:ln w="12700" cap="flat">
              <a:solidFill>
                <a:srgbClr val="EEF3F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D8B96"/>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Sequence-only R²</c:v>
                </c:pt>
              </c:strCache>
            </c:strRef>
          </c:tx>
          <c:spPr>
            <a:solidFill>
              <a:srgbClr val="065A82"/>
            </a:solidFill>
            <a:effectLst/>
          </c:spPr>
          <c:invertIfNegative val="0"/>
          <c:dLbls>
            <c:numFmt formatCode="0.000" sourceLinked="0"/>
            <c:txPr>
              <a:bodyPr/>
              <a:lstStyle/>
              <a:p>
                <a:pPr>
                  <a:defRPr b="0" i="0" strike="noStrike" sz="1200" u="none">
                    <a:solidFill>
                      <a:srgbClr val="16213E"/>
                    </a:solidFill>
                    <a:latin typeface="+mn-lt"/>
                  </a:defRPr>
                </a:pPr>
              </a:p>
            </c:txPr>
            <c:showLegendKey val="0"/>
            <c:showVal val="1"/>
            <c:showCatName val="0"/>
            <c:showSerName val="0"/>
            <c:showPercent val="0"/>
            <c:showBubbleSize val="0"/>
            <c:showLeaderLines val="0"/>
          </c:dLbls>
          <c:dPt>
            <c:idx val="0"/>
            <c:invertIfNegative val="0"/>
            <c:bubble3D val="0"/>
            <c:spPr>
              <a:solidFill>
                <a:srgbClr val="065A82"/>
              </a:solidFill>
              <a:effectLst/>
            </c:spPr>
          </c:dPt>
          <c:dPt>
            <c:idx val="1"/>
            <c:invertIfNegative val="0"/>
            <c:bubble3D val="0"/>
            <c:spPr>
              <a:solidFill>
                <a:srgbClr val="1C7293"/>
              </a:solidFill>
              <a:effectLst/>
            </c:spPr>
          </c:dPt>
          <c:dPt>
            <c:idx val="2"/>
            <c:invertIfNegative val="0"/>
            <c:bubble3D val="0"/>
            <c:spPr>
              <a:solidFill>
                <a:srgbClr val="1C7293"/>
              </a:solidFill>
              <a:effectLst/>
            </c:spPr>
          </c:dPt>
          <c:dPt>
            <c:idx val="3"/>
            <c:invertIfNegative val="0"/>
            <c:bubble3D val="0"/>
            <c:spPr>
              <a:solidFill>
                <a:srgbClr val="1C7293"/>
              </a:solidFill>
              <a:effectLst/>
            </c:spPr>
          </c:dPt>
          <c:cat>
            <c:multiLvlStrRef>
              <c:f>Sheet1!$A$2:$A$5</c:f>
              <c:multiLvlStrCache>
                <c:ptCount val="4"/>
                <c:lvl>
                  <c:pt idx="0">
                    <c:v>Transformer
1 rain channel</c:v>
                  </c:pt>
                  <c:pt idx="1">
                    <c:v>BiLSTM
1 rain channel</c:v>
                  </c:pt>
                  <c:pt idx="2">
                    <c:v>BiLSTM
5 channels</c:v>
                  </c:pt>
                  <c:pt idx="3">
                    <c:v>BiLSTM
6 channels</c:v>
                  </c:pt>
                </c:lvl>
              </c:multiLvlStrCache>
            </c:multiLvlStrRef>
          </c:cat>
          <c:val>
            <c:numRef>
              <c:f>Sheet1!$B$2:$B$5</c:f>
              <c:numCache>
                <c:formatCode>General</c:formatCode>
                <c:ptCount val="4"/>
                <c:pt idx="0">
                  <c:v>0.342</c:v>
                </c:pt>
                <c:pt idx="1">
                  <c:v>0.36</c:v>
                </c:pt>
                <c:pt idx="2">
                  <c:v>0.394</c:v>
                </c:pt>
                <c:pt idx="3">
                  <c:v>0.4</c:v>
                </c:pt>
              </c:numCache>
            </c:numRef>
          </c:val>
        </c:ser>
        <c:dLbls>
          <c:numFmt formatCode="0.000" sourceLinked="0"/>
          <c:txPr>
            <a:bodyPr/>
            <a:lstStyle/>
            <a:p>
              <a:pPr>
                <a:defRPr b="0" i="0" strike="noStrike" sz="1200" u="none">
                  <a:solidFill>
                    <a:srgbClr val="16213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13E"/>
                </a:solidFill>
                <a:latin typeface="+mn-lt"/>
              </a:defRPr>
            </a:pPr>
            <a:endParaRPr lang="en-US"/>
          </a:p>
        </c:txPr>
        <c:crossAx val="2094734552"/>
        <c:crosses val="autoZero"/>
        <c:auto val="1"/>
        <c:lblAlgn val="ctr"/>
        <c:noMultiLvlLbl val="1"/>
      </c:catAx>
      <c:valAx>
        <c:axId val="2094734552"/>
        <c:scaling>
          <c:orientation val="minMax"/>
          <c:max val="0.48"/>
          <c:min val="0"/>
        </c:scaling>
        <c:delete val="0"/>
        <c:axPos val="l"/>
        <c:majorGridlines>
          <c:spPr>
            <a:ln w="12700" cap="flat">
              <a:solidFill>
                <a:srgbClr val="EEF3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D8B96"/>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2000-14, validate 2015-17, test 2018-22, blocked by year. Normals from training years only. Both pipelines abort if a past water level, the year, coordinates, district, state or well id appears as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ladder, not the top number: zero gives 0.00, the seasonal average 0.27, the models 0.42. LightGBM reads 0.435 on Parth machine against 0.431 on mine, same code, different library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district-fold run was pending at the last review. It is now done for both models, on the same folds.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anomaly channel encodes well identity and was the obvious suspect, but removing it costs only 0.006. Fair next step is running the transformer on the same six channels before closing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if time is short. A model can fit well and still have no usable dose-response to its main driver, and the fit metrics are blind to it. Finding this before building the simulator saved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three to five are improvements rather than blockers.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2011680"/>
            <a:ext cx="11064240" cy="1097280"/>
          </a:xfrm>
          <a:prstGeom prst="rect">
            <a:avLst/>
          </a:prstGeom>
          <a:noFill/>
          <a:ln/>
        </p:spPr>
        <p:txBody>
          <a:bodyPr wrap="square" rtlCol="0" anchor="b"/>
          <a:lstStyle/>
          <a:p>
            <a:pPr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713232"/>
          </a:xfrm>
          <a:prstGeom prst="rect">
            <a:avLst/>
          </a:prstGeom>
          <a:noFill/>
          <a:ln/>
        </p:spPr>
        <p:txBody>
          <a:bodyPr wrap="square" rtlCol="0" anchor="ctr"/>
          <a:lstStyle/>
          <a:p>
            <a:pPr indent="0" marL="0">
              <a:buNone/>
            </a:pPr>
            <a:endParaRPr lang="en-US" sz="3100" dirty="0"/>
          </a:p>
        </p:txBody>
      </p:sp>
      <p:sp>
        <p:nvSpPr>
          <p:cNvPr id="3" name="Text 1"/>
          <p:cNvSpPr txBox="1"/>
          <p:nvPr/>
        </p:nvSpPr>
        <p:spPr>
          <a:xfrm>
            <a:off x="548640" y="6437376"/>
            <a:ext cx="5486400" cy="274320"/>
          </a:xfrm>
          <a:prstGeom prst="rect">
            <a:avLst/>
          </a:prstGeom>
          <a:noFill/>
          <a:ln/>
        </p:spPr>
        <p:txBody>
          <a:bodyPr wrap="square" rtlCol="0" anchor="ctr"/>
          <a:lstStyle/>
          <a:p>
            <a:pPr indent="0" marL="0">
              <a:buNone/>
            </a:pPr>
            <a:r>
              <a:rPr lang="en-US" sz="900" dirty="0">
                <a:solidFill>
                  <a:srgbClr val="9AA7B2"/>
                </a:solidFill>
              </a:rPr>
              <a:t>Rain or Pumps?  |  Group 18  |  Week 5 review</a:t>
            </a:r>
            <a:endParaRPr lang="en-US" sz="900" dirty="0"/>
          </a:p>
        </p:txBody>
      </p:sp>
      <p:sp>
        <p:nvSpPr>
          <p:cNvPr id="25" name="Slide Number Placeholder 0"/>
          <p:cNvSpPr>
            <a:spLocks noGrp="1"/>
          </p:cNvSpPr>
          <p:nvPr>
            <p:ph type="sldNum" sz="quarter" idx="4294967295"/>
          </p:nvPr>
        </p:nvSpPr>
        <p:spPr>
          <a:xfrm>
            <a:off x="11338560" y="6437376"/>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7B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7B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nd"/>
          <p:cNvSpPr/>
          <p:nvPr/>
        </p:nvSpPr>
        <p:spPr>
          <a:xfrm>
            <a:off x="0" y="0"/>
            <a:ext cx="12161520" cy="822960"/>
          </a:xfrm>
          <a:prstGeom prst="rect">
            <a:avLst/>
          </a:prstGeom>
          <a:solidFill>
            <a:srgbClr val="065A82"/>
          </a:solidFill>
          <a:ln/>
        </p:spPr>
      </p:sp>
      <p:sp>
        <p:nvSpPr>
          <p:cNvPr id="3" name="Text 1"/>
          <p:cNvSpPr txBox="1"/>
          <p:nvPr/>
        </p:nvSpPr>
        <p:spPr>
          <a:xfrm>
            <a:off x="548640" y="219456"/>
            <a:ext cx="8229600" cy="365760"/>
          </a:xfrm>
          <a:prstGeom prst="rect">
            <a:avLst/>
          </a:prstGeom>
          <a:noFill/>
          <a:ln/>
        </p:spPr>
        <p:txBody>
          <a:bodyPr wrap="square" rtlCol="0" anchor="ctr"/>
          <a:lstStyle/>
          <a:p>
            <a:pPr indent="0" marL="0">
              <a:buNone/>
            </a:pPr>
            <a:r>
              <a:rPr lang="en-US" sz="1300" b="1" spc="200" kern="0" dirty="0">
                <a:solidFill>
                  <a:srgbClr val="CFE3EE"/>
                </a:solidFill>
              </a:rPr>
              <a:t>WEEK 5 REVIEW  ·  3 OCTOBER 2026</a:t>
            </a:r>
            <a:endParaRPr lang="en-US" sz="1300" dirty="0"/>
          </a:p>
        </p:txBody>
      </p:sp>
      <p:sp>
        <p:nvSpPr>
          <p:cNvPr id="4" name="Text 2"/>
          <p:cNvSpPr txBox="1"/>
          <p:nvPr/>
        </p:nvSpPr>
        <p:spPr>
          <a:xfrm>
            <a:off x="548640" y="2011680"/>
            <a:ext cx="11064240" cy="1005840"/>
          </a:xfrm>
          <a:prstGeom prst="rect">
            <a:avLst/>
          </a:prstGeom>
          <a:noFill/>
          <a:ln/>
        </p:spPr>
        <p:txBody>
          <a:bodyPr wrap="square" rtlCol="0" anchor="b"/>
          <a:lstStyle/>
          <a:p>
            <a:pPr indent="0" marL="0">
              <a:buNone/>
            </a:pPr>
            <a:r>
              <a:rPr lang="en-US" sz="4200" b="1" dirty="0">
                <a:solidFill>
                  <a:srgbClr val="FFFFFF"/>
                </a:solidFill>
                <a:latin typeface="Cambria" pitchFamily="34" charset="0"/>
                <a:ea typeface="Cambria" pitchFamily="34" charset="-122"/>
                <a:cs typeface="Cambria" pitchFamily="34" charset="-120"/>
              </a:rPr>
              <a:t>Two sequence models, one answer</a:t>
            </a:r>
            <a:endParaRPr lang="en-US" sz="4200" dirty="0"/>
          </a:p>
        </p:txBody>
      </p:sp>
      <p:sp>
        <p:nvSpPr>
          <p:cNvPr id="5" name="Text 3"/>
          <p:cNvSpPr txBox="1"/>
          <p:nvPr/>
        </p:nvSpPr>
        <p:spPr>
          <a:xfrm>
            <a:off x="548640" y="3154680"/>
            <a:ext cx="11064240" cy="457200"/>
          </a:xfrm>
          <a:prstGeom prst="rect">
            <a:avLst/>
          </a:prstGeom>
          <a:noFill/>
          <a:ln/>
        </p:spPr>
        <p:txBody>
          <a:bodyPr wrap="square" rtlCol="0" anchor="ctr"/>
          <a:lstStyle/>
          <a:p>
            <a:pPr indent="0" marL="0">
              <a:buNone/>
            </a:pPr>
            <a:r>
              <a:rPr lang="en-US" sz="1800" dirty="0">
                <a:solidFill>
                  <a:srgbClr val="C9D8E3"/>
                </a:solidFill>
              </a:rPr>
              <a:t>BiLSTM and Transformer on identical data, and what the comparison actually shows</a:t>
            </a:r>
            <a:endParaRPr lang="en-US" sz="1800" dirty="0"/>
          </a:p>
        </p:txBody>
      </p:sp>
      <p:sp>
        <p:nvSpPr>
          <p:cNvPr id="6" name="st0"/>
          <p:cNvSpPr/>
          <p:nvPr/>
        </p:nvSpPr>
        <p:spPr>
          <a:xfrm>
            <a:off x="548640" y="4023360"/>
            <a:ext cx="2491740" cy="1143000"/>
          </a:xfrm>
          <a:prstGeom prst="roundRect">
            <a:avLst>
              <a:gd name="adj" fmla="val 5600"/>
            </a:avLst>
          </a:prstGeom>
          <a:solidFill>
            <a:srgbClr val="2C3668"/>
          </a:solidFill>
          <a:ln w="12700">
            <a:solidFill>
              <a:srgbClr val="3E4A85"/>
            </a:solidFill>
            <a:prstDash val="solid"/>
          </a:ln>
        </p:spPr>
      </p:sp>
      <p:sp>
        <p:nvSpPr>
          <p:cNvPr id="7" name="Text 5"/>
          <p:cNvSpPr txBox="1"/>
          <p:nvPr/>
        </p:nvSpPr>
        <p:spPr>
          <a:xfrm>
            <a:off x="640080" y="4160520"/>
            <a:ext cx="230886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216,455</a:t>
            </a:r>
            <a:endParaRPr lang="en-US" sz="3000" dirty="0"/>
          </a:p>
        </p:txBody>
      </p:sp>
      <p:sp>
        <p:nvSpPr>
          <p:cNvPr id="8" name="Text 6"/>
          <p:cNvSpPr txBox="1"/>
          <p:nvPr/>
        </p:nvSpPr>
        <p:spPr>
          <a:xfrm>
            <a:off x="640080" y="4681728"/>
            <a:ext cx="2308860" cy="365760"/>
          </a:xfrm>
          <a:prstGeom prst="rect">
            <a:avLst/>
          </a:prstGeom>
          <a:noFill/>
          <a:ln/>
        </p:spPr>
        <p:txBody>
          <a:bodyPr wrap="square" lIns="0" tIns="0" rIns="0" bIns="0" rtlCol="0" anchor="ctr"/>
          <a:lstStyle/>
          <a:p>
            <a:pPr algn="ctr" indent="0" marL="0">
              <a:buNone/>
            </a:pPr>
            <a:r>
              <a:rPr lang="en-US" sz="1100" dirty="0">
                <a:solidFill>
                  <a:srgbClr val="9AB8C9"/>
                </a:solidFill>
              </a:rPr>
              <a:t>rows, 2,759 wells</a:t>
            </a:r>
            <a:endParaRPr lang="en-US" sz="1100" dirty="0"/>
          </a:p>
        </p:txBody>
      </p:sp>
      <p:sp>
        <p:nvSpPr>
          <p:cNvPr id="9" name="st1"/>
          <p:cNvSpPr/>
          <p:nvPr/>
        </p:nvSpPr>
        <p:spPr>
          <a:xfrm>
            <a:off x="3406140" y="4023360"/>
            <a:ext cx="2491740" cy="1143000"/>
          </a:xfrm>
          <a:prstGeom prst="roundRect">
            <a:avLst>
              <a:gd name="adj" fmla="val 5600"/>
            </a:avLst>
          </a:prstGeom>
          <a:solidFill>
            <a:srgbClr val="2C3668"/>
          </a:solidFill>
          <a:ln w="12700">
            <a:solidFill>
              <a:srgbClr val="3E4A85"/>
            </a:solidFill>
            <a:prstDash val="solid"/>
          </a:ln>
        </p:spPr>
      </p:sp>
      <p:sp>
        <p:nvSpPr>
          <p:cNvPr id="10" name="Text 8"/>
          <p:cNvSpPr txBox="1"/>
          <p:nvPr/>
        </p:nvSpPr>
        <p:spPr>
          <a:xfrm>
            <a:off x="3497580" y="4160520"/>
            <a:ext cx="23088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delta_h_m</a:t>
            </a:r>
            <a:endParaRPr lang="en-US" sz="2200" dirty="0"/>
          </a:p>
        </p:txBody>
      </p:sp>
      <p:sp>
        <p:nvSpPr>
          <p:cNvPr id="11" name="Text 9"/>
          <p:cNvSpPr txBox="1"/>
          <p:nvPr/>
        </p:nvSpPr>
        <p:spPr>
          <a:xfrm>
            <a:off x="3497580" y="4681728"/>
            <a:ext cx="2308860" cy="365760"/>
          </a:xfrm>
          <a:prstGeom prst="rect">
            <a:avLst/>
          </a:prstGeom>
          <a:noFill/>
          <a:ln/>
        </p:spPr>
        <p:txBody>
          <a:bodyPr wrap="square" lIns="0" tIns="0" rIns="0" bIns="0" rtlCol="0" anchor="ctr"/>
          <a:lstStyle/>
          <a:p>
            <a:pPr algn="ctr" indent="0" marL="0">
              <a:buNone/>
            </a:pPr>
            <a:r>
              <a:rPr lang="en-US" sz="1100" dirty="0">
                <a:solidFill>
                  <a:srgbClr val="9AB8C9"/>
                </a:solidFill>
              </a:rPr>
              <a:t>target, + = level fell</a:t>
            </a:r>
            <a:endParaRPr lang="en-US" sz="1100" dirty="0"/>
          </a:p>
        </p:txBody>
      </p:sp>
      <p:sp>
        <p:nvSpPr>
          <p:cNvPr id="12" name="st2"/>
          <p:cNvSpPr/>
          <p:nvPr/>
        </p:nvSpPr>
        <p:spPr>
          <a:xfrm>
            <a:off x="6263640" y="4023360"/>
            <a:ext cx="2491740" cy="1143000"/>
          </a:xfrm>
          <a:prstGeom prst="roundRect">
            <a:avLst>
              <a:gd name="adj" fmla="val 5600"/>
            </a:avLst>
          </a:prstGeom>
          <a:solidFill>
            <a:srgbClr val="2C3668"/>
          </a:solidFill>
          <a:ln w="12700">
            <a:solidFill>
              <a:srgbClr val="3E4A85"/>
            </a:solidFill>
            <a:prstDash val="solid"/>
          </a:ln>
        </p:spPr>
      </p:sp>
      <p:sp>
        <p:nvSpPr>
          <p:cNvPr id="13" name="Text 11"/>
          <p:cNvSpPr txBox="1"/>
          <p:nvPr/>
        </p:nvSpPr>
        <p:spPr>
          <a:xfrm>
            <a:off x="6355080" y="4160520"/>
            <a:ext cx="230886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33</a:t>
            </a:r>
            <a:endParaRPr lang="en-US" sz="3000" dirty="0"/>
          </a:p>
        </p:txBody>
      </p:sp>
      <p:sp>
        <p:nvSpPr>
          <p:cNvPr id="14" name="Text 12"/>
          <p:cNvSpPr txBox="1"/>
          <p:nvPr/>
        </p:nvSpPr>
        <p:spPr>
          <a:xfrm>
            <a:off x="6355080" y="4681728"/>
            <a:ext cx="2308860" cy="365760"/>
          </a:xfrm>
          <a:prstGeom prst="rect">
            <a:avLst/>
          </a:prstGeom>
          <a:noFill/>
          <a:ln/>
        </p:spPr>
        <p:txBody>
          <a:bodyPr wrap="square" lIns="0" tIns="0" rIns="0" bIns="0" rtlCol="0" anchor="ctr"/>
          <a:lstStyle/>
          <a:p>
            <a:pPr algn="ctr" indent="0" marL="0">
              <a:buNone/>
            </a:pPr>
            <a:r>
              <a:rPr lang="en-US" sz="1100" dirty="0">
                <a:solidFill>
                  <a:srgbClr val="9AB8C9"/>
                </a:solidFill>
              </a:rPr>
              <a:t>tabular features</a:t>
            </a:r>
            <a:endParaRPr lang="en-US" sz="1100" dirty="0"/>
          </a:p>
        </p:txBody>
      </p:sp>
      <p:sp>
        <p:nvSpPr>
          <p:cNvPr id="15" name="st3"/>
          <p:cNvSpPr/>
          <p:nvPr/>
        </p:nvSpPr>
        <p:spPr>
          <a:xfrm>
            <a:off x="9121140" y="4023360"/>
            <a:ext cx="2491740" cy="1143000"/>
          </a:xfrm>
          <a:prstGeom prst="roundRect">
            <a:avLst>
              <a:gd name="adj" fmla="val 5600"/>
            </a:avLst>
          </a:prstGeom>
          <a:solidFill>
            <a:srgbClr val="2C3668"/>
          </a:solidFill>
          <a:ln w="12700">
            <a:solidFill>
              <a:srgbClr val="3E4A85"/>
            </a:solidFill>
            <a:prstDash val="solid"/>
          </a:ln>
        </p:spPr>
      </p:sp>
      <p:sp>
        <p:nvSpPr>
          <p:cNvPr id="16" name="Text 14"/>
          <p:cNvSpPr txBox="1"/>
          <p:nvPr/>
        </p:nvSpPr>
        <p:spPr>
          <a:xfrm>
            <a:off x="9212580" y="4160520"/>
            <a:ext cx="230886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104</a:t>
            </a:r>
            <a:endParaRPr lang="en-US" sz="3000" dirty="0"/>
          </a:p>
        </p:txBody>
      </p:sp>
      <p:sp>
        <p:nvSpPr>
          <p:cNvPr id="17" name="Text 15"/>
          <p:cNvSpPr txBox="1"/>
          <p:nvPr/>
        </p:nvSpPr>
        <p:spPr>
          <a:xfrm>
            <a:off x="9212580" y="4681728"/>
            <a:ext cx="2308860" cy="365760"/>
          </a:xfrm>
          <a:prstGeom prst="rect">
            <a:avLst/>
          </a:prstGeom>
          <a:noFill/>
          <a:ln/>
        </p:spPr>
        <p:txBody>
          <a:bodyPr wrap="square" lIns="0" tIns="0" rIns="0" bIns="0" rtlCol="0" anchor="ctr"/>
          <a:lstStyle/>
          <a:p>
            <a:pPr algn="ctr" indent="0" marL="0">
              <a:buNone/>
            </a:pPr>
            <a:r>
              <a:rPr lang="en-US" sz="1100" dirty="0">
                <a:solidFill>
                  <a:srgbClr val="9AB8C9"/>
                </a:solidFill>
              </a:rPr>
              <a:t>weeks of rain per row</a:t>
            </a:r>
            <a:endParaRPr lang="en-US" sz="1100" dirty="0"/>
          </a:p>
        </p:txBody>
      </p:sp>
      <p:sp>
        <p:nvSpPr>
          <p:cNvPr id="18" name="Text 16"/>
          <p:cNvSpPr txBox="1"/>
          <p:nvPr/>
        </p:nvSpPr>
        <p:spPr>
          <a:xfrm>
            <a:off x="548640" y="5349240"/>
            <a:ext cx="11064240" cy="320040"/>
          </a:xfrm>
          <a:prstGeom prst="rect">
            <a:avLst/>
          </a:prstGeom>
          <a:noFill/>
          <a:ln/>
        </p:spPr>
        <p:txBody>
          <a:bodyPr wrap="square" rtlCol="0" anchor="ctr"/>
          <a:lstStyle/>
          <a:p>
            <a:pPr indent="0" marL="0">
              <a:buNone/>
            </a:pPr>
            <a:r>
              <a:rPr lang="en-US" sz="1300" i="1" dirty="0">
                <a:solidFill>
                  <a:srgbClr val="9AB8C9"/>
                </a:solidFill>
              </a:rPr>
              <a:t>Both models read the same rows, the same split and the same leakage guard. Any difference is the architecture.</a:t>
            </a:r>
            <a:endParaRPr lang="en-US" sz="1300" dirty="0"/>
          </a:p>
        </p:txBody>
      </p:sp>
      <p:sp>
        <p:nvSpPr>
          <p:cNvPr id="19" name="Text 17"/>
          <p:cNvSpPr txBox="1"/>
          <p:nvPr/>
        </p:nvSpPr>
        <p:spPr>
          <a:xfrm>
            <a:off x="548640" y="5897880"/>
            <a:ext cx="11064240" cy="365760"/>
          </a:xfrm>
          <a:prstGeom prst="rect">
            <a:avLst/>
          </a:prstGeom>
          <a:noFill/>
          <a:ln/>
        </p:spPr>
        <p:txBody>
          <a:bodyPr wrap="square" rtlCol="0" anchor="ctr"/>
          <a:lstStyle/>
          <a:p>
            <a:pPr indent="0" marL="0">
              <a:buNone/>
            </a:pPr>
            <a:r>
              <a:rPr lang="en-US" sz="1300" dirty="0">
                <a:solidFill>
                  <a:srgbClr val="7E8FB5"/>
                </a:solidFill>
              </a:rPr>
              <a:t>Kakara Siva Kumar  ·  Rainchwar Parth  ·  Vipul Aggarwal          Mentor: Sudharshan Deshmukh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hasCustomPrompt="1"/>
          </p:nvPr>
        </p:nvSpPr>
        <p:spPr>
          <a:xfrm>
            <a:off x="548640" y="347472"/>
            <a:ext cx="11064240" cy="713232"/>
          </a:xfrm>
          <a:prstGeom prst="rect">
            <a:avLst/>
          </a:prstGeom>
          <a:noFill/>
          <a:ln/>
        </p:spPr>
        <p:txBody>
          <a:bodyPr wrap="square" rtlCol="0"/>
          <a:lstStyle/>
          <a:p>
            <a:pPr indent="0" marL="0">
              <a:buNone/>
            </a:pPr>
            <a:r>
              <a:rPr lang="en-US" dirty="0"/>
              <a:t>Headline: a three-way tie</a:t>
            </a:r>
            <a:endParaRPr lang="en-US" dirty="0"/>
          </a:p>
        </p:txBody>
      </p:sp>
      <p:graphicFrame>
        <p:nvGraphicFramePr>
          <p:cNvPr id="3" name="Chart 0" descr=""/>
          <p:cNvGraphicFramePr/>
          <p:nvPr/>
        </p:nvGraphicFramePr>
        <p:xfrm>
          <a:off x="548640" y="1234440"/>
          <a:ext cx="6035040" cy="4297680"/>
        </p:xfrm>
        <a:graphic xmlns:a="http://schemas.openxmlformats.org/drawingml/2006/main">
          <a:graphicData uri="http://schemas.openxmlformats.org/drawingml/2006/chart">
            <c:chart xmlns:c="http://schemas.openxmlformats.org/drawingml/2006/chart" r:id="rId1"/>
          </a:graphicData>
        </a:graphic>
      </p:graphicFrame>
      <p:sp>
        <p:nvSpPr>
          <p:cNvPr id="4" name="claim"/>
          <p:cNvSpPr/>
          <p:nvPr/>
        </p:nvSpPr>
        <p:spPr>
          <a:xfrm>
            <a:off x="6903720" y="1234440"/>
            <a:ext cx="4709160" cy="2103120"/>
          </a:xfrm>
          <a:prstGeom prst="roundRect">
            <a:avLst>
              <a:gd name="adj" fmla="val 3043"/>
            </a:avLst>
          </a:prstGeom>
          <a:solidFill>
            <a:srgbClr val="EAF2F6"/>
          </a:solidFill>
          <a:ln w="12700">
            <a:solidFill>
              <a:srgbClr val="9AB8C9"/>
            </a:solidFill>
            <a:prstDash val="solid"/>
          </a:ln>
        </p:spPr>
      </p:sp>
      <p:sp>
        <p:nvSpPr>
          <p:cNvPr id="5" name="Text 2"/>
          <p:cNvSpPr txBox="1"/>
          <p:nvPr/>
        </p:nvSpPr>
        <p:spPr>
          <a:xfrm>
            <a:off x="7159752" y="1389888"/>
            <a:ext cx="4197096" cy="292608"/>
          </a:xfrm>
          <a:prstGeom prst="rect">
            <a:avLst/>
          </a:prstGeom>
          <a:noFill/>
          <a:ln/>
        </p:spPr>
        <p:txBody>
          <a:bodyPr wrap="square" lIns="0" tIns="0" rIns="0" bIns="0" rtlCol="0" anchor="ctr"/>
          <a:lstStyle/>
          <a:p>
            <a:pPr indent="0" marL="0">
              <a:buNone/>
            </a:pPr>
            <a:r>
              <a:rPr lang="en-US" sz="1300" b="1" dirty="0">
                <a:solidFill>
                  <a:srgbClr val="065A82"/>
                </a:solidFill>
              </a:rPr>
              <a:t>What we claim</a:t>
            </a:r>
            <a:endParaRPr lang="en-US" sz="1300" dirty="0"/>
          </a:p>
        </p:txBody>
      </p:sp>
      <p:sp>
        <p:nvSpPr>
          <p:cNvPr id="6" name="Text 3"/>
          <p:cNvSpPr txBox="1"/>
          <p:nvPr/>
        </p:nvSpPr>
        <p:spPr>
          <a:xfrm>
            <a:off x="7159752" y="1737360"/>
            <a:ext cx="4197096" cy="914400"/>
          </a:xfrm>
          <a:prstGeom prst="rect">
            <a:avLst/>
          </a:prstGeom>
          <a:noFill/>
          <a:ln/>
        </p:spPr>
        <p:txBody>
          <a:bodyPr wrap="square" lIns="0" tIns="0" rIns="0" bIns="0" rtlCol="0" anchor="ctr"/>
          <a:lstStyle/>
          <a:p>
            <a:pPr indent="0" marL="0">
              <a:buNone/>
            </a:pPr>
            <a:r>
              <a:rPr lang="en-US" sz="1400" i="1" dirty="0">
                <a:solidFill>
                  <a:srgbClr val="16213E"/>
                </a:solidFill>
              </a:rPr>
              <a:t>Two different sequence architectures, given raw weekly rainfall, both recover gradient boosting on hand-engineered rain windows.</a:t>
            </a:r>
            <a:endParaRPr lang="en-US" sz="1400" dirty="0"/>
          </a:p>
        </p:txBody>
      </p:sp>
      <p:sp>
        <p:nvSpPr>
          <p:cNvPr id="7" name="Text 4"/>
          <p:cNvSpPr txBox="1"/>
          <p:nvPr/>
        </p:nvSpPr>
        <p:spPr>
          <a:xfrm>
            <a:off x="7159752" y="2697480"/>
            <a:ext cx="4197096" cy="502920"/>
          </a:xfrm>
          <a:prstGeom prst="rect">
            <a:avLst/>
          </a:prstGeom>
          <a:noFill/>
          <a:ln/>
        </p:spPr>
        <p:txBody>
          <a:bodyPr wrap="square" lIns="0" tIns="0" rIns="0" bIns="0" rtlCol="0" anchor="ctr"/>
          <a:lstStyle/>
          <a:p>
            <a:pPr indent="0" marL="0">
              <a:buNone/>
            </a:pPr>
            <a:r>
              <a:rPr lang="en-US" sz="1200" dirty="0">
                <a:solidFill>
                  <a:srgbClr val="4F6272"/>
                </a:solidFill>
              </a:rPr>
              <a:t>The transformer made that claim once. The BiLSTM makes it independently.</a:t>
            </a:r>
            <a:endParaRPr lang="en-US" sz="1200" dirty="0"/>
          </a:p>
        </p:txBody>
      </p:sp>
      <p:sp>
        <p:nvSpPr>
          <p:cNvPr id="8" name="nodiff"/>
          <p:cNvSpPr/>
          <p:nvPr/>
        </p:nvSpPr>
        <p:spPr>
          <a:xfrm>
            <a:off x="6903720" y="3657600"/>
            <a:ext cx="4709160" cy="1874520"/>
          </a:xfrm>
          <a:prstGeom prst="roundRect">
            <a:avLst>
              <a:gd name="adj" fmla="val 3415"/>
            </a:avLst>
          </a:prstGeom>
          <a:solidFill>
            <a:srgbClr val="F4F8FA"/>
          </a:solidFill>
          <a:ln w="12700">
            <a:solidFill>
              <a:srgbClr val="E2E9EE"/>
            </a:solidFill>
            <a:prstDash val="solid"/>
          </a:ln>
        </p:spPr>
      </p:sp>
      <p:sp>
        <p:nvSpPr>
          <p:cNvPr id="9" name="Text 6"/>
          <p:cNvSpPr txBox="1"/>
          <p:nvPr/>
        </p:nvSpPr>
        <p:spPr>
          <a:xfrm>
            <a:off x="7159752" y="3822192"/>
            <a:ext cx="4197096" cy="292608"/>
          </a:xfrm>
          <a:prstGeom prst="rect">
            <a:avLst/>
          </a:prstGeom>
          <a:noFill/>
          <a:ln/>
        </p:spPr>
        <p:txBody>
          <a:bodyPr wrap="square" lIns="0" tIns="0" rIns="0" bIns="0" rtlCol="0" anchor="ctr"/>
          <a:lstStyle/>
          <a:p>
            <a:pPr indent="0" marL="0">
              <a:buNone/>
            </a:pPr>
            <a:r>
              <a:rPr lang="en-US" sz="1300" b="1" dirty="0">
                <a:solidFill>
                  <a:srgbClr val="B85042"/>
                </a:solidFill>
              </a:rPr>
              <a:t>What we do not claim</a:t>
            </a:r>
            <a:endParaRPr lang="en-US" sz="1300" dirty="0"/>
          </a:p>
        </p:txBody>
      </p:sp>
      <p:sp>
        <p:nvSpPr>
          <p:cNvPr id="10" name="Text 7"/>
          <p:cNvSpPr txBox="1"/>
          <p:nvPr/>
        </p:nvSpPr>
        <p:spPr>
          <a:xfrm>
            <a:off x="7159752" y="4169664"/>
            <a:ext cx="4197096" cy="914400"/>
          </a:xfrm>
          <a:prstGeom prst="rect">
            <a:avLst/>
          </a:prstGeom>
          <a:noFill/>
          <a:ln/>
        </p:spPr>
        <p:txBody>
          <a:bodyPr wrap="square" lIns="0" tIns="0" rIns="0" bIns="0" rtlCol="0" anchor="ctr"/>
          <a:lstStyle/>
          <a:p>
            <a:pPr indent="0" marL="0">
              <a:buNone/>
            </a:pPr>
            <a:r>
              <a:rPr lang="en-US" sz="1300" dirty="0">
                <a:solidFill>
                  <a:srgbClr val="000000"/>
                </a:solidFill>
              </a:rPr>
              <a:t>That any model won. All three sit within </a:t>
            </a:r>
            <a:pPr indent="0" marL="0">
              <a:buNone/>
            </a:pPr>
            <a:r>
              <a:rPr lang="en-US" sz="1300" b="1" dirty="0">
                <a:solidFill>
                  <a:srgbClr val="000000"/>
                </a:solidFill>
              </a:rPr>
              <a:t>0.016 m of MAE</a:t>
            </a:r>
            <a:pPr indent="0" marL="0">
              <a:buNone/>
            </a:pPr>
            <a:r>
              <a:rPr lang="en-US" sz="1300" dirty="0">
                <a:solidFill>
                  <a:srgbClr val="000000"/>
                </a:solidFill>
              </a:rPr>
              <a:t> of each other, from a single seed. None of those gaps is a result.</a:t>
            </a:r>
            <a:endParaRPr lang="en-US" sz="1300" dirty="0"/>
          </a:p>
        </p:txBody>
      </p:sp>
      <p:sp>
        <p:nvSpPr>
          <p:cNvPr id="11" name="Text 8"/>
          <p:cNvSpPr txBox="1"/>
          <p:nvPr/>
        </p:nvSpPr>
        <p:spPr>
          <a:xfrm>
            <a:off x="7159752" y="5102352"/>
            <a:ext cx="4197096" cy="320040"/>
          </a:xfrm>
          <a:prstGeom prst="rect">
            <a:avLst/>
          </a:prstGeom>
          <a:noFill/>
          <a:ln/>
        </p:spPr>
        <p:txBody>
          <a:bodyPr wrap="square" lIns="0" tIns="0" rIns="0" bIns="0" rtlCol="0" anchor="ctr"/>
          <a:lstStyle/>
          <a:p>
            <a:pPr indent="0" marL="0">
              <a:buNone/>
            </a:pPr>
            <a:r>
              <a:rPr lang="en-US" sz="1200" i="1" dirty="0">
                <a:solidFill>
                  <a:srgbClr val="4F6272"/>
                </a:solidFill>
              </a:rPr>
              <a:t>Repeat seeds are next step one.</a:t>
            </a:r>
            <a:endParaRPr lang="en-US" sz="1200" dirty="0"/>
          </a:p>
        </p:txBody>
      </p:sp>
      <p:sp>
        <p:nvSpPr>
          <p:cNvPr id="12" name="Text 9"/>
          <p:cNvSpPr txBox="1"/>
          <p:nvPr/>
        </p:nvSpPr>
        <p:spPr>
          <a:xfrm>
            <a:off x="548640" y="5669280"/>
            <a:ext cx="11064240" cy="320040"/>
          </a:xfrm>
          <a:prstGeom prst="rect">
            <a:avLst/>
          </a:prstGeom>
          <a:noFill/>
          <a:ln/>
        </p:spPr>
        <p:txBody>
          <a:bodyPr wrap="square" rtlCol="0" anchor="ctr"/>
          <a:lstStyle/>
          <a:p>
            <a:pPr indent="0" marL="0">
              <a:buNone/>
            </a:pPr>
            <a:r>
              <a:rPr lang="en-US" sz="1200" dirty="0">
                <a:solidFill>
                  <a:srgbClr val="4F6272"/>
                </a:solidFill>
              </a:rPr>
              <a:t>Transformer 176,817 parameters  ·  BiLSTM 183,122, sized deliberately to match so capacity cannot explain a difference</a:t>
            </a:r>
            <a:endParaRPr lang="en-US" sz="1200" dirty="0"/>
          </a:p>
        </p:txBody>
      </p:sp>
      <p:sp>
        <p:nvSpPr>
          <p:cNvPr id="25" name="Slide Number Placeholder 0"/>
          <p:cNvSpPr>
            <a:spLocks noGrp="1"/>
          </p:cNvSpPr>
          <p:nvPr>
            <p:ph type="sldNum" sz="quarter" idx="4294967295"/>
          </p:nvPr>
        </p:nvSpPr>
        <p:spPr>
          <a:xfrm>
            <a:off x="11338560" y="6437376"/>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7B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hasCustomPrompt="1"/>
          </p:nvPr>
        </p:nvSpPr>
        <p:spPr>
          <a:xfrm>
            <a:off x="548640" y="347472"/>
            <a:ext cx="11064240" cy="713232"/>
          </a:xfrm>
          <a:prstGeom prst="rect">
            <a:avLst/>
          </a:prstGeom>
          <a:noFill/>
          <a:ln/>
        </p:spPr>
        <p:txBody>
          <a:bodyPr wrap="square" rtlCol="0"/>
          <a:lstStyle/>
          <a:p>
            <a:pPr indent="0" marL="0">
              <a:buNone/>
            </a:pPr>
            <a:r>
              <a:rPr lang="en-US" dirty="0"/>
              <a:t>Held-out years and held-out districts</a:t>
            </a:r>
            <a:endParaRPr lang="en-US" dirty="0"/>
          </a:p>
        </p:txBody>
      </p:sp>
      <p:sp>
        <p:nvSpPr>
          <p:cNvPr id="3" name="Text 1"/>
          <p:cNvSpPr txBox="1"/>
          <p:nvPr/>
        </p:nvSpPr>
        <p:spPr>
          <a:xfrm>
            <a:off x="548640" y="1170432"/>
            <a:ext cx="5669280" cy="274320"/>
          </a:xfrm>
          <a:prstGeom prst="rect">
            <a:avLst/>
          </a:prstGeom>
          <a:noFill/>
          <a:ln/>
        </p:spPr>
        <p:txBody>
          <a:bodyPr wrap="square" lIns="0" tIns="0" rIns="0" bIns="0" rtlCol="0" anchor="ctr"/>
          <a:lstStyle/>
          <a:p>
            <a:pPr indent="0" marL="0">
              <a:buNone/>
            </a:pPr>
            <a:r>
              <a:rPr lang="en-US" sz="1100" b="1" spc="100" kern="0" dirty="0">
                <a:solidFill>
                  <a:srgbClr val="065A82"/>
                </a:solidFill>
              </a:rPr>
              <a:t>TEST 2018-2022, NEVER TOUCHED UNTIL THE END</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90472"/>
          <a:ext cx="5669280" cy="914400"/>
        </p:xfrm>
        <a:graphic>
          <a:graphicData uri="http://schemas.openxmlformats.org/drawingml/2006/table">
            <a:tbl>
              <a:tblPr/>
              <a:tblGrid>
                <a:gridCol w="2194560"/>
                <a:gridCol w="1188720"/>
                <a:gridCol w="1188720"/>
                <a:gridCol w="1097280"/>
              </a:tblGrid>
              <a:tr h="384048">
                <a:tc>
                  <a:txBody>
                    <a:bodyPr/>
                    <a:lstStyle/>
                    <a:p>
                      <a:pPr indent="0" marL="0">
                        <a:buNone/>
                      </a:pPr>
                      <a:r>
                        <a:rPr lang="en-US" sz="1200" b="1" dirty="0">
                          <a:solidFill>
                            <a:srgbClr val="FFFFFF"/>
                          </a:solidFill>
                        </a:rPr>
                        <a:t>Model</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MAE (m)</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RMSE (m)</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R²</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r>
              <a:tr h="384048">
                <a:tc>
                  <a:txBody>
                    <a:bodyPr/>
                    <a:lstStyle/>
                    <a:p>
                      <a:pPr indent="0" marL="0">
                        <a:buNone/>
                      </a:pPr>
                      <a:r>
                        <a:rPr lang="en-US" sz="1200" dirty="0">
                          <a:solidFill>
                            <a:srgbClr val="16213E"/>
                          </a:solidFill>
                        </a:rPr>
                        <a:t>BiLSTM</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1.449</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2.298</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0.441</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r>
              <a:tr h="384048">
                <a:tc>
                  <a:txBody>
                    <a:bodyPr/>
                    <a:lstStyle/>
                    <a:p>
                      <a:pPr indent="0" marL="0">
                        <a:buNone/>
                      </a:pPr>
                      <a:r>
                        <a:rPr lang="en-US" sz="1200" dirty="0">
                          <a:solidFill>
                            <a:srgbClr val="16213E"/>
                          </a:solidFill>
                        </a:rPr>
                        <a:t>Transformer</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1.457</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2.302</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0.439</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r>
            </a:tbl>
          </a:graphicData>
        </a:graphic>
      </p:graphicFrame>
      <p:sp>
        <p:nvSpPr>
          <p:cNvPr id="5" name="Text 2"/>
          <p:cNvSpPr txBox="1"/>
          <p:nvPr/>
        </p:nvSpPr>
        <p:spPr>
          <a:xfrm>
            <a:off x="548640" y="2834640"/>
            <a:ext cx="5669280" cy="274320"/>
          </a:xfrm>
          <a:prstGeom prst="rect">
            <a:avLst/>
          </a:prstGeom>
          <a:noFill/>
          <a:ln/>
        </p:spPr>
        <p:txBody>
          <a:bodyPr wrap="square" lIns="0" tIns="0" rIns="0" bIns="0" rtlCol="0" anchor="ctr"/>
          <a:lstStyle/>
          <a:p>
            <a:pPr indent="0" marL="0">
              <a:buNone/>
            </a:pPr>
            <a:r>
              <a:rPr lang="en-US" sz="1100" b="1" spc="100" kern="0" dirty="0">
                <a:solidFill>
                  <a:srgbClr val="065A82"/>
                </a:solidFill>
              </a:rPr>
              <a:t>FIVE DISTRICT FOLDS, WHOLE DISTRICTS HELD OUT</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48640" y="3154680"/>
          <a:ext cx="5669280" cy="914400"/>
        </p:xfrm>
        <a:graphic>
          <a:graphicData uri="http://schemas.openxmlformats.org/drawingml/2006/table">
            <a:tbl>
              <a:tblPr/>
              <a:tblGrid>
                <a:gridCol w="822960"/>
                <a:gridCol w="1371600"/>
                <a:gridCol w="1280160"/>
                <a:gridCol w="1188720"/>
                <a:gridCol w="1005840"/>
              </a:tblGrid>
              <a:tr h="338328">
                <a:tc>
                  <a:txBody>
                    <a:bodyPr/>
                    <a:lstStyle/>
                    <a:p>
                      <a:pPr indent="0" marL="0">
                        <a:buNone/>
                      </a:pPr>
                      <a:r>
                        <a:rPr lang="en-US" sz="1200" b="1" dirty="0">
                          <a:solidFill>
                            <a:srgbClr val="FFFFFF"/>
                          </a:solidFill>
                        </a:rPr>
                        <a:t>Fold</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BiLSTM MAE</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BiLSTM R²</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Trf MAE</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Trf R²</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r>
              <a:tr h="338328">
                <a:tc>
                  <a:txBody>
                    <a:bodyPr/>
                    <a:lstStyle/>
                    <a:p>
                      <a:pPr indent="0" marL="0">
                        <a:buNone/>
                      </a:pPr>
                      <a:r>
                        <a:rPr lang="en-US" sz="1200" dirty="0">
                          <a:solidFill>
                            <a:srgbClr val="16213E"/>
                          </a:solidFill>
                        </a:rPr>
                        <a:t>0</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1.419</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0.426</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1.424</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0.432</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r>
              <a:tr h="338328">
                <a:tc>
                  <a:txBody>
                    <a:bodyPr/>
                    <a:lstStyle/>
                    <a:p>
                      <a:pPr indent="0" marL="0">
                        <a:buNone/>
                      </a:pPr>
                      <a:r>
                        <a:rPr lang="en-US" sz="1200" dirty="0">
                          <a:solidFill>
                            <a:srgbClr val="16213E"/>
                          </a:solidFill>
                        </a:rPr>
                        <a:t>1</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1.450</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0.526</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1.445</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0.531</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r>
              <a:tr h="338328">
                <a:tc>
                  <a:txBody>
                    <a:bodyPr/>
                    <a:lstStyle/>
                    <a:p>
                      <a:pPr indent="0" marL="0">
                        <a:buNone/>
                      </a:pPr>
                      <a:r>
                        <a:rPr lang="en-US" sz="1200" dirty="0">
                          <a:solidFill>
                            <a:srgbClr val="16213E"/>
                          </a:solidFill>
                        </a:rPr>
                        <a:t>2</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1.452</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0.497</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1.445</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0.508</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r>
              <a:tr h="338328">
                <a:tc>
                  <a:txBody>
                    <a:bodyPr/>
                    <a:lstStyle/>
                    <a:p>
                      <a:pPr indent="0" marL="0">
                        <a:buNone/>
                      </a:pPr>
                      <a:r>
                        <a:rPr lang="en-US" sz="1200" dirty="0">
                          <a:solidFill>
                            <a:srgbClr val="16213E"/>
                          </a:solidFill>
                        </a:rPr>
                        <a:t>3</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1.354</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0.484</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1.354</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0.487</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r>
              <a:tr h="338328">
                <a:tc>
                  <a:txBody>
                    <a:bodyPr/>
                    <a:lstStyle/>
                    <a:p>
                      <a:pPr indent="0" marL="0">
                        <a:buNone/>
                      </a:pPr>
                      <a:r>
                        <a:rPr lang="en-US" sz="1200" dirty="0">
                          <a:solidFill>
                            <a:srgbClr val="16213E"/>
                          </a:solidFill>
                        </a:rPr>
                        <a:t>4</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1.527</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0.471</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1.528</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0.472</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r>
              <a:tr h="338328">
                <a:tc>
                  <a:txBody>
                    <a:bodyPr/>
                    <a:lstStyle/>
                    <a:p>
                      <a:pPr indent="0" marL="0">
                        <a:buNone/>
                      </a:pPr>
                      <a:r>
                        <a:rPr lang="en-US" sz="1200" b="1" dirty="0">
                          <a:solidFill>
                            <a:srgbClr val="16213E"/>
                          </a:solidFill>
                        </a:rPr>
                        <a:t>Mean</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EAF2F6"/>
                    </a:solidFill>
                  </a:tcPr>
                </a:tc>
                <a:tc>
                  <a:txBody>
                    <a:bodyPr/>
                    <a:lstStyle/>
                    <a:p>
                      <a:pPr indent="0" marL="0">
                        <a:buNone/>
                      </a:pPr>
                      <a:r>
                        <a:rPr lang="en-US" sz="1200" b="1" dirty="0">
                          <a:solidFill>
                            <a:srgbClr val="16213E"/>
                          </a:solidFill>
                        </a:rPr>
                        <a:t>1.441</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EAF2F6"/>
                    </a:solidFill>
                  </a:tcPr>
                </a:tc>
                <a:tc>
                  <a:txBody>
                    <a:bodyPr/>
                    <a:lstStyle/>
                    <a:p>
                      <a:pPr indent="0" marL="0">
                        <a:buNone/>
                      </a:pPr>
                      <a:r>
                        <a:rPr lang="en-US" sz="1200" b="1" dirty="0">
                          <a:solidFill>
                            <a:srgbClr val="16213E"/>
                          </a:solidFill>
                        </a:rPr>
                        <a:t>0.481</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EAF2F6"/>
                    </a:solidFill>
                  </a:tcPr>
                </a:tc>
                <a:tc>
                  <a:txBody>
                    <a:bodyPr/>
                    <a:lstStyle/>
                    <a:p>
                      <a:pPr indent="0" marL="0">
                        <a:buNone/>
                      </a:pPr>
                      <a:r>
                        <a:rPr lang="en-US" sz="1200" b="1" dirty="0">
                          <a:solidFill>
                            <a:srgbClr val="16213E"/>
                          </a:solidFill>
                        </a:rPr>
                        <a:t>1.439</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EAF2F6"/>
                    </a:solidFill>
                  </a:tcPr>
                </a:tc>
                <a:tc>
                  <a:txBody>
                    <a:bodyPr/>
                    <a:lstStyle/>
                    <a:p>
                      <a:pPr indent="0" marL="0">
                        <a:buNone/>
                      </a:pPr>
                      <a:r>
                        <a:rPr lang="en-US" sz="1200" b="1" dirty="0">
                          <a:solidFill>
                            <a:srgbClr val="16213E"/>
                          </a:solidFill>
                        </a:rPr>
                        <a:t>0.486</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EAF2F6"/>
                    </a:solidFill>
                  </a:tcPr>
                </a:tc>
              </a:tr>
            </a:tbl>
          </a:graphicData>
        </a:graphic>
      </p:graphicFrame>
      <p:sp>
        <p:nvSpPr>
          <p:cNvPr id="7" name="find"/>
          <p:cNvSpPr/>
          <p:nvPr/>
        </p:nvSpPr>
        <p:spPr>
          <a:xfrm>
            <a:off x="6675120" y="1170432"/>
            <a:ext cx="4937760" cy="2377440"/>
          </a:xfrm>
          <a:prstGeom prst="roundRect">
            <a:avLst>
              <a:gd name="adj" fmla="val 2692"/>
            </a:avLst>
          </a:prstGeom>
          <a:solidFill>
            <a:srgbClr val="EAF2F6"/>
          </a:solidFill>
          <a:ln w="12700">
            <a:solidFill>
              <a:srgbClr val="9AB8C9"/>
            </a:solidFill>
            <a:prstDash val="solid"/>
          </a:ln>
        </p:spPr>
      </p:sp>
      <p:sp>
        <p:nvSpPr>
          <p:cNvPr id="8" name="Text 4"/>
          <p:cNvSpPr txBox="1"/>
          <p:nvPr/>
        </p:nvSpPr>
        <p:spPr>
          <a:xfrm>
            <a:off x="6949440" y="1325880"/>
            <a:ext cx="4389120" cy="292608"/>
          </a:xfrm>
          <a:prstGeom prst="rect">
            <a:avLst/>
          </a:prstGeom>
          <a:noFill/>
          <a:ln/>
        </p:spPr>
        <p:txBody>
          <a:bodyPr wrap="square" lIns="0" tIns="0" rIns="0" bIns="0" rtlCol="0" anchor="ctr"/>
          <a:lstStyle/>
          <a:p>
            <a:pPr indent="0" marL="0">
              <a:buNone/>
            </a:pPr>
            <a:r>
              <a:rPr lang="en-US" sz="1300" b="1" dirty="0">
                <a:solidFill>
                  <a:srgbClr val="065A82"/>
                </a:solidFill>
              </a:rPr>
              <a:t>The finding worth the slide</a:t>
            </a:r>
            <a:endParaRPr lang="en-US" sz="1300" dirty="0"/>
          </a:p>
        </p:txBody>
      </p:sp>
      <p:sp>
        <p:nvSpPr>
          <p:cNvPr id="9" name="Text 5"/>
          <p:cNvSpPr txBox="1"/>
          <p:nvPr/>
        </p:nvSpPr>
        <p:spPr>
          <a:xfrm>
            <a:off x="6949440" y="1664208"/>
            <a:ext cx="4389120" cy="594360"/>
          </a:xfrm>
          <a:prstGeom prst="rect">
            <a:avLst/>
          </a:prstGeom>
          <a:noFill/>
          <a:ln/>
        </p:spPr>
        <p:txBody>
          <a:bodyPr wrap="square" lIns="0" tIns="0" rIns="0" bIns="0" rtlCol="0" anchor="ctr"/>
          <a:lstStyle/>
          <a:p>
            <a:pPr indent="0" marL="0">
              <a:buNone/>
            </a:pPr>
            <a:r>
              <a:rPr lang="en-US" sz="1700" b="1" dirty="0">
                <a:solidFill>
                  <a:srgbClr val="16213E"/>
                </a:solidFill>
              </a:rPr>
              <a:t>Unseen districts are easier than unseen years.</a:t>
            </a:r>
            <a:endParaRPr lang="en-US" sz="1700" dirty="0"/>
          </a:p>
        </p:txBody>
      </p:sp>
      <p:sp>
        <p:nvSpPr>
          <p:cNvPr id="10" name="Text 6"/>
          <p:cNvSpPr txBox="1"/>
          <p:nvPr/>
        </p:nvSpPr>
        <p:spPr>
          <a:xfrm>
            <a:off x="6949440" y="2304288"/>
            <a:ext cx="4389120" cy="1143000"/>
          </a:xfrm>
          <a:prstGeom prst="rect">
            <a:avLst/>
          </a:prstGeom>
          <a:noFill/>
          <a:ln/>
        </p:spPr>
        <p:txBody>
          <a:bodyPr wrap="square" lIns="0" tIns="0" rIns="0" bIns="0" rtlCol="0" anchor="ctr"/>
          <a:lstStyle/>
          <a:p>
            <a:pPr indent="0" marL="0">
              <a:buNone/>
            </a:pPr>
            <a:r>
              <a:rPr lang="en-US" sz="1300" dirty="0">
                <a:solidFill>
                  <a:srgbClr val="000000"/>
                </a:solidFill>
              </a:rPr>
              <a:t>R² is about 0.48 across places the model has never seen, against about 0.42 across years it has never seen. The harder shift is time, not place.</a:t>
            </a:r>
            <a:endParaRPr lang="en-US" sz="1300" dirty="0"/>
          </a:p>
        </p:txBody>
      </p:sp>
      <p:sp>
        <p:nvSpPr>
          <p:cNvPr id="11" name="why"/>
          <p:cNvSpPr/>
          <p:nvPr/>
        </p:nvSpPr>
        <p:spPr>
          <a:xfrm>
            <a:off x="6675120" y="3886200"/>
            <a:ext cx="4937760" cy="1645920"/>
          </a:xfrm>
          <a:prstGeom prst="roundRect">
            <a:avLst>
              <a:gd name="adj" fmla="val 3889"/>
            </a:avLst>
          </a:prstGeom>
          <a:solidFill>
            <a:srgbClr val="F4F8FA"/>
          </a:solidFill>
          <a:ln w="12700">
            <a:solidFill>
              <a:srgbClr val="E2E9EE"/>
            </a:solidFill>
            <a:prstDash val="solid"/>
          </a:ln>
        </p:spPr>
      </p:sp>
      <p:sp>
        <p:nvSpPr>
          <p:cNvPr id="12" name="Text 8"/>
          <p:cNvSpPr txBox="1"/>
          <p:nvPr/>
        </p:nvSpPr>
        <p:spPr>
          <a:xfrm>
            <a:off x="6949440" y="4050792"/>
            <a:ext cx="4389120" cy="292608"/>
          </a:xfrm>
          <a:prstGeom prst="rect">
            <a:avLst/>
          </a:prstGeom>
          <a:noFill/>
          <a:ln/>
        </p:spPr>
        <p:txBody>
          <a:bodyPr wrap="square" lIns="0" tIns="0" rIns="0" bIns="0" rtlCol="0" anchor="ctr"/>
          <a:lstStyle/>
          <a:p>
            <a:pPr indent="0" marL="0">
              <a:buNone/>
            </a:pPr>
            <a:r>
              <a:rPr lang="en-US" sz="1300" b="1" dirty="0">
                <a:solidFill>
                  <a:srgbClr val="16213E"/>
                </a:solidFill>
              </a:rPr>
              <a:t>Why that matters here</a:t>
            </a:r>
            <a:endParaRPr lang="en-US" sz="1300" dirty="0"/>
          </a:p>
        </p:txBody>
      </p:sp>
      <p:sp>
        <p:nvSpPr>
          <p:cNvPr id="13" name="Text 9"/>
          <p:cNvSpPr txBox="1"/>
          <p:nvPr/>
        </p:nvSpPr>
        <p:spPr>
          <a:xfrm>
            <a:off x="6949440" y="4389120"/>
            <a:ext cx="4389120" cy="1005840"/>
          </a:xfrm>
          <a:prstGeom prst="rect">
            <a:avLst/>
          </a:prstGeom>
          <a:noFill/>
          <a:ln/>
        </p:spPr>
        <p:txBody>
          <a:bodyPr wrap="square" lIns="0" tIns="0" rIns="0" bIns="0" rtlCol="0" anchor="ctr"/>
          <a:lstStyle/>
          <a:p>
            <a:pPr indent="0" marL="0">
              <a:buNone/>
            </a:pPr>
            <a:r>
              <a:rPr lang="en-US" sz="1300" dirty="0">
                <a:solidFill>
                  <a:srgbClr val="000000"/>
                </a:solidFill>
              </a:rPr>
              <a:t>We are building a district-level product. It has to work in districts with thin monitoring. This says it will.</a:t>
            </a:r>
            <a:endParaRPr lang="en-US" sz="1300" dirty="0"/>
          </a:p>
        </p:txBody>
      </p:sp>
      <p:sp>
        <p:nvSpPr>
          <p:cNvPr id="14" name="Text 10"/>
          <p:cNvSpPr txBox="1"/>
          <p:nvPr/>
        </p:nvSpPr>
        <p:spPr>
          <a:xfrm>
            <a:off x="548640" y="5669280"/>
            <a:ext cx="11064240" cy="320040"/>
          </a:xfrm>
          <a:prstGeom prst="rect">
            <a:avLst/>
          </a:prstGeom>
          <a:noFill/>
          <a:ln/>
        </p:spPr>
        <p:txBody>
          <a:bodyPr wrap="square" rtlCol="0" anchor="ctr"/>
          <a:lstStyle/>
          <a:p>
            <a:pPr indent="0" marL="0">
              <a:buNone/>
            </a:pPr>
            <a:r>
              <a:rPr lang="en-US" sz="1200" dirty="0">
                <a:solidFill>
                  <a:srgbClr val="4F6272"/>
                </a:solidFill>
              </a:rPr>
              <a:t>Both models tie on every single fold. Test scores sit above validation for both, so neither is decaying as it moves forward in time.</a:t>
            </a:r>
            <a:endParaRPr lang="en-US" sz="1200" dirty="0"/>
          </a:p>
        </p:txBody>
      </p:sp>
      <p:sp>
        <p:nvSpPr>
          <p:cNvPr id="25" name="Slide Number Placeholder 0"/>
          <p:cNvSpPr>
            <a:spLocks noGrp="1"/>
          </p:cNvSpPr>
          <p:nvPr>
            <p:ph type="sldNum" sz="quarter" idx="4294967295"/>
          </p:nvPr>
        </p:nvSpPr>
        <p:spPr>
          <a:xfrm>
            <a:off x="11338560" y="6437376"/>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7B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hasCustomPrompt="1"/>
          </p:nvPr>
        </p:nvSpPr>
        <p:spPr>
          <a:xfrm>
            <a:off x="548640" y="347472"/>
            <a:ext cx="11064240" cy="713232"/>
          </a:xfrm>
          <a:prstGeom prst="rect">
            <a:avLst/>
          </a:prstGeom>
          <a:noFill/>
          <a:ln/>
        </p:spPr>
        <p:txBody>
          <a:bodyPr wrap="square" rtlCol="0"/>
          <a:lstStyle/>
          <a:p>
            <a:pPr indent="0" marL="0">
              <a:buNone/>
            </a:pPr>
            <a:r>
              <a:rPr lang="en-US" dirty="0"/>
              <a:t>What the rain history alone can do</a:t>
            </a:r>
            <a:endParaRPr lang="en-US" dirty="0"/>
          </a:p>
        </p:txBody>
      </p:sp>
      <p:sp>
        <p:nvSpPr>
          <p:cNvPr id="3" name="Text 1"/>
          <p:cNvSpPr txBox="1"/>
          <p:nvPr/>
        </p:nvSpPr>
        <p:spPr>
          <a:xfrm>
            <a:off x="548640" y="1097280"/>
            <a:ext cx="11064240" cy="292608"/>
          </a:xfrm>
          <a:prstGeom prst="rect">
            <a:avLst/>
          </a:prstGeom>
          <a:noFill/>
          <a:ln/>
        </p:spPr>
        <p:txBody>
          <a:bodyPr wrap="square" rtlCol="0" anchor="ctr"/>
          <a:lstStyle/>
          <a:p>
            <a:pPr indent="0" marL="0">
              <a:buNone/>
            </a:pPr>
            <a:r>
              <a:rPr lang="en-US" sz="1400" dirty="0">
                <a:solidFill>
                  <a:srgbClr val="4F6272"/>
                </a:solidFill>
              </a:rPr>
              <a:t>Strip out every tabular feature and leave only the rainfall sequence. This tests whether rain is carrying the model.</a:t>
            </a:r>
            <a:endParaRPr lang="en-US" sz="1400" dirty="0"/>
          </a:p>
        </p:txBody>
      </p:sp>
      <p:graphicFrame>
        <p:nvGraphicFramePr>
          <p:cNvPr id="4" name="Chart 0" descr=""/>
          <p:cNvGraphicFramePr/>
          <p:nvPr/>
        </p:nvGraphicFramePr>
        <p:xfrm>
          <a:off x="548640" y="1554480"/>
          <a:ext cx="5669280" cy="3840480"/>
        </p:xfrm>
        <a:graphic xmlns:a="http://schemas.openxmlformats.org/drawingml/2006/main">
          <a:graphicData uri="http://schemas.openxmlformats.org/drawingml/2006/chart">
            <c:chart xmlns:c="http://schemas.openxmlformats.org/drawingml/2006/chart" r:id="rId1"/>
          </a:graphicData>
        </a:graphic>
      </p:graphicFrame>
      <p:sp>
        <p:nvSpPr>
          <p:cNvPr id="5" name="split"/>
          <p:cNvSpPr/>
          <p:nvPr/>
        </p:nvSpPr>
        <p:spPr>
          <a:xfrm>
            <a:off x="6583680" y="1554480"/>
            <a:ext cx="5029200" cy="1783080"/>
          </a:xfrm>
          <a:prstGeom prst="roundRect">
            <a:avLst>
              <a:gd name="adj" fmla="val 3590"/>
            </a:avLst>
          </a:prstGeom>
          <a:solidFill>
            <a:srgbClr val="EAF2F6"/>
          </a:solidFill>
          <a:ln w="12700">
            <a:solidFill>
              <a:srgbClr val="9AB8C9"/>
            </a:solidFill>
            <a:prstDash val="solid"/>
          </a:ln>
        </p:spPr>
      </p:sp>
      <p:sp>
        <p:nvSpPr>
          <p:cNvPr id="6" name="Text 3"/>
          <p:cNvSpPr txBox="1"/>
          <p:nvPr/>
        </p:nvSpPr>
        <p:spPr>
          <a:xfrm>
            <a:off x="6839712" y="1719072"/>
            <a:ext cx="4517136" cy="594360"/>
          </a:xfrm>
          <a:prstGeom prst="rect">
            <a:avLst/>
          </a:prstGeom>
          <a:noFill/>
          <a:ln/>
        </p:spPr>
        <p:txBody>
          <a:bodyPr wrap="square" lIns="0" tIns="0" rIns="0" bIns="0" rtlCol="0" anchor="ctr"/>
          <a:lstStyle/>
          <a:p>
            <a:pPr indent="0" marL="0">
              <a:buNone/>
            </a:pPr>
            <a:r>
              <a:rPr lang="en-US" sz="1500" b="1" dirty="0">
                <a:solidFill>
                  <a:srgbClr val="065A82"/>
                </a:solidFill>
              </a:rPr>
              <a:t>Most of the gap is the data, not the architecture</a:t>
            </a:r>
            <a:endParaRPr lang="en-US" sz="1500" dirty="0"/>
          </a:p>
        </p:txBody>
      </p:sp>
      <p:sp>
        <p:nvSpPr>
          <p:cNvPr id="7" name="Text 4"/>
          <p:cNvSpPr txBox="1"/>
          <p:nvPr/>
        </p:nvSpPr>
        <p:spPr>
          <a:xfrm>
            <a:off x="6839712" y="2331720"/>
            <a:ext cx="4517136" cy="914400"/>
          </a:xfrm>
          <a:prstGeom prst="rect">
            <a:avLst/>
          </a:prstGeom>
          <a:noFill/>
          <a:ln/>
        </p:spPr>
        <p:txBody>
          <a:bodyPr wrap="square" lIns="0" tIns="0" rIns="0" bIns="0" rtlCol="0" anchor="ctr"/>
          <a:lstStyle/>
          <a:p>
            <a:pPr indent="0" marL="0">
              <a:buNone/>
            </a:pPr>
            <a:r>
              <a:rPr lang="en-US" sz="1300" dirty="0">
                <a:solidFill>
                  <a:srgbClr val="000000"/>
                </a:solidFill>
              </a:rPr>
              <a:t>On one identical rain channel the two architectures differ by 0.018. The five extra input channels add 0.035 on top of that.</a:t>
            </a:r>
            <a:endParaRPr lang="en-US" sz="1300" dirty="0"/>
          </a:p>
        </p:txBody>
      </p:sp>
      <p:sp>
        <p:nvSpPr>
          <p:cNvPr id="8" name="monsoon"/>
          <p:cNvSpPr/>
          <p:nvPr/>
        </p:nvSpPr>
        <p:spPr>
          <a:xfrm>
            <a:off x="6583680" y="3611880"/>
            <a:ext cx="5029200" cy="1783080"/>
          </a:xfrm>
          <a:prstGeom prst="roundRect">
            <a:avLst>
              <a:gd name="adj" fmla="val 3590"/>
            </a:avLst>
          </a:prstGeom>
          <a:solidFill>
            <a:srgbClr val="F4F8FA"/>
          </a:solidFill>
          <a:ln w="12700">
            <a:solidFill>
              <a:srgbClr val="E2E9EE"/>
            </a:solidFill>
            <a:prstDash val="solid"/>
          </a:ln>
        </p:spPr>
      </p:sp>
      <p:sp>
        <p:nvSpPr>
          <p:cNvPr id="9" name="Text 6"/>
          <p:cNvSpPr txBox="1"/>
          <p:nvPr/>
        </p:nvSpPr>
        <p:spPr>
          <a:xfrm>
            <a:off x="6839712" y="3776472"/>
            <a:ext cx="4517136" cy="292608"/>
          </a:xfrm>
          <a:prstGeom prst="rect">
            <a:avLst/>
          </a:prstGeom>
          <a:noFill/>
          <a:ln/>
        </p:spPr>
        <p:txBody>
          <a:bodyPr wrap="square" lIns="0" tIns="0" rIns="0" bIns="0" rtlCol="0" anchor="ctr"/>
          <a:lstStyle/>
          <a:p>
            <a:pPr indent="0" marL="0">
              <a:buNone/>
            </a:pPr>
            <a:r>
              <a:rPr lang="en-US" sz="1300" b="1" dirty="0">
                <a:solidFill>
                  <a:srgbClr val="16213E"/>
                </a:solidFill>
              </a:rPr>
              <a:t>Both models found the monsoon unaided</a:t>
            </a:r>
            <a:endParaRPr lang="en-US" sz="1300" dirty="0"/>
          </a:p>
        </p:txBody>
      </p:sp>
      <p:sp>
        <p:nvSpPr>
          <p:cNvPr id="10" name="Text 7"/>
          <p:cNvSpPr txBox="1"/>
          <p:nvPr/>
        </p:nvSpPr>
        <p:spPr>
          <a:xfrm>
            <a:off x="6839712" y="4114800"/>
            <a:ext cx="4517136" cy="1143000"/>
          </a:xfrm>
          <a:prstGeom prst="rect">
            <a:avLst/>
          </a:prstGeom>
          <a:noFill/>
          <a:ln/>
        </p:spPr>
        <p:txBody>
          <a:bodyPr wrap="square" lIns="0" tIns="0" rIns="0" bIns="0" rtlCol="0" anchor="ctr"/>
          <a:lstStyle/>
          <a:p>
            <a:pPr indent="0" marL="0">
              <a:buNone/>
            </a:pPr>
            <a:r>
              <a:rPr lang="en-US" sz="1300" dirty="0">
                <a:solidFill>
                  <a:srgbClr val="000000"/>
                </a:solidFill>
              </a:rPr>
              <a:t>Every attention and pooling peak falls in the late monsoon, and the peaks repeat about 52 weeks apart. Neither model was given a monsoon feature.</a:t>
            </a:r>
            <a:endParaRPr lang="en-US" sz="1300" dirty="0"/>
          </a:p>
        </p:txBody>
      </p:sp>
      <p:sp>
        <p:nvSpPr>
          <p:cNvPr id="11" name="Text 8"/>
          <p:cNvSpPr txBox="1"/>
          <p:nvPr/>
        </p:nvSpPr>
        <p:spPr>
          <a:xfrm>
            <a:off x="548640" y="5577840"/>
            <a:ext cx="11064240" cy="548640"/>
          </a:xfrm>
          <a:prstGeom prst="rect">
            <a:avLst/>
          </a:prstGeom>
          <a:noFill/>
          <a:ln/>
        </p:spPr>
        <p:txBody>
          <a:bodyPr wrap="square" rtlCol="0" anchor="ctr"/>
          <a:lstStyle/>
          <a:p>
            <a:pPr indent="0" marL="0">
              <a:buNone/>
            </a:pPr>
            <a:r>
              <a:rPr lang="en-US" sz="1300" b="1" dirty="0">
                <a:solidFill>
                  <a:srgbClr val="065A82"/>
                </a:solidFill>
              </a:rPr>
              <a:t>Why it matters.  </a:t>
            </a:r>
            <a:pPr indent="0" marL="0">
              <a:buNone/>
            </a:pPr>
            <a:r>
              <a:rPr lang="en-US" sz="1300" dirty="0">
                <a:solidFill>
                  <a:srgbClr val="000000"/>
                </a:solidFill>
              </a:rPr>
              <a:t>The more of the explained variance comes from rainfall rather than static well properties, the more honestly the residual reads as extraction pressure. The BiLSTM’s rain history alone recovers 95 percent of its full model; the transformer’s recovers 82 percent.</a:t>
            </a:r>
            <a:endParaRPr lang="en-US" sz="1300" dirty="0"/>
          </a:p>
        </p:txBody>
      </p:sp>
      <p:sp>
        <p:nvSpPr>
          <p:cNvPr id="25" name="Slide Number Placeholder 0"/>
          <p:cNvSpPr>
            <a:spLocks noGrp="1"/>
          </p:cNvSpPr>
          <p:nvPr>
            <p:ph type="sldNum" sz="quarter" idx="4294967295"/>
          </p:nvPr>
        </p:nvSpPr>
        <p:spPr>
          <a:xfrm>
            <a:off x="11338560" y="6437376"/>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7B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hasCustomPrompt="1"/>
          </p:nvPr>
        </p:nvSpPr>
        <p:spPr>
          <a:xfrm>
            <a:off x="548640" y="347472"/>
            <a:ext cx="11064240" cy="713232"/>
          </a:xfrm>
          <a:prstGeom prst="rect">
            <a:avLst/>
          </a:prstGeom>
          <a:noFill/>
          <a:ln/>
        </p:spPr>
        <p:txBody>
          <a:bodyPr wrap="square" rtlCol="0"/>
          <a:lstStyle/>
          <a:p>
            <a:pPr indent="0" marL="0">
              <a:buNone/>
            </a:pPr>
            <a:r>
              <a:rPr lang="en-US" dirty="0"/>
              <a:t>The problem no fit metric would have shown</a:t>
            </a:r>
            <a:endParaRPr lang="en-US" dirty="0"/>
          </a:p>
        </p:txBody>
      </p:sp>
      <p:sp>
        <p:nvSpPr>
          <p:cNvPr id="3" name="Text 1"/>
          <p:cNvSpPr txBox="1"/>
          <p:nvPr/>
        </p:nvSpPr>
        <p:spPr>
          <a:xfrm>
            <a:off x="548640" y="1097280"/>
            <a:ext cx="11064240" cy="292608"/>
          </a:xfrm>
          <a:prstGeom prst="rect">
            <a:avLst/>
          </a:prstGeom>
          <a:noFill/>
          <a:ln/>
        </p:spPr>
        <p:txBody>
          <a:bodyPr wrap="square" rtlCol="0" anchor="ctr"/>
          <a:lstStyle/>
          <a:p>
            <a:pPr indent="0" marL="0">
              <a:buNone/>
            </a:pPr>
            <a:r>
              <a:rPr lang="en-US" sz="1400" dirty="0">
                <a:solidFill>
                  <a:srgbClr val="4F6272"/>
                </a:solidFill>
              </a:rPr>
              <a:t>Every week of rain on the validation rows was scaled by 0.8 and by 1.2. Less rain should mean a larger fall.</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6583680" cy="914400"/>
        </p:xfrm>
        <a:graphic>
          <a:graphicData uri="http://schemas.openxmlformats.org/drawingml/2006/table">
            <a:tbl>
              <a:tblPr/>
              <a:tblGrid>
                <a:gridCol w="2743200"/>
                <a:gridCol w="1325880"/>
                <a:gridCol w="1325880"/>
                <a:gridCol w="1188720"/>
              </a:tblGrid>
              <a:tr h="420624">
                <a:tc>
                  <a:txBody>
                    <a:bodyPr/>
                    <a:lstStyle/>
                    <a:p>
                      <a:pPr indent="0" marL="0">
                        <a:buNone/>
                      </a:pPr>
                      <a:r>
                        <a:rPr lang="en-US" sz="1200" b="1" dirty="0">
                          <a:solidFill>
                            <a:srgbClr val="FFFFFF"/>
                          </a:solidFill>
                        </a:rPr>
                        <a:t>Model</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rain × 0.8</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rain × 1.2</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rPr>
                        <a:t>Direction</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21295C"/>
                    </a:solidFill>
                  </a:tcPr>
                </a:tc>
              </a:tr>
              <a:tr h="420624">
                <a:tc>
                  <a:txBody>
                    <a:bodyPr/>
                    <a:lstStyle/>
                    <a:p>
                      <a:pPr indent="0" marL="0">
                        <a:buNone/>
                      </a:pPr>
                      <a:r>
                        <a:rPr lang="en-US" sz="1200" dirty="0">
                          <a:solidFill>
                            <a:srgbClr val="16213E"/>
                          </a:solidFill>
                        </a:rPr>
                        <a:t>BiLSTM, 6 channels</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+0.012 m</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−0.009 m</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c>
                  <a:txBody>
                    <a:bodyPr/>
                    <a:lstStyle/>
                    <a:p>
                      <a:pPr indent="0" marL="0">
                        <a:buNone/>
                      </a:pPr>
                      <a:r>
                        <a:rPr lang="en-US" sz="1200" dirty="0">
                          <a:solidFill>
                            <a:srgbClr val="16213E"/>
                          </a:solidFill>
                        </a:rPr>
                        <a:t>correct</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tcPr>
                </a:tc>
              </a:tr>
              <a:tr h="420624">
                <a:tc>
                  <a:txBody>
                    <a:bodyPr/>
                    <a:lstStyle/>
                    <a:p>
                      <a:pPr indent="0" marL="0">
                        <a:buNone/>
                      </a:pPr>
                      <a:r>
                        <a:rPr lang="en-US" sz="1200" b="1" dirty="0">
                          <a:solidFill>
                            <a:srgbClr val="B85042"/>
                          </a:solidFill>
                        </a:rPr>
                        <a:t>BiLSTM, no anomaly channel</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FBEAE8"/>
                    </a:solidFill>
                  </a:tcPr>
                </a:tc>
                <a:tc>
                  <a:txBody>
                    <a:bodyPr/>
                    <a:lstStyle/>
                    <a:p>
                      <a:pPr indent="0" marL="0">
                        <a:buNone/>
                      </a:pPr>
                      <a:r>
                        <a:rPr lang="en-US" sz="1200" b="1" dirty="0">
                          <a:solidFill>
                            <a:srgbClr val="B85042"/>
                          </a:solidFill>
                        </a:rPr>
                        <a:t>−0.023 m</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FBEAE8"/>
                    </a:solidFill>
                  </a:tcPr>
                </a:tc>
                <a:tc>
                  <a:txBody>
                    <a:bodyPr/>
                    <a:lstStyle/>
                    <a:p>
                      <a:pPr indent="0" marL="0">
                        <a:buNone/>
                      </a:pPr>
                      <a:r>
                        <a:rPr lang="en-US" sz="1200" b="1" dirty="0">
                          <a:solidFill>
                            <a:srgbClr val="B85042"/>
                          </a:solidFill>
                        </a:rPr>
                        <a:t>+0.018 m</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FBEAE8"/>
                    </a:solidFill>
                  </a:tcPr>
                </a:tc>
                <a:tc>
                  <a:txBody>
                    <a:bodyPr/>
                    <a:lstStyle/>
                    <a:p>
                      <a:pPr indent="0" marL="0">
                        <a:buNone/>
                      </a:pPr>
                      <a:r>
                        <a:rPr lang="en-US" sz="1200" b="1" dirty="0">
                          <a:solidFill>
                            <a:srgbClr val="B85042"/>
                          </a:solidFill>
                        </a:rPr>
                        <a:t>REVERSED</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FBEAE8"/>
                    </a:solidFill>
                  </a:tcPr>
                </a:tc>
              </a:tr>
              <a:tr h="420624">
                <a:tc>
                  <a:txBody>
                    <a:bodyPr/>
                    <a:lstStyle/>
                    <a:p>
                      <a:pPr indent="0" marL="0">
                        <a:buNone/>
                      </a:pPr>
                      <a:r>
                        <a:rPr lang="en-US" sz="1200" b="1" dirty="0">
                          <a:solidFill>
                            <a:srgbClr val="B85042"/>
                          </a:solidFill>
                        </a:rPr>
                        <a:t>BiLSTM, main data, rain only</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FBEAE8"/>
                    </a:solidFill>
                  </a:tcPr>
                </a:tc>
                <a:tc>
                  <a:txBody>
                    <a:bodyPr/>
                    <a:lstStyle/>
                    <a:p>
                      <a:pPr indent="0" marL="0">
                        <a:buNone/>
                      </a:pPr>
                      <a:r>
                        <a:rPr lang="en-US" sz="1200" b="1" dirty="0">
                          <a:solidFill>
                            <a:srgbClr val="B85042"/>
                          </a:solidFill>
                        </a:rPr>
                        <a:t>−0.007 m</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FBEAE8"/>
                    </a:solidFill>
                  </a:tcPr>
                </a:tc>
                <a:tc>
                  <a:txBody>
                    <a:bodyPr/>
                    <a:lstStyle/>
                    <a:p>
                      <a:pPr indent="0" marL="0">
                        <a:buNone/>
                      </a:pPr>
                      <a:r>
                        <a:rPr lang="en-US" sz="1200" b="1" dirty="0">
                          <a:solidFill>
                            <a:srgbClr val="B85042"/>
                          </a:solidFill>
                        </a:rPr>
                        <a:t>+0.006 m</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FBEAE8"/>
                    </a:solidFill>
                  </a:tcPr>
                </a:tc>
                <a:tc>
                  <a:txBody>
                    <a:bodyPr/>
                    <a:lstStyle/>
                    <a:p>
                      <a:pPr indent="0" marL="0">
                        <a:buNone/>
                      </a:pPr>
                      <a:r>
                        <a:rPr lang="en-US" sz="1200" b="1" dirty="0">
                          <a:solidFill>
                            <a:srgbClr val="B85042"/>
                          </a:solidFill>
                        </a:rPr>
                        <a:t>REVERSED</a:t>
                      </a:r>
                      <a:endParaRPr lang="en-US" sz="1200" dirty="0"/>
                    </a:p>
                  </a:txBody>
                  <a:tcPr marL="88900" marR="88900" marT="63500" marB="63500" anchor="ctr">
                    <a:lnL w="12700" cap="flat" cmpd="sng" algn="ctr">
                      <a:solidFill>
                        <a:srgbClr val="E2E9EE"/>
                      </a:solidFill>
                      <a:prstDash val="solid"/>
                      <a:round/>
                      <a:headEnd type="none" w="med" len="med"/>
                      <a:tailEnd type="none" w="med" len="med"/>
                    </a:lnL>
                    <a:lnR w="12700" cap="flat" cmpd="sng" algn="ctr">
                      <a:solidFill>
                        <a:srgbClr val="E2E9EE"/>
                      </a:solidFill>
                      <a:prstDash val="solid"/>
                      <a:round/>
                      <a:headEnd type="none" w="med" len="med"/>
                      <a:tailEnd type="none" w="med" len="med"/>
                    </a:lnR>
                    <a:lnT w="12700" cap="flat" cmpd="sng" algn="ctr">
                      <a:solidFill>
                        <a:srgbClr val="E2E9EE"/>
                      </a:solidFill>
                      <a:prstDash val="solid"/>
                      <a:round/>
                      <a:headEnd type="none" w="med" len="med"/>
                      <a:tailEnd type="none" w="med" len="med"/>
                    </a:lnT>
                    <a:lnB w="12700" cap="flat" cmpd="sng" algn="ctr">
                      <a:solidFill>
                        <a:srgbClr val="E2E9EE"/>
                      </a:solidFill>
                      <a:prstDash val="solid"/>
                      <a:round/>
                      <a:headEnd type="none" w="med" len="med"/>
                      <a:tailEnd type="none" w="med" len="med"/>
                    </a:lnB>
                    <a:solidFill>
                      <a:srgbClr val="FBEAE8"/>
                    </a:solidFill>
                  </a:tcPr>
                </a:tc>
              </a:tr>
            </a:tbl>
          </a:graphicData>
        </a:graphic>
      </p:graphicFrame>
      <p:sp>
        <p:nvSpPr>
          <p:cNvPr id="5" name="alert"/>
          <p:cNvSpPr/>
          <p:nvPr/>
        </p:nvSpPr>
        <p:spPr>
          <a:xfrm>
            <a:off x="548640" y="3657600"/>
            <a:ext cx="6583680" cy="1188720"/>
          </a:xfrm>
          <a:prstGeom prst="roundRect">
            <a:avLst>
              <a:gd name="adj" fmla="val 5385"/>
            </a:avLst>
          </a:prstGeom>
          <a:solidFill>
            <a:srgbClr val="FBEAE8"/>
          </a:solidFill>
          <a:ln w="12700">
            <a:solidFill>
              <a:srgbClr val="B85042"/>
            </a:solidFill>
            <a:prstDash val="solid"/>
          </a:ln>
        </p:spPr>
      </p:sp>
      <p:sp>
        <p:nvSpPr>
          <p:cNvPr id="6" name="Text 3"/>
          <p:cNvSpPr txBox="1"/>
          <p:nvPr/>
        </p:nvSpPr>
        <p:spPr>
          <a:xfrm>
            <a:off x="822960" y="3794760"/>
            <a:ext cx="6035040" cy="914400"/>
          </a:xfrm>
          <a:prstGeom prst="rect">
            <a:avLst/>
          </a:prstGeom>
          <a:noFill/>
          <a:ln/>
        </p:spPr>
        <p:txBody>
          <a:bodyPr wrap="square" lIns="0" tIns="0" rIns="0" bIns="0" rtlCol="0" anchor="ctr"/>
          <a:lstStyle/>
          <a:p>
            <a:pPr indent="0" marL="0">
              <a:buNone/>
            </a:pPr>
            <a:r>
              <a:rPr lang="en-US" sz="1500" b="1" dirty="0">
                <a:solidFill>
                  <a:srgbClr val="B85042"/>
                </a:solidFill>
              </a:rPr>
              <a:t>Two of the three predict a SMALLER fall after a drier two years. That is backwards.</a:t>
            </a:r>
            <a:endParaRPr lang="en-US" sz="1500" dirty="0"/>
          </a:p>
        </p:txBody>
      </p:sp>
      <p:sp>
        <p:nvSpPr>
          <p:cNvPr id="7" name="Text 4"/>
          <p:cNvSpPr txBox="1"/>
          <p:nvPr/>
        </p:nvSpPr>
        <p:spPr>
          <a:xfrm>
            <a:off x="548640" y="4983480"/>
            <a:ext cx="6583680" cy="457200"/>
          </a:xfrm>
          <a:prstGeom prst="rect">
            <a:avLst/>
          </a:prstGeom>
          <a:noFill/>
          <a:ln/>
        </p:spPr>
        <p:txBody>
          <a:bodyPr wrap="square" rtlCol="0" anchor="ctr"/>
          <a:lstStyle/>
          <a:p>
            <a:pPr indent="0" marL="0">
              <a:buNone/>
            </a:pPr>
            <a:r>
              <a:rPr lang="en-US" sz="1300" dirty="0">
                <a:solidFill>
                  <a:srgbClr val="16213E"/>
                </a:solidFill>
              </a:rPr>
              <a:t>Even the model that moves the right way moves only about 1 cm for a 20 percent change in two years of rain.</a:t>
            </a:r>
            <a:endParaRPr lang="en-US" sz="1300" dirty="0"/>
          </a:p>
        </p:txBody>
      </p:sp>
      <p:sp>
        <p:nvSpPr>
          <p:cNvPr id="8" name="impact"/>
          <p:cNvSpPr/>
          <p:nvPr/>
        </p:nvSpPr>
        <p:spPr>
          <a:xfrm>
            <a:off x="7452360" y="1572768"/>
            <a:ext cx="4160520" cy="1920240"/>
          </a:xfrm>
          <a:prstGeom prst="roundRect">
            <a:avLst>
              <a:gd name="adj" fmla="val 3333"/>
            </a:avLst>
          </a:prstGeom>
          <a:solidFill>
            <a:srgbClr val="EAF2F6"/>
          </a:solidFill>
          <a:ln w="12700">
            <a:solidFill>
              <a:srgbClr val="9AB8C9"/>
            </a:solidFill>
            <a:prstDash val="solid"/>
          </a:ln>
        </p:spPr>
      </p:sp>
      <p:sp>
        <p:nvSpPr>
          <p:cNvPr id="9" name="Text 6"/>
          <p:cNvSpPr txBox="1"/>
          <p:nvPr/>
        </p:nvSpPr>
        <p:spPr>
          <a:xfrm>
            <a:off x="7708392" y="1737360"/>
            <a:ext cx="3648456" cy="292608"/>
          </a:xfrm>
          <a:prstGeom prst="rect">
            <a:avLst/>
          </a:prstGeom>
          <a:noFill/>
          <a:ln/>
        </p:spPr>
        <p:txBody>
          <a:bodyPr wrap="square" lIns="0" tIns="0" rIns="0" bIns="0" rtlCol="0" anchor="ctr"/>
          <a:lstStyle/>
          <a:p>
            <a:pPr indent="0" marL="0">
              <a:buNone/>
            </a:pPr>
            <a:r>
              <a:rPr lang="en-US" sz="1300" b="1" dirty="0">
                <a:solidFill>
                  <a:srgbClr val="065A82"/>
                </a:solidFill>
              </a:rPr>
              <a:t>What this blocks</a:t>
            </a:r>
            <a:endParaRPr lang="en-US" sz="1300" dirty="0"/>
          </a:p>
        </p:txBody>
      </p:sp>
      <p:sp>
        <p:nvSpPr>
          <p:cNvPr id="10" name="Text 7"/>
          <p:cNvSpPr txBox="1"/>
          <p:nvPr/>
        </p:nvSpPr>
        <p:spPr>
          <a:xfrm>
            <a:off x="7708392" y="2066544"/>
            <a:ext cx="3648456" cy="1280160"/>
          </a:xfrm>
          <a:prstGeom prst="rect">
            <a:avLst/>
          </a:prstGeom>
          <a:noFill/>
          <a:ln/>
        </p:spPr>
        <p:txBody>
          <a:bodyPr wrap="square" lIns="0" tIns="0" rIns="0" bIns="0" rtlCol="0" anchor="ctr"/>
          <a:lstStyle/>
          <a:p>
            <a:pPr indent="0" marL="0">
              <a:buNone/>
            </a:pPr>
            <a:r>
              <a:rPr lang="en-US" sz="1300" dirty="0">
                <a:solidFill>
                  <a:srgbClr val="000000"/>
                </a:solidFill>
              </a:rPr>
              <a:t>The week 7 what-if simulator. "If this district got 20 percent more monsoon rain, would it recover?" is exactly the question these models cannot answer yet.</a:t>
            </a:r>
            <a:endParaRPr lang="en-US" sz="1300" dirty="0"/>
          </a:p>
        </p:txBody>
      </p:sp>
      <p:sp>
        <p:nvSpPr>
          <p:cNvPr id="11" name="fixes"/>
          <p:cNvSpPr/>
          <p:nvPr/>
        </p:nvSpPr>
        <p:spPr>
          <a:xfrm>
            <a:off x="7452360" y="3794760"/>
            <a:ext cx="4160520" cy="1783080"/>
          </a:xfrm>
          <a:prstGeom prst="roundRect">
            <a:avLst>
              <a:gd name="adj" fmla="val 3590"/>
            </a:avLst>
          </a:prstGeom>
          <a:solidFill>
            <a:srgbClr val="F4F8FA"/>
          </a:solidFill>
          <a:ln w="12700">
            <a:solidFill>
              <a:srgbClr val="E2E9EE"/>
            </a:solidFill>
            <a:prstDash val="solid"/>
          </a:ln>
        </p:spPr>
      </p:sp>
      <p:sp>
        <p:nvSpPr>
          <p:cNvPr id="12" name="Text 9"/>
          <p:cNvSpPr txBox="1"/>
          <p:nvPr/>
        </p:nvSpPr>
        <p:spPr>
          <a:xfrm>
            <a:off x="7708392" y="3959352"/>
            <a:ext cx="3648456" cy="292608"/>
          </a:xfrm>
          <a:prstGeom prst="rect">
            <a:avLst/>
          </a:prstGeom>
          <a:noFill/>
          <a:ln/>
        </p:spPr>
        <p:txBody>
          <a:bodyPr wrap="square" lIns="0" tIns="0" rIns="0" bIns="0" rtlCol="0" anchor="ctr"/>
          <a:lstStyle/>
          <a:p>
            <a:pPr indent="0" marL="0">
              <a:buNone/>
            </a:pPr>
            <a:r>
              <a:rPr lang="en-US" sz="1300" b="1" dirty="0">
                <a:solidFill>
                  <a:srgbClr val="16213E"/>
                </a:solidFill>
              </a:rPr>
              <a:t>The two fixes</a:t>
            </a:r>
            <a:endParaRPr lang="en-US" sz="1300" dirty="0"/>
          </a:p>
        </p:txBody>
      </p:sp>
      <p:sp>
        <p:nvSpPr>
          <p:cNvPr id="13" name="Text 10"/>
          <p:cNvSpPr txBox="1"/>
          <p:nvPr/>
        </p:nvSpPr>
        <p:spPr>
          <a:xfrm>
            <a:off x="7708392" y="4279392"/>
            <a:ext cx="3648456" cy="118872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000000"/>
                </a:solidFill>
              </a:rPr>
              <a:t>A monotonic constraint on the rain response, which LightGBM supports directly</a:t>
            </a:r>
            <a:endParaRPr lang="en-US" sz="1200" dirty="0"/>
          </a:p>
          <a:p>
            <a:pPr marL="342900" indent="-342900">
              <a:spcAft>
                <a:spcPts val="700"/>
              </a:spcAft>
              <a:buSzPct val="100000"/>
              <a:buChar char="•"/>
            </a:pPr>
            <a:r>
              <a:rPr lang="en-US" sz="1200" dirty="0">
                <a:solidFill>
                  <a:srgbClr val="000000"/>
                </a:solidFill>
              </a:rPr>
              <a:t>A training penalty that pushes the rain response the right way</a:t>
            </a:r>
            <a:endParaRPr lang="en-US" sz="1200" dirty="0"/>
          </a:p>
        </p:txBody>
      </p:sp>
      <p:sp>
        <p:nvSpPr>
          <p:cNvPr id="14" name="Text 11"/>
          <p:cNvSpPr txBox="1"/>
          <p:nvPr/>
        </p:nvSpPr>
        <p:spPr>
          <a:xfrm>
            <a:off x="548640" y="5715000"/>
            <a:ext cx="11064240" cy="320040"/>
          </a:xfrm>
          <a:prstGeom prst="rect">
            <a:avLst/>
          </a:prstGeom>
          <a:noFill/>
          <a:ln/>
        </p:spPr>
        <p:txBody>
          <a:bodyPr wrap="square" rtlCol="0" anchor="ctr"/>
          <a:lstStyle/>
          <a:p>
            <a:pPr indent="0" marL="0">
              <a:buNone/>
            </a:pPr>
            <a:r>
              <a:rPr lang="en-US" sz="1300" b="1" dirty="0">
                <a:solidFill>
                  <a:srgbClr val="065A82"/>
                </a:solidFill>
              </a:rPr>
              <a:t>This check now runs on every candidate model. It is the most useful thing we learned this week.</a:t>
            </a:r>
            <a:endParaRPr lang="en-US" sz="1300" dirty="0"/>
          </a:p>
        </p:txBody>
      </p:sp>
      <p:sp>
        <p:nvSpPr>
          <p:cNvPr id="25" name="Slide Number Placeholder 0"/>
          <p:cNvSpPr>
            <a:spLocks noGrp="1"/>
          </p:cNvSpPr>
          <p:nvPr>
            <p:ph type="sldNum" sz="quarter" idx="4294967295"/>
          </p:nvPr>
        </p:nvSpPr>
        <p:spPr>
          <a:xfrm>
            <a:off x="11338560" y="6437376"/>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7B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and2"/>
          <p:cNvSpPr/>
          <p:nvPr/>
        </p:nvSpPr>
        <p:spPr>
          <a:xfrm>
            <a:off x="0" y="0"/>
            <a:ext cx="12161520" cy="822960"/>
          </a:xfrm>
          <a:prstGeom prst="rect">
            <a:avLst/>
          </a:prstGeom>
          <a:solidFill>
            <a:srgbClr val="065A82"/>
          </a:solidFill>
          <a:ln/>
        </p:spPr>
      </p:sp>
      <p:sp>
        <p:nvSpPr>
          <p:cNvPr id="3" name="Text 1"/>
          <p:cNvSpPr txBox="1"/>
          <p:nvPr/>
        </p:nvSpPr>
        <p:spPr>
          <a:xfrm>
            <a:off x="548640" y="219456"/>
            <a:ext cx="8229600" cy="365760"/>
          </a:xfrm>
          <a:prstGeom prst="rect">
            <a:avLst/>
          </a:prstGeom>
          <a:noFill/>
          <a:ln/>
        </p:spPr>
        <p:txBody>
          <a:bodyPr wrap="square" rtlCol="0" anchor="ctr"/>
          <a:lstStyle/>
          <a:p>
            <a:pPr indent="0" marL="0">
              <a:buNone/>
            </a:pPr>
            <a:r>
              <a:rPr lang="en-US" sz="1300" b="1" spc="200" kern="0" dirty="0">
                <a:solidFill>
                  <a:srgbClr val="CFE3EE"/>
                </a:solidFill>
              </a:rPr>
              <a:t>WHERE WE GO NEXT</a:t>
            </a:r>
            <a:endParaRPr lang="en-US" sz="1300" dirty="0"/>
          </a:p>
        </p:txBody>
      </p:sp>
      <p:sp>
        <p:nvSpPr>
          <p:cNvPr id="4" name="Text 2"/>
          <p:cNvSpPr txBox="1"/>
          <p:nvPr/>
        </p:nvSpPr>
        <p:spPr>
          <a:xfrm>
            <a:off x="548640" y="960120"/>
            <a:ext cx="603504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Five things, in order</a:t>
            </a:r>
            <a:endParaRPr lang="en-US" sz="3400" dirty="0"/>
          </a:p>
        </p:txBody>
      </p:sp>
      <p:sp>
        <p:nvSpPr>
          <p:cNvPr id="5" name="step0"/>
          <p:cNvSpPr/>
          <p:nvPr/>
        </p:nvSpPr>
        <p:spPr>
          <a:xfrm>
            <a:off x="548640" y="1883664"/>
            <a:ext cx="402336" cy="402336"/>
          </a:xfrm>
          <a:prstGeom prst="ellipse">
            <a:avLst/>
          </a:prstGeom>
          <a:solidFill>
            <a:srgbClr val="1C7293"/>
          </a:solidFill>
          <a:ln/>
        </p:spPr>
      </p:sp>
      <p:sp>
        <p:nvSpPr>
          <p:cNvPr id="6" name="Text 4"/>
          <p:cNvSpPr txBox="1"/>
          <p:nvPr/>
        </p:nvSpPr>
        <p:spPr>
          <a:xfrm>
            <a:off x="548640" y="18836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207008" y="1810512"/>
            <a:ext cx="5120640" cy="301752"/>
          </a:xfrm>
          <a:prstGeom prst="rect">
            <a:avLst/>
          </a:prstGeom>
          <a:noFill/>
          <a:ln/>
        </p:spPr>
        <p:txBody>
          <a:bodyPr wrap="square" lIns="0" tIns="0" rIns="0" bIns="0" rtlCol="0" anchor="ctr"/>
          <a:lstStyle/>
          <a:p>
            <a:pPr indent="0" marL="0">
              <a:buNone/>
            </a:pPr>
            <a:r>
              <a:rPr lang="en-US" sz="1600" b="1" dirty="0">
                <a:solidFill>
                  <a:srgbClr val="FFFFFF"/>
                </a:solidFill>
              </a:rPr>
              <a:t>Repeat seeds</a:t>
            </a:r>
            <a:endParaRPr lang="en-US" sz="1600" dirty="0"/>
          </a:p>
        </p:txBody>
      </p:sp>
      <p:sp>
        <p:nvSpPr>
          <p:cNvPr id="8" name="Text 6"/>
          <p:cNvSpPr txBox="1"/>
          <p:nvPr/>
        </p:nvSpPr>
        <p:spPr>
          <a:xfrm>
            <a:off x="1207008" y="2112264"/>
            <a:ext cx="5394960" cy="347472"/>
          </a:xfrm>
          <a:prstGeom prst="rect">
            <a:avLst/>
          </a:prstGeom>
          <a:noFill/>
          <a:ln/>
        </p:spPr>
        <p:txBody>
          <a:bodyPr wrap="square" lIns="0" tIns="0" rIns="0" bIns="0" rtlCol="0" anchor="ctr"/>
          <a:lstStyle/>
          <a:p>
            <a:pPr indent="0" marL="0">
              <a:buNone/>
            </a:pPr>
            <a:r>
              <a:rPr lang="en-US" sz="1200" dirty="0">
                <a:solidFill>
                  <a:srgbClr val="A9BCCB"/>
                </a:solidFill>
              </a:rPr>
              <a:t>Three to five runs before any 0.01 m gap goes on a slide</a:t>
            </a:r>
            <a:endParaRPr lang="en-US" sz="1200" dirty="0"/>
          </a:p>
        </p:txBody>
      </p:sp>
      <p:sp>
        <p:nvSpPr>
          <p:cNvPr id="9" name="step1"/>
          <p:cNvSpPr/>
          <p:nvPr/>
        </p:nvSpPr>
        <p:spPr>
          <a:xfrm>
            <a:off x="548640" y="2724912"/>
            <a:ext cx="402336" cy="402336"/>
          </a:xfrm>
          <a:prstGeom prst="ellipse">
            <a:avLst/>
          </a:prstGeom>
          <a:solidFill>
            <a:srgbClr val="1C7293"/>
          </a:solidFill>
          <a:ln/>
        </p:spPr>
      </p:sp>
      <p:sp>
        <p:nvSpPr>
          <p:cNvPr id="10" name="Text 8"/>
          <p:cNvSpPr txBox="1"/>
          <p:nvPr/>
        </p:nvSpPr>
        <p:spPr>
          <a:xfrm>
            <a:off x="548640" y="27249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1" name="Text 9"/>
          <p:cNvSpPr txBox="1"/>
          <p:nvPr/>
        </p:nvSpPr>
        <p:spPr>
          <a:xfrm>
            <a:off x="1207008" y="2651760"/>
            <a:ext cx="5120640" cy="301752"/>
          </a:xfrm>
          <a:prstGeom prst="rect">
            <a:avLst/>
          </a:prstGeom>
          <a:noFill/>
          <a:ln/>
        </p:spPr>
        <p:txBody>
          <a:bodyPr wrap="square" lIns="0" tIns="0" rIns="0" bIns="0" rtlCol="0" anchor="ctr"/>
          <a:lstStyle/>
          <a:p>
            <a:pPr indent="0" marL="0">
              <a:buNone/>
            </a:pPr>
            <a:r>
              <a:rPr lang="en-US" sz="1600" b="1" dirty="0">
                <a:solidFill>
                  <a:srgbClr val="FFFFFF"/>
                </a:solidFill>
              </a:rPr>
              <a:t>Rain-response constraint</a:t>
            </a:r>
            <a:endParaRPr lang="en-US" sz="1600" dirty="0"/>
          </a:p>
        </p:txBody>
      </p:sp>
      <p:sp>
        <p:nvSpPr>
          <p:cNvPr id="12" name="Text 10"/>
          <p:cNvSpPr txBox="1"/>
          <p:nvPr/>
        </p:nvSpPr>
        <p:spPr>
          <a:xfrm>
            <a:off x="1207008" y="2953512"/>
            <a:ext cx="5394960" cy="347472"/>
          </a:xfrm>
          <a:prstGeom prst="rect">
            <a:avLst/>
          </a:prstGeom>
          <a:noFill/>
          <a:ln/>
        </p:spPr>
        <p:txBody>
          <a:bodyPr wrap="square" lIns="0" tIns="0" rIns="0" bIns="0" rtlCol="0" anchor="ctr"/>
          <a:lstStyle/>
          <a:p>
            <a:pPr indent="0" marL="0">
              <a:buNone/>
            </a:pPr>
            <a:r>
              <a:rPr lang="en-US" sz="1200" dirty="0">
                <a:solidFill>
                  <a:srgbClr val="A9BCCB"/>
                </a:solidFill>
              </a:rPr>
              <a:t>A fixed sign on the rain response. The simulator depends on it</a:t>
            </a:r>
            <a:endParaRPr lang="en-US" sz="1200" dirty="0"/>
          </a:p>
        </p:txBody>
      </p:sp>
      <p:sp>
        <p:nvSpPr>
          <p:cNvPr id="13" name="step2"/>
          <p:cNvSpPr/>
          <p:nvPr/>
        </p:nvSpPr>
        <p:spPr>
          <a:xfrm>
            <a:off x="548640" y="3566160"/>
            <a:ext cx="402336" cy="402336"/>
          </a:xfrm>
          <a:prstGeom prst="ellipse">
            <a:avLst/>
          </a:prstGeom>
          <a:solidFill>
            <a:srgbClr val="3A4470"/>
          </a:solidFill>
          <a:ln/>
        </p:spPr>
      </p:sp>
      <p:sp>
        <p:nvSpPr>
          <p:cNvPr id="14" name="Text 12"/>
          <p:cNvSpPr txBox="1"/>
          <p:nvPr/>
        </p:nvSpPr>
        <p:spPr>
          <a:xfrm>
            <a:off x="548640" y="35661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207008" y="3493008"/>
            <a:ext cx="5120640" cy="301752"/>
          </a:xfrm>
          <a:prstGeom prst="rect">
            <a:avLst/>
          </a:prstGeom>
          <a:noFill/>
          <a:ln/>
        </p:spPr>
        <p:txBody>
          <a:bodyPr wrap="square" lIns="0" tIns="0" rIns="0" bIns="0" rtlCol="0" anchor="ctr"/>
          <a:lstStyle/>
          <a:p>
            <a:pPr indent="0" marL="0">
              <a:buNone/>
            </a:pPr>
            <a:r>
              <a:rPr lang="en-US" sz="1600" b="1" dirty="0">
                <a:solidFill>
                  <a:srgbClr val="FFFFFF"/>
                </a:solidFill>
              </a:rPr>
              <a:t>Transformer on the six channels</a:t>
            </a:r>
            <a:endParaRPr lang="en-US" sz="1600" dirty="0"/>
          </a:p>
        </p:txBody>
      </p:sp>
      <p:sp>
        <p:nvSpPr>
          <p:cNvPr id="16" name="Text 14"/>
          <p:cNvSpPr txBox="1"/>
          <p:nvPr/>
        </p:nvSpPr>
        <p:spPr>
          <a:xfrm>
            <a:off x="1207008" y="3794760"/>
            <a:ext cx="5394960" cy="347472"/>
          </a:xfrm>
          <a:prstGeom prst="rect">
            <a:avLst/>
          </a:prstGeom>
          <a:noFill/>
          <a:ln/>
        </p:spPr>
        <p:txBody>
          <a:bodyPr wrap="square" lIns="0" tIns="0" rIns="0" bIns="0" rtlCol="0" anchor="ctr"/>
          <a:lstStyle/>
          <a:p>
            <a:pPr indent="0" marL="0">
              <a:buNone/>
            </a:pPr>
            <a:r>
              <a:rPr lang="en-US" sz="1200" dirty="0">
                <a:solidFill>
                  <a:srgbClr val="A9BCCB"/>
                </a:solidFill>
              </a:rPr>
              <a:t>Separates channels from architecture in the sequence-only gap</a:t>
            </a:r>
            <a:endParaRPr lang="en-US" sz="1200" dirty="0"/>
          </a:p>
        </p:txBody>
      </p:sp>
      <p:sp>
        <p:nvSpPr>
          <p:cNvPr id="17" name="step3"/>
          <p:cNvSpPr/>
          <p:nvPr/>
        </p:nvSpPr>
        <p:spPr>
          <a:xfrm>
            <a:off x="548640" y="4407408"/>
            <a:ext cx="402336" cy="402336"/>
          </a:xfrm>
          <a:prstGeom prst="ellipse">
            <a:avLst/>
          </a:prstGeom>
          <a:solidFill>
            <a:srgbClr val="3A4470"/>
          </a:solidFill>
          <a:ln/>
        </p:spPr>
      </p:sp>
      <p:sp>
        <p:nvSpPr>
          <p:cNvPr id="18" name="Text 16"/>
          <p:cNvSpPr txBox="1"/>
          <p:nvPr/>
        </p:nvSpPr>
        <p:spPr>
          <a:xfrm>
            <a:off x="548640" y="44074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9" name="Text 17"/>
          <p:cNvSpPr txBox="1"/>
          <p:nvPr/>
        </p:nvSpPr>
        <p:spPr>
          <a:xfrm>
            <a:off x="1207008" y="4334256"/>
            <a:ext cx="5120640" cy="301752"/>
          </a:xfrm>
          <a:prstGeom prst="rect">
            <a:avLst/>
          </a:prstGeom>
          <a:noFill/>
          <a:ln/>
        </p:spPr>
        <p:txBody>
          <a:bodyPr wrap="square" lIns="0" tIns="0" rIns="0" bIns="0" rtlCol="0" anchor="ctr"/>
          <a:lstStyle/>
          <a:p>
            <a:pPr indent="0" marL="0">
              <a:buNone/>
            </a:pPr>
            <a:r>
              <a:rPr lang="en-US" sz="1600" b="1" dirty="0">
                <a:solidFill>
                  <a:srgbClr val="FFFFFF"/>
                </a:solidFill>
              </a:rPr>
              <a:t>The full 694k-row table</a:t>
            </a:r>
            <a:endParaRPr lang="en-US" sz="1600" dirty="0"/>
          </a:p>
        </p:txBody>
      </p:sp>
      <p:sp>
        <p:nvSpPr>
          <p:cNvPr id="20" name="Text 18"/>
          <p:cNvSpPr txBox="1"/>
          <p:nvPr/>
        </p:nvSpPr>
        <p:spPr>
          <a:xfrm>
            <a:off x="1207008" y="4636008"/>
            <a:ext cx="5394960" cy="347472"/>
          </a:xfrm>
          <a:prstGeom prst="rect">
            <a:avLst/>
          </a:prstGeom>
          <a:noFill/>
          <a:ln/>
        </p:spPr>
        <p:txBody>
          <a:bodyPr wrap="square" lIns="0" tIns="0" rIns="0" bIns="0" rtlCol="0" anchor="ctr"/>
          <a:lstStyle/>
          <a:p>
            <a:pPr indent="0" marL="0">
              <a:buNone/>
            </a:pPr>
            <a:r>
              <a:rPr lang="en-US" sz="1200" dirty="0">
                <a:solidFill>
                  <a:srgbClr val="A9BCCB"/>
                </a:solidFill>
              </a:rPr>
              <a:t>Where sequence models may finally beat boosting on data</a:t>
            </a:r>
            <a:endParaRPr lang="en-US" sz="1200" dirty="0"/>
          </a:p>
        </p:txBody>
      </p:sp>
      <p:sp>
        <p:nvSpPr>
          <p:cNvPr id="21" name="step4"/>
          <p:cNvSpPr/>
          <p:nvPr/>
        </p:nvSpPr>
        <p:spPr>
          <a:xfrm>
            <a:off x="548640" y="5248656"/>
            <a:ext cx="402336" cy="402336"/>
          </a:xfrm>
          <a:prstGeom prst="ellipse">
            <a:avLst/>
          </a:prstGeom>
          <a:solidFill>
            <a:srgbClr val="3A4470"/>
          </a:solidFill>
          <a:ln/>
        </p:spPr>
      </p:sp>
      <p:sp>
        <p:nvSpPr>
          <p:cNvPr id="22" name="Text 20"/>
          <p:cNvSpPr txBox="1"/>
          <p:nvPr/>
        </p:nvSpPr>
        <p:spPr>
          <a:xfrm>
            <a:off x="548640" y="52486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3" name="Text 21"/>
          <p:cNvSpPr txBox="1"/>
          <p:nvPr/>
        </p:nvSpPr>
        <p:spPr>
          <a:xfrm>
            <a:off x="1207008" y="5175504"/>
            <a:ext cx="5120640" cy="301752"/>
          </a:xfrm>
          <a:prstGeom prst="rect">
            <a:avLst/>
          </a:prstGeom>
          <a:noFill/>
          <a:ln/>
        </p:spPr>
        <p:txBody>
          <a:bodyPr wrap="square" lIns="0" tIns="0" rIns="0" bIns="0" rtlCol="0" anchor="ctr"/>
          <a:lstStyle/>
          <a:p>
            <a:pPr indent="0" marL="0">
              <a:buNone/>
            </a:pPr>
            <a:r>
              <a:rPr lang="en-US" sz="1600" b="1" dirty="0">
                <a:solidFill>
                  <a:srgbClr val="FFFFFF"/>
                </a:solidFill>
              </a:rPr>
              <a:t>Fit district effects properly</a:t>
            </a:r>
            <a:endParaRPr lang="en-US" sz="1600" dirty="0"/>
          </a:p>
        </p:txBody>
      </p:sp>
      <p:sp>
        <p:nvSpPr>
          <p:cNvPr id="24" name="Text 22"/>
          <p:cNvSpPr txBox="1"/>
          <p:nvPr/>
        </p:nvSpPr>
        <p:spPr>
          <a:xfrm>
            <a:off x="1207008" y="5477256"/>
            <a:ext cx="5394960" cy="347472"/>
          </a:xfrm>
          <a:prstGeom prst="rect">
            <a:avLst/>
          </a:prstGeom>
          <a:noFill/>
          <a:ln/>
        </p:spPr>
        <p:txBody>
          <a:bodyPr wrap="square" lIns="0" tIns="0" rIns="0" bIns="0" rtlCol="0" anchor="ctr"/>
          <a:lstStyle/>
          <a:p>
            <a:pPr indent="0" marL="0">
              <a:buNone/>
            </a:pPr>
            <a:r>
              <a:rPr lang="en-US" sz="1200" dirty="0">
                <a:solidFill>
                  <a:srgbClr val="A9BCCB"/>
                </a:solidFill>
              </a:rPr>
              <a:t>Turns the residual hook into the actual attribution</a:t>
            </a:r>
            <a:endParaRPr lang="en-US" sz="1200" dirty="0"/>
          </a:p>
        </p:txBody>
      </p:sp>
      <p:sp>
        <p:nvSpPr>
          <p:cNvPr id="25" name="resid"/>
          <p:cNvSpPr/>
          <p:nvPr/>
        </p:nvSpPr>
        <p:spPr>
          <a:xfrm>
            <a:off x="6949440" y="1783080"/>
            <a:ext cx="4663440" cy="2286000"/>
          </a:xfrm>
          <a:prstGeom prst="roundRect">
            <a:avLst>
              <a:gd name="adj" fmla="val 2800"/>
            </a:avLst>
          </a:prstGeom>
          <a:solidFill>
            <a:srgbClr val="2C3668"/>
          </a:solidFill>
          <a:ln w="12700">
            <a:solidFill>
              <a:srgbClr val="3E4A85"/>
            </a:solidFill>
            <a:prstDash val="solid"/>
          </a:ln>
        </p:spPr>
      </p:sp>
      <p:sp>
        <p:nvSpPr>
          <p:cNvPr id="26" name="Text 24"/>
          <p:cNvSpPr txBox="1"/>
          <p:nvPr/>
        </p:nvSpPr>
        <p:spPr>
          <a:xfrm>
            <a:off x="7223760" y="1938528"/>
            <a:ext cx="4114800" cy="292608"/>
          </a:xfrm>
          <a:prstGeom prst="rect">
            <a:avLst/>
          </a:prstGeom>
          <a:noFill/>
          <a:ln/>
        </p:spPr>
        <p:txBody>
          <a:bodyPr wrap="square" lIns="0" tIns="0" rIns="0" bIns="0" rtlCol="0" anchor="ctr"/>
          <a:lstStyle/>
          <a:p>
            <a:pPr indent="0" marL="0">
              <a:buNone/>
            </a:pPr>
            <a:r>
              <a:rPr lang="en-US" sz="1300" b="1" dirty="0">
                <a:solidFill>
                  <a:srgbClr val="CFE3EE"/>
                </a:solidFill>
              </a:rPr>
              <a:t>Residual hook, not the attribution</a:t>
            </a:r>
            <a:endParaRPr lang="en-US" sz="1300" dirty="0"/>
          </a:p>
        </p:txBody>
      </p:sp>
      <p:sp>
        <p:nvSpPr>
          <p:cNvPr id="27" name="Text 25"/>
          <p:cNvSpPr txBox="1"/>
          <p:nvPr/>
        </p:nvSpPr>
        <p:spPr>
          <a:xfrm>
            <a:off x="7223760" y="2286000"/>
            <a:ext cx="4114800" cy="960120"/>
          </a:xfrm>
          <a:prstGeom prst="rect">
            <a:avLst/>
          </a:prstGeom>
          <a:noFill/>
          <a:ln/>
        </p:spPr>
        <p:txBody>
          <a:bodyPr wrap="square" lIns="0" tIns="0" rIns="0" bIns="0" rtlCol="0" anchor="ctr"/>
          <a:lstStyle/>
          <a:p>
            <a:pPr indent="0" marL="0">
              <a:buNone/>
            </a:pPr>
            <a:r>
              <a:rPr lang="en-US" sz="1300" dirty="0">
                <a:solidFill>
                  <a:srgbClr val="FFFFFF"/>
                </a:solidFill>
              </a:rPr>
              <a:t>Junagadh tops both models’ district lists, trained separately. The BiLSTM’s list clusters geographically in Saurashtra and western Madhya Pradesh.</a:t>
            </a:r>
            <a:endParaRPr lang="en-US" sz="1300" dirty="0"/>
          </a:p>
        </p:txBody>
      </p:sp>
      <p:sp>
        <p:nvSpPr>
          <p:cNvPr id="28" name="Text 26"/>
          <p:cNvSpPr txBox="1"/>
          <p:nvPr/>
        </p:nvSpPr>
        <p:spPr>
          <a:xfrm>
            <a:off x="7223760" y="3200400"/>
            <a:ext cx="4114800" cy="777240"/>
          </a:xfrm>
          <a:prstGeom prst="rect">
            <a:avLst/>
          </a:prstGeom>
          <a:noFill/>
          <a:ln/>
        </p:spPr>
        <p:txBody>
          <a:bodyPr wrap="square" lIns="0" tIns="0" rIns="0" bIns="0" rtlCol="0" anchor="ctr"/>
          <a:lstStyle/>
          <a:p>
            <a:pPr indent="0" marL="0">
              <a:buNone/>
            </a:pPr>
            <a:r>
              <a:rPr lang="en-US" sz="1200" i="1" dirty="0">
                <a:solidFill>
                  <a:srgbClr val="9AB8C9"/>
                </a:solidFill>
              </a:rPr>
              <a:t>No district effects fitted, no trend estimated, some entries rest on three wells. It shows the chain runs end to end, nothing more.</a:t>
            </a:r>
            <a:endParaRPr lang="en-US" sz="1200" dirty="0"/>
          </a:p>
        </p:txBody>
      </p:sp>
      <p:sp>
        <p:nvSpPr>
          <p:cNvPr id="29" name="block"/>
          <p:cNvSpPr/>
          <p:nvPr/>
        </p:nvSpPr>
        <p:spPr>
          <a:xfrm>
            <a:off x="6949440" y="4297680"/>
            <a:ext cx="4663440" cy="1691640"/>
          </a:xfrm>
          <a:prstGeom prst="roundRect">
            <a:avLst>
              <a:gd name="adj" fmla="val 3784"/>
            </a:avLst>
          </a:prstGeom>
          <a:solidFill>
            <a:srgbClr val="065A82"/>
          </a:solidFill>
          <a:ln w="12700">
            <a:solidFill>
              <a:srgbClr val="0C7AAE"/>
            </a:solidFill>
            <a:prstDash val="solid"/>
          </a:ln>
        </p:spPr>
      </p:sp>
      <p:sp>
        <p:nvSpPr>
          <p:cNvPr id="30" name="Text 28"/>
          <p:cNvSpPr txBox="1"/>
          <p:nvPr/>
        </p:nvSpPr>
        <p:spPr>
          <a:xfrm>
            <a:off x="7223760" y="4462272"/>
            <a:ext cx="4114800" cy="292608"/>
          </a:xfrm>
          <a:prstGeom prst="rect">
            <a:avLst/>
          </a:prstGeom>
          <a:noFill/>
          <a:ln/>
        </p:spPr>
        <p:txBody>
          <a:bodyPr wrap="square" lIns="0" tIns="0" rIns="0" bIns="0" rtlCol="0" anchor="ctr"/>
          <a:lstStyle/>
          <a:p>
            <a:pPr indent="0" marL="0">
              <a:buNone/>
            </a:pPr>
            <a:r>
              <a:rPr lang="en-US" sz="1300" b="1" dirty="0">
                <a:solidFill>
                  <a:srgbClr val="FFFFFF"/>
                </a:solidFill>
              </a:rPr>
              <a:t>Items 1 and 2 are blockers</a:t>
            </a:r>
            <a:endParaRPr lang="en-US" sz="1300" dirty="0"/>
          </a:p>
        </p:txBody>
      </p:sp>
      <p:sp>
        <p:nvSpPr>
          <p:cNvPr id="31" name="Text 29"/>
          <p:cNvSpPr txBox="1"/>
          <p:nvPr/>
        </p:nvSpPr>
        <p:spPr>
          <a:xfrm>
            <a:off x="7223760" y="4800600"/>
            <a:ext cx="4114800" cy="1005840"/>
          </a:xfrm>
          <a:prstGeom prst="rect">
            <a:avLst/>
          </a:prstGeom>
          <a:noFill/>
          <a:ln/>
        </p:spPr>
        <p:txBody>
          <a:bodyPr wrap="square" lIns="0" tIns="0" rIns="0" bIns="0" rtlCol="0" anchor="ctr"/>
          <a:lstStyle/>
          <a:p>
            <a:pPr indent="0" marL="0">
              <a:buNone/>
            </a:pPr>
            <a:r>
              <a:rPr lang="en-US" sz="1300" dirty="0">
                <a:solidFill>
                  <a:srgbClr val="DCEAF2"/>
                </a:solidFill>
              </a:rPr>
              <a:t>Nothing goes in front of a user until the models have a reliable rain response and the gaps between them survive repeat seeds.</a:t>
            </a:r>
            <a:endParaRPr lang="en-US" sz="1300" dirty="0"/>
          </a:p>
        </p:txBody>
      </p:sp>
    </p:spTree>
  </p:cSld>
  <p:clrMapOvr>
    <a:masterClrMapping/>
  </p:clrMapOvr>
</p:sld>
</file>

<file path=ppt/theme/theme1.xml><?xml version="1.0" encoding="utf-8"?>
<a:theme xmlns:a="http://schemas.openxmlformats.org/drawingml/2006/main" name="RainOrPumps">
  <a:themeElements>
    <a:clrScheme name="RainOrPumps">
      <a:dk1>
        <a:srgbClr val="16213E"/>
      </a:dk1>
      <a:lt1>
        <a:srgbClr val="FFFFFF"/>
      </a:lt1>
      <a:dk2>
        <a:srgbClr val="21295C"/>
      </a:dk2>
      <a:lt2>
        <a:srgbClr val="EEF3F6"/>
      </a:lt2>
      <a:accent1>
        <a:srgbClr val="065A82"/>
      </a:accent1>
      <a:accent2>
        <a:srgbClr val="1C7293"/>
      </a:accent2>
      <a:accent3>
        <a:srgbClr val="21295C"/>
      </a:accent3>
      <a:accent4>
        <a:srgbClr val="9AB8C9"/>
      </a:accent4>
      <a:accent5>
        <a:srgbClr val="B85042"/>
      </a:accent5>
      <a:accent6>
        <a:srgbClr val="4F6272"/>
      </a:accent6>
      <a:hlink>
        <a:srgbClr val="1C7293"/>
      </a:hlink>
      <a:folHlink>
        <a:srgbClr val="4F6272"/>
      </a:folHlink>
    </a:clrScheme>
    <a:fontScheme name="RainOrPum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 models: BiLSTM vs Transformer</dc:title>
  <dc:subject>PptxGenJS Presentation</dc:subject>
  <dc:creator>Group 18</dc:creator>
  <cp:lastModifiedBy>Group 18</cp:lastModifiedBy>
  <cp:revision>1</cp:revision>
  <dcterms:created xsi:type="dcterms:W3CDTF">2026-10-03T06:48:15Z</dcterms:created>
  <dcterms:modified xsi:type="dcterms:W3CDTF">2026-10-03T06:48:15Z</dcterms:modified>
</cp:coreProperties>
</file>